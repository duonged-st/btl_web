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4" r:id="rId2"/>
    <p:sldMasterId id="2147483687" r:id="rId3"/>
  </p:sldMasterIdLst>
  <p:notesMasterIdLst>
    <p:notesMasterId r:id="rId27"/>
  </p:notesMasterIdLst>
  <p:sldIdLst>
    <p:sldId id="290" r:id="rId4"/>
    <p:sldId id="369" r:id="rId5"/>
    <p:sldId id="384" r:id="rId6"/>
    <p:sldId id="408" r:id="rId7"/>
    <p:sldId id="407" r:id="rId8"/>
    <p:sldId id="391" r:id="rId9"/>
    <p:sldId id="392" r:id="rId10"/>
    <p:sldId id="393" r:id="rId11"/>
    <p:sldId id="394" r:id="rId12"/>
    <p:sldId id="395" r:id="rId13"/>
    <p:sldId id="396" r:id="rId14"/>
    <p:sldId id="397" r:id="rId15"/>
    <p:sldId id="398" r:id="rId16"/>
    <p:sldId id="411" r:id="rId17"/>
    <p:sldId id="400" r:id="rId18"/>
    <p:sldId id="401" r:id="rId19"/>
    <p:sldId id="402" r:id="rId20"/>
    <p:sldId id="403" r:id="rId21"/>
    <p:sldId id="404" r:id="rId22"/>
    <p:sldId id="405" r:id="rId23"/>
    <p:sldId id="410" r:id="rId24"/>
    <p:sldId id="409" r:id="rId25"/>
    <p:sldId id="39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DE4BE35-2CB0-4782-9672-5F602C669397}">
          <p14:sldIdLst>
            <p14:sldId id="290"/>
            <p14:sldId id="369"/>
            <p14:sldId id="384"/>
            <p14:sldId id="408"/>
            <p14:sldId id="407"/>
            <p14:sldId id="391"/>
            <p14:sldId id="392"/>
            <p14:sldId id="393"/>
            <p14:sldId id="394"/>
            <p14:sldId id="395"/>
            <p14:sldId id="396"/>
            <p14:sldId id="397"/>
            <p14:sldId id="398"/>
            <p14:sldId id="411"/>
            <p14:sldId id="400"/>
            <p14:sldId id="401"/>
            <p14:sldId id="402"/>
            <p14:sldId id="403"/>
            <p14:sldId id="404"/>
            <p14:sldId id="405"/>
            <p14:sldId id="410"/>
            <p14:sldId id="409"/>
            <p14:sldId id="3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01" autoAdjust="0"/>
    <p:restoredTop sz="94660"/>
  </p:normalViewPr>
  <p:slideViewPr>
    <p:cSldViewPr snapToGrid="0">
      <p:cViewPr varScale="1">
        <p:scale>
          <a:sx n="99" d="100"/>
          <a:sy n="99" d="100"/>
        </p:scale>
        <p:origin x="1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DB1F3E-CDDB-4D39-B2EA-F46704D430C8}" type="datetimeFigureOut">
              <a:rPr lang="en-US" smtClean="0"/>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6245D9-F154-4AD3-BBC7-FAF09CED19E2}" type="slidenum">
              <a:rPr lang="en-US" smtClean="0"/>
              <a:t>‹#›</a:t>
            </a:fld>
            <a:endParaRPr lang="en-US"/>
          </a:p>
        </p:txBody>
      </p:sp>
    </p:spTree>
    <p:extLst>
      <p:ext uri="{BB962C8B-B14F-4D97-AF65-F5344CB8AC3E}">
        <p14:creationId xmlns:p14="http://schemas.microsoft.com/office/powerpoint/2010/main" val="1385002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C46245D9-F154-4AD3-BBC7-FAF09CED19E2}" type="slidenum">
              <a:rPr lang="en-US" smtClean="0"/>
              <a:t>2</a:t>
            </a:fld>
            <a:endParaRPr lang="en-US"/>
          </a:p>
        </p:txBody>
      </p:sp>
    </p:spTree>
    <p:extLst>
      <p:ext uri="{BB962C8B-B14F-4D97-AF65-F5344CB8AC3E}">
        <p14:creationId xmlns:p14="http://schemas.microsoft.com/office/powerpoint/2010/main" val="3626354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3BD8E-F03D-3739-EA49-E8C11746A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BE5C1-7933-7ED6-5DC5-3A66EF935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B00C7-823B-1396-44AE-D586F48B7363}"/>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9C316CBD-9FB4-F43F-E4A8-04431D783D44}"/>
              </a:ext>
            </a:extLst>
          </p:cNvPr>
          <p:cNvSpPr>
            <a:spLocks noGrp="1"/>
          </p:cNvSpPr>
          <p:nvPr>
            <p:ph type="sldNum" sz="quarter" idx="5"/>
          </p:nvPr>
        </p:nvSpPr>
        <p:spPr/>
        <p:txBody>
          <a:bodyPr/>
          <a:lstStyle/>
          <a:p>
            <a:fld id="{C46245D9-F154-4AD3-BBC7-FAF09CED19E2}" type="slidenum">
              <a:rPr lang="en-US" smtClean="0"/>
              <a:t>4</a:t>
            </a:fld>
            <a:endParaRPr lang="en-US"/>
          </a:p>
        </p:txBody>
      </p:sp>
    </p:spTree>
    <p:extLst>
      <p:ext uri="{BB962C8B-B14F-4D97-AF65-F5344CB8AC3E}">
        <p14:creationId xmlns:p14="http://schemas.microsoft.com/office/powerpoint/2010/main" val="1661432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B5FCC-53C2-A3AF-63CE-63521C030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7AA4C-06C9-0E45-10DA-36F46302D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E81807-E636-8222-877E-08DA4A5728A3}"/>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CA92A4E3-6089-35B3-6C24-0677B1D7025E}"/>
              </a:ext>
            </a:extLst>
          </p:cNvPr>
          <p:cNvSpPr>
            <a:spLocks noGrp="1"/>
          </p:cNvSpPr>
          <p:nvPr>
            <p:ph type="sldNum" sz="quarter" idx="5"/>
          </p:nvPr>
        </p:nvSpPr>
        <p:spPr/>
        <p:txBody>
          <a:bodyPr/>
          <a:lstStyle/>
          <a:p>
            <a:fld id="{C46245D9-F154-4AD3-BBC7-FAF09CED19E2}" type="slidenum">
              <a:rPr lang="en-US" smtClean="0"/>
              <a:t>22</a:t>
            </a:fld>
            <a:endParaRPr lang="en-US"/>
          </a:p>
        </p:txBody>
      </p:sp>
    </p:spTree>
    <p:extLst>
      <p:ext uri="{BB962C8B-B14F-4D97-AF65-F5344CB8AC3E}">
        <p14:creationId xmlns:p14="http://schemas.microsoft.com/office/powerpoint/2010/main" val="2077487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3918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197875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25146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278383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extLst>
      <p:ext uri="{BB962C8B-B14F-4D97-AF65-F5344CB8AC3E}">
        <p14:creationId xmlns:p14="http://schemas.microsoft.com/office/powerpoint/2010/main" val="69463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4124086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07172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932637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381438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491506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391823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322686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7978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1903766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723568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791280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extLst>
      <p:ext uri="{BB962C8B-B14F-4D97-AF65-F5344CB8AC3E}">
        <p14:creationId xmlns:p14="http://schemas.microsoft.com/office/powerpoint/2010/main" val="37261789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19273567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457563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27781060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5266224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8976802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6311051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41122088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1195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31191715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33419922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0294873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extLst>
      <p:ext uri="{BB962C8B-B14F-4D97-AF65-F5344CB8AC3E}">
        <p14:creationId xmlns:p14="http://schemas.microsoft.com/office/powerpoint/2010/main" val="11986376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32515314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6695064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37767616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27958560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2341216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11427348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extLst>
      <p:ext uri="{BB962C8B-B14F-4D97-AF65-F5344CB8AC3E}">
        <p14:creationId xmlns:p14="http://schemas.microsoft.com/office/powerpoint/2010/main" val="3886873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FFFFFF"/>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Calibri"/>
              </a:rPr>
              <a:t>Seventh Outline Level</a:t>
            </a:r>
          </a:p>
        </p:txBody>
      </p:sp>
    </p:spTree>
    <p:extLst>
      <p:ext uri="{BB962C8B-B14F-4D97-AF65-F5344CB8AC3E}">
        <p14:creationId xmlns:p14="http://schemas.microsoft.com/office/powerpoint/2010/main" val="290161311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extLst>
      <p:ext uri="{BB962C8B-B14F-4D97-AF65-F5344CB8AC3E}">
        <p14:creationId xmlns:p14="http://schemas.microsoft.com/office/powerpoint/2010/main" val="229646214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extLst>
      <p:ext uri="{BB962C8B-B14F-4D97-AF65-F5344CB8AC3E}">
        <p14:creationId xmlns:p14="http://schemas.microsoft.com/office/powerpoint/2010/main" val="21502774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en-us/products/ai-services/ai-vision?utm_source=chatgpt.com" TargetMode="Externa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hyperlink" Target="https://vnptai.io/vi/blog/detail/tri-tue-nhan-tao-ai-la-gi" TargetMode="Externa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C6C4-20C6-9FC7-5B6F-2FFD61A1BC3C}"/>
            </a:ext>
          </a:extLst>
        </p:cNvPr>
        <p:cNvGrpSpPr/>
        <p:nvPr/>
      </p:nvGrpSpPr>
      <p:grpSpPr>
        <a:xfrm>
          <a:off x="0" y="0"/>
          <a:ext cx="0" cy="0"/>
          <a:chOff x="0" y="0"/>
          <a:chExt cx="0" cy="0"/>
        </a:xfrm>
      </p:grpSpPr>
      <p:pic>
        <p:nvPicPr>
          <p:cNvPr id="306" name="Picture 3" descr="Text&#10;&#10;Description automatically generated">
            <a:extLst>
              <a:ext uri="{FF2B5EF4-FFF2-40B4-BE49-F238E27FC236}">
                <a16:creationId xmlns:a16="http://schemas.microsoft.com/office/drawing/2014/main" id="{73CCAEBC-C8AB-149A-7FBA-21A5BC8C3B35}"/>
              </a:ext>
            </a:extLst>
          </p:cNvPr>
          <p:cNvPicPr/>
          <p:nvPr/>
        </p:nvPicPr>
        <p:blipFill>
          <a:blip r:embed="rId3"/>
          <a:stretch/>
        </p:blipFill>
        <p:spPr>
          <a:xfrm>
            <a:off x="392040" y="271440"/>
            <a:ext cx="3174120" cy="1153080"/>
          </a:xfrm>
          <a:prstGeom prst="rect">
            <a:avLst/>
          </a:prstGeom>
          <a:ln>
            <a:noFill/>
          </a:ln>
        </p:spPr>
      </p:pic>
      <p:sp>
        <p:nvSpPr>
          <p:cNvPr id="307" name="CustomShape 1">
            <a:extLst>
              <a:ext uri="{FF2B5EF4-FFF2-40B4-BE49-F238E27FC236}">
                <a16:creationId xmlns:a16="http://schemas.microsoft.com/office/drawing/2014/main" id="{FA464098-E755-A182-7767-E705E04933AF}"/>
              </a:ext>
            </a:extLst>
          </p:cNvPr>
          <p:cNvSpPr/>
          <p:nvPr/>
        </p:nvSpPr>
        <p:spPr>
          <a:xfrm>
            <a:off x="695520" y="2269440"/>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08" name="CustomShape 2">
            <a:extLst>
              <a:ext uri="{FF2B5EF4-FFF2-40B4-BE49-F238E27FC236}">
                <a16:creationId xmlns:a16="http://schemas.microsoft.com/office/drawing/2014/main" id="{D0DD4B72-B691-42B7-1F03-D3F7DD720FF6}"/>
              </a:ext>
            </a:extLst>
          </p:cNvPr>
          <p:cNvSpPr/>
          <p:nvPr/>
        </p:nvSpPr>
        <p:spPr>
          <a:xfrm>
            <a:off x="695520" y="3403080"/>
            <a:ext cx="6095520" cy="222336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09" name="CustomShape 3">
            <a:extLst>
              <a:ext uri="{FF2B5EF4-FFF2-40B4-BE49-F238E27FC236}">
                <a16:creationId xmlns:a16="http://schemas.microsoft.com/office/drawing/2014/main" id="{907573D9-2D82-1153-9428-D5BBE7E9FF7C}"/>
              </a:ext>
            </a:extLst>
          </p:cNvPr>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2" name="TextBox 1">
            <a:extLst>
              <a:ext uri="{FF2B5EF4-FFF2-40B4-BE49-F238E27FC236}">
                <a16:creationId xmlns:a16="http://schemas.microsoft.com/office/drawing/2014/main" id="{BEBAE857-D367-1681-99F7-9490624B37B4}"/>
              </a:ext>
            </a:extLst>
          </p:cNvPr>
          <p:cNvSpPr txBox="1"/>
          <p:nvPr/>
        </p:nvSpPr>
        <p:spPr>
          <a:xfrm>
            <a:off x="264220" y="1788262"/>
            <a:ext cx="11616801"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600" b="1" dirty="0">
                <a:solidFill>
                  <a:srgbClr val="FF0000"/>
                </a:solidFill>
                <a:latin typeface="+mj-lt"/>
                <a:cs typeface="Times New Roman" panose="02020603050405020304" pitchFamily="18" charset="0"/>
              </a:rPr>
              <a:t>BÁO CÁO BÀI TẬP LỚN</a:t>
            </a:r>
            <a:endParaRPr kumimoji="0" lang="en-US" sz="6600" b="1" i="0" strike="noStrike" kern="1200" cap="none" spc="0" normalizeH="0" baseline="0" noProof="0" dirty="0">
              <a:ln>
                <a:noFill/>
              </a:ln>
              <a:solidFill>
                <a:srgbClr val="FF0000"/>
              </a:solidFill>
              <a:effectLst/>
              <a:uLnTx/>
              <a:uFillTx/>
              <a:latin typeface="+mj-lt"/>
              <a:cs typeface="Times New Roman" panose="02020603050405020304" pitchFamily="18" charset="0"/>
            </a:endParaRPr>
          </a:p>
        </p:txBody>
      </p:sp>
      <p:sp>
        <p:nvSpPr>
          <p:cNvPr id="4" name="TextBox 3">
            <a:extLst>
              <a:ext uri="{FF2B5EF4-FFF2-40B4-BE49-F238E27FC236}">
                <a16:creationId xmlns:a16="http://schemas.microsoft.com/office/drawing/2014/main" id="{9DC2C0CC-338F-D505-ECFF-0815CCE21659}"/>
              </a:ext>
            </a:extLst>
          </p:cNvPr>
          <p:cNvSpPr txBox="1"/>
          <p:nvPr/>
        </p:nvSpPr>
        <p:spPr>
          <a:xfrm>
            <a:off x="310979" y="2753756"/>
            <a:ext cx="944393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0000"/>
                </a:solidFill>
                <a:effectLst/>
                <a:uLnTx/>
                <a:uFillTx/>
                <a:latin typeface="+mj-lt"/>
                <a:cs typeface="Times New Roman" panose="02020603050405020304" pitchFamily="18" charset="0"/>
              </a:rPr>
              <a:t>KHAI THÁC THÔNG TIN ĐA PHƯƠNG TIỆN</a:t>
            </a:r>
            <a:endParaRPr kumimoji="0" lang="vi-VN" sz="3200" b="1" i="0" u="none" strike="noStrike" kern="1200" cap="none" spc="0" normalizeH="0" baseline="0" noProof="0" dirty="0">
              <a:ln>
                <a:noFill/>
              </a:ln>
              <a:solidFill>
                <a:srgbClr val="FF0000"/>
              </a:solidFill>
              <a:effectLst/>
              <a:uLnTx/>
              <a:uFillTx/>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49CF0497-AA98-024C-7A74-A0E47BB53519}"/>
              </a:ext>
            </a:extLst>
          </p:cNvPr>
          <p:cNvSpPr txBox="1"/>
          <p:nvPr/>
        </p:nvSpPr>
        <p:spPr>
          <a:xfrm>
            <a:off x="392039" y="3559102"/>
            <a:ext cx="479162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solidFill>
                  <a:srgbClr val="FF0000"/>
                </a:solidFill>
                <a:latin typeface="+mj-lt"/>
                <a:cs typeface="Times New Roman" panose="02020603050405020304" pitchFamily="18" charset="0"/>
              </a:rPr>
              <a:t>Nhóm</a:t>
            </a:r>
            <a:r>
              <a:rPr lang="en-US" sz="2400" dirty="0">
                <a:solidFill>
                  <a:srgbClr val="FF0000"/>
                </a:solidFill>
                <a:latin typeface="+mj-lt"/>
                <a:cs typeface="Times New Roman" panose="02020603050405020304" pitchFamily="18" charset="0"/>
              </a:rPr>
              <a:t> </a:t>
            </a:r>
            <a:br>
              <a:rPr lang="en-US" sz="2400" dirty="0">
                <a:solidFill>
                  <a:srgbClr val="FF0000"/>
                </a:solidFill>
                <a:latin typeface="+mj-lt"/>
                <a:cs typeface="Times New Roman" panose="02020603050405020304" pitchFamily="18" charset="0"/>
              </a:rPr>
            </a:br>
            <a:r>
              <a:rPr lang="en-US" sz="2400" dirty="0">
                <a:solidFill>
                  <a:srgbClr val="FF0000"/>
                </a:solidFill>
                <a:latin typeface="+mj-lt"/>
                <a:cs typeface="Times New Roman" panose="02020603050405020304" pitchFamily="18" charset="0"/>
              </a:rPr>
              <a:t>Lê Hoàng </a:t>
            </a:r>
            <a:r>
              <a:rPr lang="en-US" sz="2400" dirty="0" err="1">
                <a:solidFill>
                  <a:srgbClr val="FF0000"/>
                </a:solidFill>
                <a:latin typeface="+mj-lt"/>
                <a:cs typeface="Times New Roman" panose="02020603050405020304" pitchFamily="18" charset="0"/>
              </a:rPr>
              <a:t>Dương</a:t>
            </a:r>
            <a:r>
              <a:rPr lang="en-US" sz="2400" dirty="0">
                <a:solidFill>
                  <a:srgbClr val="FF0000"/>
                </a:solidFill>
                <a:latin typeface="+mj-lt"/>
                <a:cs typeface="Times New Roman" panose="02020603050405020304" pitchFamily="18" charset="0"/>
              </a:rPr>
              <a:t> 202411</a:t>
            </a:r>
            <a:br>
              <a:rPr lang="en-US" sz="2400" dirty="0">
                <a:solidFill>
                  <a:srgbClr val="FF0000"/>
                </a:solidFill>
                <a:latin typeface="+mj-lt"/>
                <a:cs typeface="Times New Roman" panose="02020603050405020304" pitchFamily="18" charset="0"/>
              </a:rPr>
            </a:br>
            <a:r>
              <a:rPr lang="en-US" sz="2400" dirty="0">
                <a:solidFill>
                  <a:srgbClr val="FF0000"/>
                </a:solidFill>
                <a:latin typeface="+mj-lt"/>
                <a:cs typeface="Times New Roman" panose="02020603050405020304" pitchFamily="18" charset="0"/>
              </a:rPr>
              <a:t>Lê </a:t>
            </a:r>
            <a:r>
              <a:rPr lang="en-US" sz="2400" dirty="0" err="1">
                <a:solidFill>
                  <a:srgbClr val="FF0000"/>
                </a:solidFill>
                <a:latin typeface="+mj-lt"/>
                <a:cs typeface="Times New Roman" panose="02020603050405020304" pitchFamily="18" charset="0"/>
              </a:rPr>
              <a:t>Hương</a:t>
            </a:r>
            <a:r>
              <a:rPr lang="en-US" sz="2400" dirty="0">
                <a:solidFill>
                  <a:srgbClr val="FF0000"/>
                </a:solidFill>
                <a:latin typeface="+mj-lt"/>
                <a:cs typeface="Times New Roman" panose="02020603050405020304" pitchFamily="18" charset="0"/>
              </a:rPr>
              <a:t> Giang 202411927</a:t>
            </a:r>
            <a:endParaRPr kumimoji="0" lang="vi-VN" sz="2400" b="0" i="0" u="none" strike="noStrike" kern="1200" cap="none" spc="0" normalizeH="0" baseline="0" noProof="0" dirty="0">
              <a:ln>
                <a:noFill/>
              </a:ln>
              <a:solidFill>
                <a:srgbClr val="FF0000"/>
              </a:solidFill>
              <a:effectLst/>
              <a:uLnTx/>
              <a:uFillTx/>
              <a:latin typeface="+mj-lt"/>
              <a:cs typeface="Times New Roman" panose="02020603050405020304" pitchFamily="18" charset="0"/>
            </a:endParaRPr>
          </a:p>
        </p:txBody>
      </p:sp>
    </p:spTree>
    <p:extLst>
      <p:ext uri="{BB962C8B-B14F-4D97-AF65-F5344CB8AC3E}">
        <p14:creationId xmlns:p14="http://schemas.microsoft.com/office/powerpoint/2010/main" val="3138877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5A31E-ADAA-8434-4A0E-6418A116BF44}"/>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B7EE83DA-F08A-E84F-3F88-B1F559B8B5D1}"/>
              </a:ext>
            </a:extLst>
          </p:cNvPr>
          <p:cNvSpPr txBox="1">
            <a:spLocks/>
          </p:cNvSpPr>
          <p:nvPr/>
        </p:nvSpPr>
        <p:spPr>
          <a:xfrm>
            <a:off x="185302" y="67732"/>
            <a:ext cx="15105499" cy="4714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en-US" sz="2200" b="1" dirty="0">
                <a:solidFill>
                  <a:schemeClr val="bg1"/>
                </a:solidFill>
                <a:latin typeface="Arial" panose="020B0604020202020204" pitchFamily="34" charset="0"/>
              </a:rPr>
              <a:t>ĐỀ TÀI: NHẬN DẠNG CẢM XÚC CỦA NGƯỜI HỌC KHI THAM GIA LỚP HỌC ONLINE</a:t>
            </a:r>
            <a:endParaRPr lang="vi-VN" sz="2200" b="1" dirty="0">
              <a:solidFill>
                <a:schemeClr val="bg1"/>
              </a:solidFill>
              <a:effectLst/>
            </a:endParaRPr>
          </a:p>
        </p:txBody>
      </p:sp>
      <p:pic>
        <p:nvPicPr>
          <p:cNvPr id="4" name="Picture 3">
            <a:extLst>
              <a:ext uri="{FF2B5EF4-FFF2-40B4-BE49-F238E27FC236}">
                <a16:creationId xmlns:a16="http://schemas.microsoft.com/office/drawing/2014/main" id="{90D57942-3CD2-B484-C1FF-79E9F85EC8C7}"/>
              </a:ext>
            </a:extLst>
          </p:cNvPr>
          <p:cNvPicPr>
            <a:picLocks noChangeAspect="1"/>
          </p:cNvPicPr>
          <p:nvPr/>
        </p:nvPicPr>
        <p:blipFill>
          <a:blip r:embed="rId2"/>
          <a:stretch>
            <a:fillRect/>
          </a:stretch>
        </p:blipFill>
        <p:spPr>
          <a:xfrm>
            <a:off x="0" y="933984"/>
            <a:ext cx="12107333" cy="5274879"/>
          </a:xfrm>
          <a:prstGeom prst="rect">
            <a:avLst/>
          </a:prstGeom>
        </p:spPr>
      </p:pic>
    </p:spTree>
    <p:extLst>
      <p:ext uri="{BB962C8B-B14F-4D97-AF65-F5344CB8AC3E}">
        <p14:creationId xmlns:p14="http://schemas.microsoft.com/office/powerpoint/2010/main" val="3105949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44A29-DF82-F98F-50F7-0722C46D11E0}"/>
            </a:ext>
          </a:extLst>
        </p:cNvPr>
        <p:cNvGrpSpPr/>
        <p:nvPr/>
      </p:nvGrpSpPr>
      <p:grpSpPr>
        <a:xfrm>
          <a:off x="0" y="0"/>
          <a:ext cx="0" cy="0"/>
          <a:chOff x="0" y="0"/>
          <a:chExt cx="0" cy="0"/>
        </a:xfrm>
      </p:grpSpPr>
      <p:pic>
        <p:nvPicPr>
          <p:cNvPr id="306" name="Picture 3" descr="Text&#10;&#10;Description automatically generated">
            <a:extLst>
              <a:ext uri="{FF2B5EF4-FFF2-40B4-BE49-F238E27FC236}">
                <a16:creationId xmlns:a16="http://schemas.microsoft.com/office/drawing/2014/main" id="{F05F0620-2A9C-0D22-72D1-9BC326F07ED0}"/>
              </a:ext>
            </a:extLst>
          </p:cNvPr>
          <p:cNvPicPr/>
          <p:nvPr/>
        </p:nvPicPr>
        <p:blipFill>
          <a:blip r:embed="rId3"/>
          <a:stretch/>
        </p:blipFill>
        <p:spPr>
          <a:xfrm>
            <a:off x="392040" y="271440"/>
            <a:ext cx="3174120" cy="1153080"/>
          </a:xfrm>
          <a:prstGeom prst="rect">
            <a:avLst/>
          </a:prstGeom>
          <a:ln>
            <a:noFill/>
          </a:ln>
        </p:spPr>
      </p:pic>
      <p:sp>
        <p:nvSpPr>
          <p:cNvPr id="307" name="CustomShape 1">
            <a:extLst>
              <a:ext uri="{FF2B5EF4-FFF2-40B4-BE49-F238E27FC236}">
                <a16:creationId xmlns:a16="http://schemas.microsoft.com/office/drawing/2014/main" id="{D041FB11-2695-3B4B-9D8F-84D17048F9D9}"/>
              </a:ext>
            </a:extLst>
          </p:cNvPr>
          <p:cNvSpPr/>
          <p:nvPr/>
        </p:nvSpPr>
        <p:spPr>
          <a:xfrm>
            <a:off x="695520" y="2269440"/>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08" name="CustomShape 2">
            <a:extLst>
              <a:ext uri="{FF2B5EF4-FFF2-40B4-BE49-F238E27FC236}">
                <a16:creationId xmlns:a16="http://schemas.microsoft.com/office/drawing/2014/main" id="{1C400C86-C4A3-829C-0BE4-AA24362615E5}"/>
              </a:ext>
            </a:extLst>
          </p:cNvPr>
          <p:cNvSpPr/>
          <p:nvPr/>
        </p:nvSpPr>
        <p:spPr>
          <a:xfrm>
            <a:off x="695520" y="3403080"/>
            <a:ext cx="6095520" cy="222336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09" name="CustomShape 3">
            <a:extLst>
              <a:ext uri="{FF2B5EF4-FFF2-40B4-BE49-F238E27FC236}">
                <a16:creationId xmlns:a16="http://schemas.microsoft.com/office/drawing/2014/main" id="{5E2740AE-B988-CF32-055F-CA50C41C2EE5}"/>
              </a:ext>
            </a:extLst>
          </p:cNvPr>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2" name="TextBox 1">
            <a:extLst>
              <a:ext uri="{FF2B5EF4-FFF2-40B4-BE49-F238E27FC236}">
                <a16:creationId xmlns:a16="http://schemas.microsoft.com/office/drawing/2014/main" id="{5EEA49D2-D452-8A1C-52A3-362663E60677}"/>
              </a:ext>
            </a:extLst>
          </p:cNvPr>
          <p:cNvSpPr txBox="1"/>
          <p:nvPr/>
        </p:nvSpPr>
        <p:spPr>
          <a:xfrm>
            <a:off x="287599" y="2200689"/>
            <a:ext cx="11616801"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1" i="0" strike="noStrike" kern="1200" cap="none" spc="0" normalizeH="0" baseline="0" noProof="0" dirty="0">
                <a:ln>
                  <a:noFill/>
                </a:ln>
                <a:solidFill>
                  <a:srgbClr val="FF0000"/>
                </a:solidFill>
                <a:effectLst/>
                <a:uLnTx/>
                <a:uFillTx/>
                <a:latin typeface="+mj-lt"/>
                <a:cs typeface="Times New Roman" panose="02020603050405020304" pitchFamily="18" charset="0"/>
              </a:rPr>
              <a:t>C</a:t>
            </a:r>
            <a:r>
              <a:rPr lang="en-US" sz="6600" b="1" dirty="0">
                <a:solidFill>
                  <a:srgbClr val="FF0000"/>
                </a:solidFill>
                <a:latin typeface="+mj-lt"/>
                <a:cs typeface="Times New Roman" panose="02020603050405020304" pitchFamily="18" charset="0"/>
              </a:rPr>
              <a:t>ÁC PHƯƠNG PHÁP</a:t>
            </a:r>
            <a:endParaRPr kumimoji="0" lang="en-US" sz="6600" b="1" i="0" strike="noStrike" kern="1200" cap="none" spc="0" normalizeH="0" baseline="0" noProof="0" dirty="0">
              <a:ln>
                <a:noFill/>
              </a:ln>
              <a:solidFill>
                <a:srgbClr val="FF0000"/>
              </a:solidFill>
              <a:effectLst/>
              <a:uLnTx/>
              <a:uFillTx/>
              <a:latin typeface="+mj-lt"/>
              <a:cs typeface="Times New Roman" panose="02020603050405020304" pitchFamily="18" charset="0"/>
            </a:endParaRPr>
          </a:p>
        </p:txBody>
      </p:sp>
      <p:sp>
        <p:nvSpPr>
          <p:cNvPr id="4" name="TextBox 3">
            <a:extLst>
              <a:ext uri="{FF2B5EF4-FFF2-40B4-BE49-F238E27FC236}">
                <a16:creationId xmlns:a16="http://schemas.microsoft.com/office/drawing/2014/main" id="{03544BDA-3C9E-D865-F790-446501E07B10}"/>
              </a:ext>
            </a:extLst>
          </p:cNvPr>
          <p:cNvSpPr txBox="1"/>
          <p:nvPr/>
        </p:nvSpPr>
        <p:spPr>
          <a:xfrm>
            <a:off x="392040" y="3306750"/>
            <a:ext cx="944393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0000"/>
                </a:solidFill>
                <a:effectLst/>
                <a:uLnTx/>
                <a:uFillTx/>
                <a:latin typeface="+mj-lt"/>
                <a:cs typeface="Times New Roman" panose="02020603050405020304" pitchFamily="18" charset="0"/>
              </a:rPr>
              <a:t>NHẬN DẠNG CẢM XÚC TỪ ẢNH VÀ VIDEO</a:t>
            </a:r>
            <a:endParaRPr kumimoji="0" lang="vi-VN" sz="3200" b="1" i="0" u="none" strike="noStrike" kern="1200" cap="none" spc="0" normalizeH="0" baseline="0" noProof="0" dirty="0">
              <a:ln>
                <a:noFill/>
              </a:ln>
              <a:solidFill>
                <a:srgbClr val="FF0000"/>
              </a:solidFill>
              <a:effectLst/>
              <a:uLnTx/>
              <a:uFillTx/>
              <a:latin typeface="+mj-lt"/>
              <a:cs typeface="Times New Roman" panose="02020603050405020304" pitchFamily="18" charset="0"/>
            </a:endParaRPr>
          </a:p>
        </p:txBody>
      </p:sp>
    </p:spTree>
    <p:extLst>
      <p:ext uri="{BB962C8B-B14F-4D97-AF65-F5344CB8AC3E}">
        <p14:creationId xmlns:p14="http://schemas.microsoft.com/office/powerpoint/2010/main" val="2670140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39DD-CA79-9F1D-83DC-B80D95E9C5EF}"/>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D3E5C78D-315F-07B9-9058-AB3070217A55}"/>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1: TỰ TRAIN VÀ DEPLOY MÔ HÌNH DEEP LEARNING </a:t>
            </a:r>
            <a:endParaRPr lang="vi-VN" sz="2400" b="1" dirty="0">
              <a:solidFill>
                <a:schemeClr val="bg1"/>
              </a:solidFill>
              <a:effectLst/>
            </a:endParaRPr>
          </a:p>
        </p:txBody>
      </p:sp>
      <p:sp>
        <p:nvSpPr>
          <p:cNvPr id="6" name="TextBox 5">
            <a:extLst>
              <a:ext uri="{FF2B5EF4-FFF2-40B4-BE49-F238E27FC236}">
                <a16:creationId xmlns:a16="http://schemas.microsoft.com/office/drawing/2014/main" id="{6A3DE9FA-91B7-2227-7D69-B57AA3C43987}"/>
              </a:ext>
            </a:extLst>
          </p:cNvPr>
          <p:cNvSpPr txBox="1"/>
          <p:nvPr/>
        </p:nvSpPr>
        <p:spPr>
          <a:xfrm>
            <a:off x="431959" y="982976"/>
            <a:ext cx="10872132" cy="9417963"/>
          </a:xfrm>
          <a:prstGeom prst="rect">
            <a:avLst/>
          </a:prstGeom>
          <a:noFill/>
        </p:spPr>
        <p:txBody>
          <a:bodyPr wrap="square" rtlCol="0">
            <a:spAutoFit/>
          </a:bodyPr>
          <a:lstStyle/>
          <a:p>
            <a:pPr marL="342900" indent="-342900">
              <a:buAutoNum type="arabicPeriod"/>
            </a:pPr>
            <a:r>
              <a:rPr lang="en-US" sz="2800" b="1" i="0" u="none" strike="noStrike" dirty="0">
                <a:solidFill>
                  <a:srgbClr val="000000"/>
                </a:solidFill>
                <a:effectLst/>
                <a:latin typeface="Arial" panose="020B0604020202020204" pitchFamily="34" charset="0"/>
              </a:rPr>
              <a:t>Deep Learning </a:t>
            </a:r>
            <a:r>
              <a:rPr lang="en-US" sz="2800" b="1" i="0" u="none" strike="noStrike" dirty="0" err="1">
                <a:solidFill>
                  <a:srgbClr val="000000"/>
                </a:solidFill>
                <a:effectLst/>
                <a:latin typeface="Arial" panose="020B0604020202020204" pitchFamily="34" charset="0"/>
              </a:rPr>
              <a:t>là</a:t>
            </a:r>
            <a:r>
              <a:rPr lang="en-US" sz="2800" b="1" i="0" u="none" strike="noStrike" dirty="0">
                <a:solidFill>
                  <a:srgbClr val="000000"/>
                </a:solidFill>
                <a:effectLst/>
                <a:latin typeface="Arial" panose="020B0604020202020204" pitchFamily="34" charset="0"/>
              </a:rPr>
              <a:t> </a:t>
            </a:r>
            <a:r>
              <a:rPr lang="en-US" sz="2800" b="1" i="0" u="none" strike="noStrike" dirty="0" err="1">
                <a:solidFill>
                  <a:srgbClr val="000000"/>
                </a:solidFill>
                <a:effectLst/>
                <a:latin typeface="Arial" panose="020B0604020202020204" pitchFamily="34" charset="0"/>
              </a:rPr>
              <a:t>gì</a:t>
            </a:r>
            <a:r>
              <a:rPr lang="en-US" sz="2800" b="1" i="0" u="none" strike="noStrike" dirty="0">
                <a:solidFill>
                  <a:srgbClr val="000000"/>
                </a:solidFill>
                <a:effectLst/>
                <a:latin typeface="Arial" panose="020B0604020202020204" pitchFamily="34" charset="0"/>
              </a:rPr>
              <a:t>?</a:t>
            </a:r>
          </a:p>
          <a:p>
            <a:endParaRPr lang="en-US" sz="2800" b="1" i="0" u="none" strike="noStrike" dirty="0">
              <a:solidFill>
                <a:srgbClr val="000000"/>
              </a:solidFill>
              <a:effectLst/>
              <a:latin typeface="Arial" panose="020B0604020202020204" pitchFamily="34" charset="0"/>
            </a:endParaRPr>
          </a:p>
          <a:p>
            <a:r>
              <a:rPr lang="vi-VN" sz="2200" b="1" i="0" u="none" strike="noStrike" dirty="0">
                <a:solidFill>
                  <a:srgbClr val="000000"/>
                </a:solidFill>
                <a:effectLst/>
                <a:latin typeface="Arial" panose="020B0604020202020204" pitchFamily="34" charset="0"/>
              </a:rPr>
              <a:t>1.1 Khái niệm</a:t>
            </a:r>
            <a:endParaRPr lang="vi-VN" sz="2200" b="1" dirty="0">
              <a:effectLst/>
            </a:endParaRPr>
          </a:p>
          <a:p>
            <a:pPr rtl="0">
              <a:spcBef>
                <a:spcPts val="1200"/>
              </a:spcBef>
              <a:spcAft>
                <a:spcPts val="1200"/>
              </a:spcAft>
            </a:pPr>
            <a:r>
              <a:rPr lang="vi-VN" b="0" i="0" u="none" strike="noStrike" dirty="0">
                <a:solidFill>
                  <a:srgbClr val="000000"/>
                </a:solidFill>
                <a:effectLst/>
                <a:latin typeface="Arial" panose="020B0604020202020204" pitchFamily="34" charset="0"/>
              </a:rPr>
              <a:t>Deep Learning (Học sâu) là một nhánh của AI và Machine Learning sử dụng các mạng nơ-ron nhân tạo để tự động học các đặc trưng từ dữ liệu.</a:t>
            </a:r>
            <a:endParaRPr lang="en-US" dirty="0">
              <a:solidFill>
                <a:srgbClr val="000000"/>
              </a:solidFill>
              <a:latin typeface="Arial" panose="020B0604020202020204" pitchFamily="34" charset="0"/>
            </a:endParaRPr>
          </a:p>
          <a:p>
            <a:pPr rtl="0">
              <a:spcBef>
                <a:spcPts val="1200"/>
              </a:spcBef>
              <a:spcAft>
                <a:spcPts val="1200"/>
              </a:spcAft>
            </a:pPr>
            <a:r>
              <a:rPr lang="en-US" b="0" i="0" u="none" strike="noStrike" dirty="0" err="1">
                <a:solidFill>
                  <a:srgbClr val="000000"/>
                </a:solidFill>
                <a:effectLst/>
                <a:latin typeface="Arial" panose="020B0604020202020204" pitchFamily="34" charset="0"/>
              </a:rPr>
              <a:t>Ví</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dụ</a:t>
            </a:r>
            <a:r>
              <a:rPr lang="en-US" dirty="0">
                <a:solidFill>
                  <a:srgbClr val="000000"/>
                </a:solidFill>
                <a:latin typeface="Arial" panose="020B0604020202020204" pitchFamily="34" charset="0"/>
              </a:rPr>
              <a:t>: </a:t>
            </a:r>
            <a:r>
              <a:rPr lang="vi-VN" b="0" i="0" u="none" strike="noStrike" dirty="0">
                <a:solidFill>
                  <a:srgbClr val="000000"/>
                </a:solidFill>
                <a:effectLst/>
                <a:latin typeface="Arial" panose="020B0604020202020204" pitchFamily="34" charset="0"/>
              </a:rPr>
              <a:t>Nếu muốn nhận diện khuôn mặt vui hay buồn</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mô</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hình</a:t>
            </a:r>
            <a:r>
              <a:rPr lang="en-US" b="0" i="0" u="none" strike="noStrike" dirty="0">
                <a:solidFill>
                  <a:srgbClr val="000000"/>
                </a:solidFill>
                <a:effectLst/>
                <a:latin typeface="Arial" panose="020B0604020202020204" pitchFamily="34" charset="0"/>
              </a:rPr>
              <a:t> CNN (</a:t>
            </a:r>
            <a:r>
              <a:rPr lang="en-US" b="0" i="0" u="none" strike="noStrike" dirty="0" err="1">
                <a:solidFill>
                  <a:srgbClr val="000000"/>
                </a:solidFill>
                <a:effectLst/>
                <a:latin typeface="Arial" panose="020B0604020202020204" pitchFamily="34" charset="0"/>
              </a:rPr>
              <a:t>mạng</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nơ</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ron</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sử</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dụng</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tích</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chập</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sẽ</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tự</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học</a:t>
            </a:r>
            <a:r>
              <a:rPr lang="en-US" i="0" u="none" strike="noStrike" dirty="0">
                <a:solidFill>
                  <a:srgbClr val="000000"/>
                </a:solidFill>
                <a:latin typeface="Arial" panose="020B0604020202020204" pitchFamily="34" charset="0"/>
              </a:rPr>
              <a:t>: </a:t>
            </a:r>
            <a:r>
              <a:rPr lang="vi-VN" b="0" i="0" u="none" strike="noStrike" dirty="0">
                <a:solidFill>
                  <a:srgbClr val="000000"/>
                </a:solidFill>
                <a:effectLst/>
                <a:latin typeface="Arial" panose="020B0604020202020204" pitchFamily="34" charset="0"/>
              </a:rPr>
              <a:t>Mắt mở hay nhắm</a:t>
            </a:r>
            <a:r>
              <a:rPr lang="en-US"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m</a:t>
            </a:r>
            <a:r>
              <a:rPr lang="vi-VN" b="0" i="0" u="none" strike="noStrike" dirty="0">
                <a:solidFill>
                  <a:srgbClr val="000000"/>
                </a:solidFill>
                <a:effectLst/>
                <a:latin typeface="Arial" panose="020B0604020202020204" pitchFamily="34" charset="0"/>
              </a:rPr>
              <a:t>iệng cười hay không</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cười</a:t>
            </a:r>
            <a:r>
              <a:rPr lang="en-US"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n</a:t>
            </a:r>
            <a:r>
              <a:rPr lang="vi-VN" b="0" i="0" u="none" strike="noStrike" dirty="0">
                <a:solidFill>
                  <a:srgbClr val="000000"/>
                </a:solidFill>
                <a:effectLst/>
                <a:latin typeface="Arial" panose="020B0604020202020204" pitchFamily="34" charset="0"/>
              </a:rPr>
              <a:t>ếp nhăn khuôn mặt</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ra</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sao</a:t>
            </a:r>
            <a:r>
              <a:rPr lang="en-US" dirty="0">
                <a:solidFill>
                  <a:srgbClr val="000000"/>
                </a:solidFill>
                <a:latin typeface="Arial" panose="020B0604020202020204" pitchFamily="34" charset="0"/>
              </a:rPr>
              <a:t>, … </a:t>
            </a:r>
            <a:r>
              <a:rPr lang="en-US" dirty="0" err="1">
                <a:solidFill>
                  <a:srgbClr val="000000"/>
                </a:solidFill>
                <a:latin typeface="Arial" panose="020B0604020202020204" pitchFamily="34" charset="0"/>
              </a:rPr>
              <a:t>mà</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không</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cần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lập</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trình</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thủ</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công</a:t>
            </a:r>
            <a:r>
              <a:rPr lang="en-US" dirty="0">
                <a:solidFill>
                  <a:srgbClr val="000000"/>
                </a:solidFill>
                <a:latin typeface="Arial" panose="020B0604020202020204" pitchFamily="34" charset="0"/>
              </a:rPr>
              <a:t>.</a:t>
            </a:r>
          </a:p>
          <a:p>
            <a:pPr>
              <a:spcBef>
                <a:spcPts val="1200"/>
              </a:spcBef>
              <a:spcAft>
                <a:spcPts val="1200"/>
              </a:spcAft>
            </a:pPr>
            <a:r>
              <a:rPr lang="vi-VN" sz="2200" b="1" i="0" u="none" strike="noStrike" dirty="0">
                <a:solidFill>
                  <a:srgbClr val="000000"/>
                </a:solidFill>
                <a:effectLst/>
                <a:latin typeface="Arial" panose="020B0604020202020204" pitchFamily="34" charset="0"/>
              </a:rPr>
              <a:t>1.</a:t>
            </a:r>
            <a:r>
              <a:rPr lang="en-US" sz="2200" b="1" i="0" u="none" strike="noStrike" dirty="0">
                <a:solidFill>
                  <a:srgbClr val="000000"/>
                </a:solidFill>
                <a:effectLst/>
                <a:latin typeface="Arial" panose="020B0604020202020204" pitchFamily="34" charset="0"/>
              </a:rPr>
              <a:t>2</a:t>
            </a:r>
            <a:r>
              <a:rPr lang="vi-VN"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Nguyên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lí</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hoạt</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động</a:t>
            </a:r>
            <a:endParaRPr lang="en-US" sz="2200" b="1" i="0" u="none" strike="noStrike" dirty="0">
              <a:solidFill>
                <a:srgbClr val="000000"/>
              </a:solidFill>
              <a:effectLst/>
              <a:latin typeface="Arial" panose="020B0604020202020204" pitchFamily="34" charset="0"/>
            </a:endParaRPr>
          </a:p>
          <a:p>
            <a:pPr>
              <a:spcBef>
                <a:spcPts val="1200"/>
              </a:spcBef>
              <a:spcAft>
                <a:spcPts val="1200"/>
              </a:spcAft>
            </a:pPr>
            <a:r>
              <a:rPr lang="en-US" dirty="0">
                <a:effectLst/>
                <a:latin typeface="+mj-lt"/>
              </a:rPr>
              <a:t>Input layer </a:t>
            </a:r>
            <a:r>
              <a:rPr lang="en-US" dirty="0">
                <a:effectLst/>
                <a:latin typeface="+mj-lt"/>
                <a:sym typeface="Wingdings" panose="05000000000000000000" pitchFamily="2" charset="2"/>
              </a:rPr>
              <a:t> Hidden layer …  Output layer</a:t>
            </a: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pic>
        <p:nvPicPr>
          <p:cNvPr id="3" name="Picture 2">
            <a:extLst>
              <a:ext uri="{FF2B5EF4-FFF2-40B4-BE49-F238E27FC236}">
                <a16:creationId xmlns:a16="http://schemas.microsoft.com/office/drawing/2014/main" id="{D2F4FD09-4194-982E-3447-83C761327E61}"/>
              </a:ext>
            </a:extLst>
          </p:cNvPr>
          <p:cNvPicPr>
            <a:picLocks noChangeAspect="1"/>
          </p:cNvPicPr>
          <p:nvPr/>
        </p:nvPicPr>
        <p:blipFill>
          <a:blip r:embed="rId2"/>
          <a:stretch>
            <a:fillRect/>
          </a:stretch>
        </p:blipFill>
        <p:spPr>
          <a:xfrm>
            <a:off x="6189132" y="3879802"/>
            <a:ext cx="4847874" cy="2469500"/>
          </a:xfrm>
          <a:prstGeom prst="rect">
            <a:avLst/>
          </a:prstGeom>
        </p:spPr>
      </p:pic>
    </p:spTree>
    <p:extLst>
      <p:ext uri="{BB962C8B-B14F-4D97-AF65-F5344CB8AC3E}">
        <p14:creationId xmlns:p14="http://schemas.microsoft.com/office/powerpoint/2010/main" val="1995314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CE99-2301-4876-07AA-A2D0313F3720}"/>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C5E3D68D-A50F-9E44-3CC9-8FCDB479CB7F}"/>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1: TỰ TRAIN VÀ DEPLOY MÔ HÌNH DEEP LEARNING </a:t>
            </a:r>
            <a:endParaRPr lang="vi-VN" sz="2400" b="1" dirty="0">
              <a:solidFill>
                <a:schemeClr val="bg1"/>
              </a:solidFill>
              <a:effectLst/>
            </a:endParaRPr>
          </a:p>
        </p:txBody>
      </p:sp>
      <p:sp>
        <p:nvSpPr>
          <p:cNvPr id="6" name="TextBox 5">
            <a:extLst>
              <a:ext uri="{FF2B5EF4-FFF2-40B4-BE49-F238E27FC236}">
                <a16:creationId xmlns:a16="http://schemas.microsoft.com/office/drawing/2014/main" id="{90D8E939-FA13-05CC-B026-BF87B1B572E8}"/>
              </a:ext>
            </a:extLst>
          </p:cNvPr>
          <p:cNvSpPr txBox="1"/>
          <p:nvPr/>
        </p:nvSpPr>
        <p:spPr>
          <a:xfrm>
            <a:off x="423492" y="915243"/>
            <a:ext cx="10872132" cy="11126123"/>
          </a:xfrm>
          <a:prstGeom prst="rect">
            <a:avLst/>
          </a:prstGeom>
          <a:noFill/>
        </p:spPr>
        <p:txBody>
          <a:bodyPr wrap="square" rtlCol="0">
            <a:spAutoFit/>
          </a:bodyPr>
          <a:lstStyle/>
          <a:p>
            <a:pPr rtl="0">
              <a:spcBef>
                <a:spcPts val="2400"/>
              </a:spcBef>
              <a:spcAft>
                <a:spcPts val="600"/>
              </a:spcAft>
            </a:pPr>
            <a:r>
              <a:rPr lang="vi-VN" sz="2800" b="1" i="0" u="none" strike="noStrike" dirty="0">
                <a:solidFill>
                  <a:srgbClr val="000000"/>
                </a:solidFill>
                <a:effectLst/>
                <a:latin typeface="Arial" panose="020B0604020202020204" pitchFamily="34" charset="0"/>
              </a:rPr>
              <a:t>2. Các ứng dụng của Deep Learning hiện nay</a:t>
            </a:r>
            <a:endParaRPr lang="en-US" sz="28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200" b="1" i="0" u="none" strike="noStrike" dirty="0">
                <a:solidFill>
                  <a:srgbClr val="000000"/>
                </a:solidFill>
                <a:effectLst/>
                <a:latin typeface="Arial" panose="020B0604020202020204" pitchFamily="34" charset="0"/>
              </a:rPr>
              <a:t>-</a:t>
            </a:r>
            <a:r>
              <a:rPr lang="vi-VN" sz="2200" b="1" i="0" u="none" strike="noStrike" dirty="0">
                <a:solidFill>
                  <a:srgbClr val="000000"/>
                </a:solidFill>
                <a:effectLst/>
                <a:latin typeface="Arial" panose="020B0604020202020204" pitchFamily="34" charset="0"/>
              </a:rPr>
              <a:t>Thị giác máy tính (Computer Vision)</a:t>
            </a:r>
            <a:r>
              <a:rPr lang="en-US" sz="2200" b="1" dirty="0">
                <a:solidFill>
                  <a:srgbClr val="000000"/>
                </a:solidFill>
                <a:latin typeface="Arial" panose="020B0604020202020204" pitchFamily="34" charset="0"/>
              </a:rPr>
              <a:t>: </a:t>
            </a:r>
          </a:p>
          <a:p>
            <a:pPr rtl="0" fontAlgn="base">
              <a:spcBef>
                <a:spcPts val="1200"/>
              </a:spcBef>
              <a:spcAft>
                <a:spcPts val="0"/>
              </a:spcAft>
            </a:pPr>
            <a:r>
              <a:rPr lang="en-US" i="0" u="none" strike="noStrike" dirty="0" err="1">
                <a:solidFill>
                  <a:srgbClr val="000000"/>
                </a:solidFill>
                <a:effectLst/>
                <a:latin typeface="Arial" panose="020B0604020202020204" pitchFamily="34" charset="0"/>
              </a:rPr>
              <a:t>V</a:t>
            </a:r>
            <a:r>
              <a:rPr lang="en-US" dirty="0" err="1">
                <a:solidFill>
                  <a:srgbClr val="000000"/>
                </a:solidFill>
                <a:latin typeface="Arial" panose="020B0604020202020204" pitchFamily="34" charset="0"/>
              </a:rPr>
              <a:t>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a:t>
            </a:r>
            <a:r>
              <a:rPr lang="vi-VN" b="0" i="0" u="none" strike="noStrike" dirty="0">
                <a:solidFill>
                  <a:srgbClr val="000000"/>
                </a:solidFill>
                <a:effectLst/>
                <a:latin typeface="Arial" panose="020B0604020202020204" pitchFamily="34" charset="0"/>
              </a:rPr>
              <a:t>Nhận diện khuôn mặt</a:t>
            </a:r>
            <a:r>
              <a:rPr lang="en-US"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p</a:t>
            </a:r>
            <a:r>
              <a:rPr lang="vi-VN" b="0" i="0" u="none" strike="noStrike" dirty="0">
                <a:solidFill>
                  <a:srgbClr val="000000"/>
                </a:solidFill>
                <a:effectLst/>
                <a:latin typeface="Arial" panose="020B0604020202020204" pitchFamily="34" charset="0"/>
              </a:rPr>
              <a:t>hân loại ảnh</a:t>
            </a:r>
            <a:r>
              <a:rPr lang="en-US"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p</a:t>
            </a:r>
            <a:r>
              <a:rPr lang="vi-VN" b="0" i="0" u="none" strike="noStrike" dirty="0">
                <a:solidFill>
                  <a:srgbClr val="000000"/>
                </a:solidFill>
                <a:effectLst/>
                <a:latin typeface="Arial" panose="020B0604020202020204" pitchFamily="34" charset="0"/>
              </a:rPr>
              <a:t>hát hiện vật thể</a:t>
            </a:r>
            <a:r>
              <a:rPr lang="en-US"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n</a:t>
            </a:r>
            <a:r>
              <a:rPr lang="vi-VN" b="0" i="0" u="none" strike="noStrike" dirty="0">
                <a:solidFill>
                  <a:srgbClr val="000000"/>
                </a:solidFill>
                <a:effectLst/>
                <a:latin typeface="Arial" panose="020B0604020202020204" pitchFamily="34" charset="0"/>
              </a:rPr>
              <a:t>hận dạng cảm xúc</a:t>
            </a:r>
            <a:r>
              <a:rPr lang="en-US" b="0" i="0" u="none" strike="noStrike" dirty="0">
                <a:solidFill>
                  <a:srgbClr val="000000"/>
                </a:solidFill>
                <a:effectLst/>
                <a:latin typeface="Arial" panose="020B0604020202020204" pitchFamily="34" charset="0"/>
              </a:rPr>
              <a:t>, …</a:t>
            </a:r>
            <a:endParaRPr lang="vi-VN" b="0"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200" b="1" dirty="0">
                <a:solidFill>
                  <a:srgbClr val="000000"/>
                </a:solidFill>
                <a:latin typeface="Arial" panose="020B0604020202020204" pitchFamily="34" charset="0"/>
              </a:rPr>
              <a:t>- </a:t>
            </a:r>
            <a:r>
              <a:rPr lang="vi-VN" sz="2200" b="1" i="0" u="none" strike="noStrike" dirty="0">
                <a:solidFill>
                  <a:srgbClr val="000000"/>
                </a:solidFill>
                <a:effectLst/>
                <a:latin typeface="Arial" panose="020B0604020202020204" pitchFamily="34" charset="0"/>
              </a:rPr>
              <a:t>Xe tự hành</a:t>
            </a:r>
            <a:r>
              <a:rPr lang="en-US" sz="2200" b="1" i="0" u="none" strike="noStrike" dirty="0">
                <a:solidFill>
                  <a:srgbClr val="000000"/>
                </a:solidFill>
                <a:effectLst/>
                <a:latin typeface="Arial" panose="020B0604020202020204" pitchFamily="34" charset="0"/>
              </a:rPr>
              <a:t> </a:t>
            </a:r>
          </a:p>
          <a:p>
            <a:pPr rtl="0" fontAlgn="base">
              <a:spcBef>
                <a:spcPts val="1200"/>
              </a:spcBef>
              <a:spcAft>
                <a:spcPts val="0"/>
              </a:spcAft>
            </a:pPr>
            <a:r>
              <a:rPr lang="en-US" sz="1800" b="0" i="0" u="none" strike="noStrike" dirty="0" err="1">
                <a:solidFill>
                  <a:srgbClr val="000000"/>
                </a:solidFill>
                <a:effectLst/>
                <a:latin typeface="Arial" panose="020B0604020202020204" pitchFamily="34" charset="0"/>
              </a:rPr>
              <a:t>Ví</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dụ</a:t>
            </a:r>
            <a:r>
              <a:rPr lang="en-US" sz="1800" b="0" i="0" u="none" strike="noStrike" dirty="0">
                <a:solidFill>
                  <a:srgbClr val="000000"/>
                </a:solidFill>
                <a:effectLst/>
                <a:latin typeface="Arial" panose="020B0604020202020204" pitchFamily="34" charset="0"/>
              </a:rPr>
              <a:t>: </a:t>
            </a:r>
            <a:r>
              <a:rPr lang="vi-VN" sz="1800" b="0" i="0" u="none" strike="noStrike" dirty="0">
                <a:solidFill>
                  <a:srgbClr val="000000"/>
                </a:solidFill>
                <a:effectLst/>
                <a:latin typeface="Arial" panose="020B0604020202020204" pitchFamily="34" charset="0"/>
              </a:rPr>
              <a:t>Phát hiện người đi bộ</a:t>
            </a:r>
            <a:r>
              <a:rPr lang="en-US" sz="1800" b="0" i="0" u="none" strike="noStrike" dirty="0">
                <a:solidFill>
                  <a:srgbClr val="000000"/>
                </a:solidFill>
                <a:effectLst/>
                <a:latin typeface="Arial" panose="020B0604020202020204" pitchFamily="34" charset="0"/>
              </a:rPr>
              <a:t>, n</a:t>
            </a:r>
            <a:r>
              <a:rPr lang="vi-VN" sz="1800" b="0" i="0" u="none" strike="noStrike" dirty="0">
                <a:solidFill>
                  <a:srgbClr val="000000"/>
                </a:solidFill>
                <a:effectLst/>
                <a:latin typeface="Arial" panose="020B0604020202020204" pitchFamily="34" charset="0"/>
              </a:rPr>
              <a:t>hận diện biển báo giao thông</a:t>
            </a:r>
            <a:r>
              <a:rPr lang="en-US" sz="1800" b="0" i="0" u="none" strike="noStrike" dirty="0">
                <a:solidFill>
                  <a:srgbClr val="000000"/>
                </a:solidFill>
                <a:effectLst/>
                <a:latin typeface="Arial" panose="020B0604020202020204" pitchFamily="34" charset="0"/>
              </a:rPr>
              <a:t>, p</a:t>
            </a:r>
            <a:r>
              <a:rPr lang="vi-VN" sz="1800" b="0" i="0" u="none" strike="noStrike" dirty="0">
                <a:solidFill>
                  <a:srgbClr val="000000"/>
                </a:solidFill>
                <a:effectLst/>
                <a:latin typeface="Arial" panose="020B0604020202020204" pitchFamily="34" charset="0"/>
              </a:rPr>
              <a:t>hân tích môi trường</a:t>
            </a:r>
            <a:r>
              <a:rPr lang="en-US" sz="1800" b="0" i="0" u="none" strike="noStrike" dirty="0">
                <a:solidFill>
                  <a:srgbClr val="000000"/>
                </a:solidFill>
                <a:effectLst/>
                <a:latin typeface="Arial" panose="020B0604020202020204" pitchFamily="34" charset="0"/>
              </a:rPr>
              <a:t>, …</a:t>
            </a:r>
            <a:endParaRPr lang="en-US" sz="2200" b="1" dirty="0">
              <a:solidFill>
                <a:srgbClr val="000000"/>
              </a:solidFill>
              <a:latin typeface="Arial" panose="020B0604020202020204" pitchFamily="34" charset="0"/>
            </a:endParaRPr>
          </a:p>
          <a:p>
            <a:pPr rtl="0" fontAlgn="base">
              <a:spcBef>
                <a:spcPts val="1200"/>
              </a:spcBef>
              <a:spcAft>
                <a:spcPts val="0"/>
              </a:spcAft>
            </a:pPr>
            <a:r>
              <a:rPr lang="en-US" sz="2200" b="1" i="0" u="none" strike="noStrike" dirty="0">
                <a:solidFill>
                  <a:srgbClr val="000000"/>
                </a:solidFill>
                <a:latin typeface="Arial" panose="020B0604020202020204" pitchFamily="34" charset="0"/>
              </a:rPr>
              <a:t>- </a:t>
            </a:r>
            <a:r>
              <a:rPr lang="vi-VN" sz="2200" b="1" i="0" u="none" strike="noStrike" dirty="0">
                <a:solidFill>
                  <a:srgbClr val="000000"/>
                </a:solidFill>
                <a:effectLst/>
                <a:latin typeface="Arial" panose="020B0604020202020204" pitchFamily="34" charset="0"/>
              </a:rPr>
              <a:t>Y tế</a:t>
            </a:r>
            <a:r>
              <a:rPr lang="en-US" sz="2200" b="1" i="0" u="none" strike="noStrike" dirty="0">
                <a:solidFill>
                  <a:srgbClr val="000000"/>
                </a:solidFill>
                <a:effectLst/>
                <a:latin typeface="Arial" panose="020B0604020202020204" pitchFamily="34" charset="0"/>
              </a:rPr>
              <a:t> </a:t>
            </a:r>
          </a:p>
          <a:p>
            <a:pPr rtl="0" fontAlgn="base">
              <a:spcBef>
                <a:spcPts val="120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P</a:t>
            </a:r>
            <a:r>
              <a:rPr lang="vi-VN" sz="1800" b="0" i="0" u="none" strike="noStrike" dirty="0">
                <a:solidFill>
                  <a:srgbClr val="000000"/>
                </a:solidFill>
                <a:effectLst/>
                <a:latin typeface="Arial" panose="020B0604020202020204" pitchFamily="34" charset="0"/>
              </a:rPr>
              <a:t>hát hiện ung thư từ ảnh X-quang</a:t>
            </a:r>
            <a:r>
              <a:rPr lang="en-US" sz="1800"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p</a:t>
            </a:r>
            <a:r>
              <a:rPr lang="vi-VN" sz="1800" b="0" i="0" u="none" strike="noStrike" dirty="0">
                <a:solidFill>
                  <a:srgbClr val="000000"/>
                </a:solidFill>
                <a:effectLst/>
                <a:latin typeface="Arial" panose="020B0604020202020204" pitchFamily="34" charset="0"/>
              </a:rPr>
              <a:t>hân tích MRI</a:t>
            </a:r>
            <a:r>
              <a:rPr lang="en-US" sz="1800" b="0" i="0" u="none" strike="noStrike" dirty="0">
                <a:solidFill>
                  <a:srgbClr val="000000"/>
                </a:solidFill>
                <a:effectLst/>
                <a:latin typeface="Arial" panose="020B0604020202020204" pitchFamily="34" charset="0"/>
              </a:rPr>
              <a:t>, c</a:t>
            </a:r>
            <a:r>
              <a:rPr lang="vi-VN" sz="1800" b="0" i="0" u="none" strike="noStrike" dirty="0">
                <a:solidFill>
                  <a:srgbClr val="000000"/>
                </a:solidFill>
                <a:effectLst/>
                <a:latin typeface="Arial" panose="020B0604020202020204" pitchFamily="34" charset="0"/>
              </a:rPr>
              <a:t>hẩn đoán bệnh</a:t>
            </a:r>
            <a:r>
              <a:rPr lang="en-US" sz="1800" b="0" i="0" u="none" strike="noStrike" dirty="0">
                <a:solidFill>
                  <a:srgbClr val="000000"/>
                </a:solidFill>
                <a:effectLst/>
                <a:latin typeface="Arial" panose="020B0604020202020204" pitchFamily="34" charset="0"/>
              </a:rPr>
              <a:t>, …</a:t>
            </a:r>
            <a:endParaRPr lang="vi-VN" sz="2200" b="1" dirty="0">
              <a:effectLst/>
            </a:endParaRPr>
          </a:p>
          <a:p>
            <a:pPr rtl="0" fontAlgn="base">
              <a:spcBef>
                <a:spcPts val="1200"/>
              </a:spcBef>
              <a:spcAft>
                <a:spcPts val="0"/>
              </a:spcAft>
            </a:pPr>
            <a:r>
              <a:rPr lang="en-US" sz="2200" b="1" dirty="0">
                <a:solidFill>
                  <a:srgbClr val="000000"/>
                </a:solidFill>
                <a:latin typeface="Arial" panose="020B0604020202020204" pitchFamily="34" charset="0"/>
              </a:rPr>
              <a:t>- </a:t>
            </a:r>
            <a:r>
              <a:rPr lang="en-US" sz="2200" b="1" dirty="0" err="1">
                <a:solidFill>
                  <a:srgbClr val="000000"/>
                </a:solidFill>
                <a:effectLst/>
                <a:latin typeface="Arial" panose="020B0604020202020204" pitchFamily="34" charset="0"/>
              </a:rPr>
              <a:t>Giáo</a:t>
            </a:r>
            <a:r>
              <a:rPr lang="en-US" sz="2200" b="1" dirty="0">
                <a:solidFill>
                  <a:srgbClr val="000000"/>
                </a:solidFill>
                <a:effectLst/>
                <a:latin typeface="Arial" panose="020B0604020202020204" pitchFamily="34" charset="0"/>
              </a:rPr>
              <a:t> </a:t>
            </a:r>
            <a:r>
              <a:rPr lang="en-US" sz="2200" b="1" dirty="0" err="1">
                <a:solidFill>
                  <a:srgbClr val="000000"/>
                </a:solidFill>
                <a:effectLst/>
                <a:latin typeface="Arial" panose="020B0604020202020204" pitchFamily="34" charset="0"/>
              </a:rPr>
              <a:t>dục</a:t>
            </a:r>
            <a:r>
              <a:rPr lang="en-US" sz="2200" b="1" dirty="0">
                <a:solidFill>
                  <a:srgbClr val="000000"/>
                </a:solidFill>
                <a:effectLst/>
                <a:latin typeface="Arial" panose="020B0604020202020204" pitchFamily="34" charset="0"/>
              </a:rPr>
              <a:t> </a:t>
            </a:r>
            <a:endParaRPr lang="en-US" dirty="0">
              <a:solidFill>
                <a:srgbClr val="000000"/>
              </a:solidFill>
              <a:latin typeface="Arial" panose="020B0604020202020204" pitchFamily="34" charset="0"/>
            </a:endParaRPr>
          </a:p>
          <a:p>
            <a:pPr rtl="0" fontAlgn="base">
              <a:spcBef>
                <a:spcPts val="120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C</a:t>
            </a:r>
            <a:r>
              <a:rPr lang="vi-VN" sz="1800" b="0" i="0" u="none" strike="noStrike" dirty="0">
                <a:solidFill>
                  <a:srgbClr val="000000"/>
                </a:solidFill>
                <a:effectLst/>
                <a:latin typeface="Arial" panose="020B0604020202020204" pitchFamily="34" charset="0"/>
              </a:rPr>
              <a:t>hấm điểm tự động</a:t>
            </a:r>
            <a:r>
              <a:rPr lang="en-US" sz="1800"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t</a:t>
            </a:r>
            <a:r>
              <a:rPr lang="vi-VN" sz="1800" b="0" i="0" u="none" strike="noStrike" dirty="0">
                <a:solidFill>
                  <a:srgbClr val="000000"/>
                </a:solidFill>
                <a:effectLst/>
                <a:latin typeface="Arial" panose="020B0604020202020204" pitchFamily="34" charset="0"/>
              </a:rPr>
              <a:t>heo dõi sự tập trung</a:t>
            </a:r>
            <a:r>
              <a:rPr lang="en-US" sz="1800" b="0" i="0" u="none" strike="noStrike" dirty="0">
                <a:solidFill>
                  <a:srgbClr val="000000"/>
                </a:solidFill>
                <a:effectLst/>
                <a:latin typeface="Arial" panose="020B0604020202020204" pitchFamily="34" charset="0"/>
              </a:rPr>
              <a:t>, c</a:t>
            </a:r>
            <a:r>
              <a:rPr lang="vi-VN" sz="1800" b="0" i="0" u="none" strike="noStrike" dirty="0">
                <a:solidFill>
                  <a:srgbClr val="000000"/>
                </a:solidFill>
                <a:effectLst/>
                <a:latin typeface="Arial" panose="020B0604020202020204" pitchFamily="34" charset="0"/>
              </a:rPr>
              <a:t>á nhân hóa học tập</a:t>
            </a:r>
            <a:r>
              <a:rPr lang="en-US" sz="1800" b="0" i="0" u="none" strike="noStrike" dirty="0">
                <a:solidFill>
                  <a:srgbClr val="000000"/>
                </a:solidFill>
                <a:effectLst/>
                <a:latin typeface="Arial" panose="020B0604020202020204" pitchFamily="34" charset="0"/>
              </a:rPr>
              <a:t>, …</a:t>
            </a:r>
            <a:endParaRPr lang="en-US" sz="2200" b="1" dirty="0">
              <a:solidFill>
                <a:srgbClr val="000000"/>
              </a:solidFill>
              <a:effectLst/>
              <a:latin typeface="Arial" panose="020B0604020202020204" pitchFamily="34" charset="0"/>
            </a:endParaRPr>
          </a:p>
          <a:p>
            <a:pPr marL="342900" indent="-342900" rtl="0" fontAlgn="base">
              <a:spcBef>
                <a:spcPts val="1200"/>
              </a:spcBef>
              <a:spcAft>
                <a:spcPts val="0"/>
              </a:spcAft>
              <a:buFontTx/>
              <a:buChar char="-"/>
            </a:pPr>
            <a:r>
              <a:rPr lang="vi-VN" sz="2200" b="1" i="0" u="none" strike="noStrike" dirty="0">
                <a:solidFill>
                  <a:srgbClr val="000000"/>
                </a:solidFill>
                <a:effectLst/>
                <a:latin typeface="Arial" panose="020B0604020202020204" pitchFamily="34" charset="0"/>
              </a:rPr>
              <a:t>Generative AI</a:t>
            </a:r>
            <a:endParaRPr lang="en-US" sz="2200" b="1" dirty="0">
              <a:solidFill>
                <a:srgbClr val="000000"/>
              </a:solidFill>
              <a:latin typeface="Arial" panose="020B0604020202020204" pitchFamily="34" charset="0"/>
            </a:endParaRPr>
          </a:p>
          <a:p>
            <a:pPr rtl="0" fontAlgn="base">
              <a:spcBef>
                <a:spcPts val="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a:t>
            </a:r>
            <a:r>
              <a:rPr lang="vi-VN" sz="1800" b="0" i="0" u="none" strike="noStrike" dirty="0">
                <a:solidFill>
                  <a:srgbClr val="000000"/>
                </a:solidFill>
                <a:effectLst/>
                <a:latin typeface="Arial" panose="020B0604020202020204" pitchFamily="34" charset="0"/>
              </a:rPr>
              <a:t>Sinh ảnh</a:t>
            </a:r>
            <a:r>
              <a:rPr lang="en-US" sz="1800" b="0" i="0" u="none" strike="noStrike" dirty="0">
                <a:solidFill>
                  <a:srgbClr val="000000"/>
                </a:solidFill>
                <a:effectLst/>
                <a:latin typeface="Arial" panose="020B0604020202020204" pitchFamily="34" charset="0"/>
              </a:rPr>
              <a:t>, </a:t>
            </a:r>
            <a:r>
              <a:rPr lang="en-US" dirty="0">
                <a:solidFill>
                  <a:srgbClr val="000000"/>
                </a:solidFill>
                <a:latin typeface="Arial" panose="020B0604020202020204" pitchFamily="34" charset="0"/>
              </a:rPr>
              <a:t>s</a:t>
            </a:r>
            <a:r>
              <a:rPr lang="vi-VN" sz="1800" b="0" i="0" u="none" strike="noStrike" dirty="0">
                <a:solidFill>
                  <a:srgbClr val="000000"/>
                </a:solidFill>
                <a:effectLst/>
                <a:latin typeface="Arial" panose="020B0604020202020204" pitchFamily="34" charset="0"/>
              </a:rPr>
              <a:t>inh video</a:t>
            </a:r>
            <a:r>
              <a:rPr lang="en-US" sz="1800" b="0" i="0" u="none" strike="noStrike" dirty="0">
                <a:solidFill>
                  <a:srgbClr val="000000"/>
                </a:solidFill>
                <a:effectLst/>
                <a:latin typeface="Arial" panose="020B0604020202020204" pitchFamily="34" charset="0"/>
              </a:rPr>
              <a:t> </a:t>
            </a:r>
            <a:r>
              <a:rPr lang="en-US" dirty="0" err="1">
                <a:solidFill>
                  <a:srgbClr val="000000"/>
                </a:solidFill>
                <a:latin typeface="Arial" panose="020B0604020202020204" pitchFamily="34" charset="0"/>
              </a:rPr>
              <a:t>t</a:t>
            </a:r>
            <a:r>
              <a:rPr lang="en-US" sz="1800" b="0" i="0" u="none" strike="noStrike" dirty="0" err="1">
                <a:solidFill>
                  <a:srgbClr val="000000"/>
                </a:solidFill>
                <a:effectLst/>
                <a:latin typeface="Arial" panose="020B0604020202020204" pitchFamily="34" charset="0"/>
              </a:rPr>
              <a:t>ừ</a:t>
            </a:r>
            <a:r>
              <a:rPr lang="en-US" sz="1800" b="0" i="0" u="none" strike="noStrike" dirty="0">
                <a:solidFill>
                  <a:srgbClr val="000000"/>
                </a:solidFill>
                <a:effectLst/>
                <a:latin typeface="Arial" panose="020B0604020202020204" pitchFamily="34" charset="0"/>
              </a:rPr>
              <a:t> AI </a:t>
            </a:r>
            <a:endParaRPr lang="vi-VN" sz="1800" b="0" i="0" u="none" strike="noStrike" dirty="0">
              <a:solidFill>
                <a:srgbClr val="000000"/>
              </a:solidFill>
              <a:effectLst/>
              <a:latin typeface="Arial" panose="020B0604020202020204" pitchFamily="34" charset="0"/>
            </a:endParaRPr>
          </a:p>
          <a:p>
            <a:pPr>
              <a:spcBef>
                <a:spcPts val="1200"/>
              </a:spcBef>
              <a:spcAft>
                <a:spcPts val="1200"/>
              </a:spcAft>
            </a:pPr>
            <a:endParaRPr lang="vi-VN" sz="2200" b="1" dirty="0">
              <a:effectLst/>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2132732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7BC2E-5E23-44FB-9902-B00065D538EF}"/>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38B33B7B-CE5D-5670-BC2F-FF71B70F5F5C}"/>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1: TỰ TRAIN VÀ DEPLOY MÔ HÌNH DEEP LEARNING </a:t>
            </a:r>
            <a:endParaRPr lang="vi-VN" sz="2400" b="1" dirty="0">
              <a:solidFill>
                <a:schemeClr val="bg1"/>
              </a:solidFill>
              <a:effectLst/>
            </a:endParaRPr>
          </a:p>
        </p:txBody>
      </p:sp>
      <p:sp>
        <p:nvSpPr>
          <p:cNvPr id="6" name="TextBox 5">
            <a:extLst>
              <a:ext uri="{FF2B5EF4-FFF2-40B4-BE49-F238E27FC236}">
                <a16:creationId xmlns:a16="http://schemas.microsoft.com/office/drawing/2014/main" id="{BDC860BF-7813-0D46-889F-E6B67F110276}"/>
              </a:ext>
            </a:extLst>
          </p:cNvPr>
          <p:cNvSpPr txBox="1"/>
          <p:nvPr/>
        </p:nvSpPr>
        <p:spPr>
          <a:xfrm>
            <a:off x="465825" y="1025309"/>
            <a:ext cx="10872132" cy="10531088"/>
          </a:xfrm>
          <a:prstGeom prst="rect">
            <a:avLst/>
          </a:prstGeom>
          <a:noFill/>
        </p:spPr>
        <p:txBody>
          <a:bodyPr wrap="square" rtlCol="0">
            <a:spAutoFit/>
          </a:bodyPr>
          <a:lstStyle/>
          <a:p>
            <a:pPr rtl="0">
              <a:spcBef>
                <a:spcPts val="2400"/>
              </a:spcBef>
              <a:spcAft>
                <a:spcPts val="600"/>
              </a:spcAft>
            </a:pPr>
            <a:r>
              <a:rPr lang="vi-VN" sz="2800" b="1" i="0" u="none" strike="noStrike" dirty="0">
                <a:solidFill>
                  <a:srgbClr val="000000"/>
                </a:solidFill>
                <a:effectLst/>
                <a:latin typeface="Arial" panose="020B0604020202020204" pitchFamily="34" charset="0"/>
              </a:rPr>
              <a:t>3. </a:t>
            </a:r>
            <a:r>
              <a:rPr lang="en-US" sz="2800" b="1" dirty="0" err="1">
                <a:solidFill>
                  <a:srgbClr val="000000"/>
                </a:solidFill>
                <a:latin typeface="Arial" panose="020B0604020202020204" pitchFamily="34" charset="0"/>
              </a:rPr>
              <a:t>Áp</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dụng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vào</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đề</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tài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nhận</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dạng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cảm</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xúc</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người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học</a:t>
            </a:r>
            <a:endParaRPr lang="vi-VN" sz="2800" b="1" dirty="0">
              <a:effectLst/>
            </a:endParaRPr>
          </a:p>
          <a:p>
            <a:pPr rtl="0" fontAlgn="base">
              <a:spcBef>
                <a:spcPts val="1200"/>
              </a:spcBef>
              <a:spcAft>
                <a:spcPts val="0"/>
              </a:spcAft>
            </a:pPr>
            <a:r>
              <a:rPr lang="en-US" sz="2200" b="1" i="0" u="none" strike="noStrike" dirty="0">
                <a:solidFill>
                  <a:srgbClr val="000000"/>
                </a:solidFill>
                <a:effectLst/>
                <a:latin typeface="Arial" panose="020B0604020202020204" pitchFamily="34" charset="0"/>
              </a:rPr>
              <a:t>3.1 </a:t>
            </a:r>
            <a:r>
              <a:rPr lang="en-US" sz="2200" b="1" i="0" u="none" strike="noStrike" dirty="0" err="1">
                <a:solidFill>
                  <a:srgbClr val="000000"/>
                </a:solidFill>
                <a:effectLst/>
                <a:latin typeface="Arial" panose="020B0604020202020204" pitchFamily="34" charset="0"/>
              </a:rPr>
              <a:t>Mục</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tiêu</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000" dirty="0" err="1">
                <a:solidFill>
                  <a:srgbClr val="000000"/>
                </a:solidFill>
                <a:latin typeface="Arial" panose="020B0604020202020204" pitchFamily="34" charset="0"/>
              </a:rPr>
              <a:t>Xây</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dựng</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hệ</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thống</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Ảnh</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hoặc</a:t>
            </a:r>
            <a:r>
              <a:rPr lang="en-US" sz="2000" dirty="0">
                <a:solidFill>
                  <a:srgbClr val="000000"/>
                </a:solidFill>
                <a:latin typeface="Arial" panose="020B0604020202020204" pitchFamily="34" charset="0"/>
              </a:rPr>
              <a:t> video </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Phát</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hiện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khuôn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mặt</a:t>
            </a:r>
            <a:r>
              <a:rPr lang="en-US" sz="2000" dirty="0">
                <a:solidFill>
                  <a:srgbClr val="000000"/>
                </a:solidFill>
                <a:latin typeface="Arial" panose="020B0604020202020204" pitchFamily="34" charset="0"/>
                <a:sym typeface="Wingdings" panose="05000000000000000000" pitchFamily="2" charset="2"/>
              </a:rPr>
              <a:t>  </a:t>
            </a:r>
            <a:r>
              <a:rPr lang="en-US" sz="2000" dirty="0" err="1">
                <a:solidFill>
                  <a:srgbClr val="000000"/>
                </a:solidFill>
                <a:latin typeface="Arial" panose="020B0604020202020204" pitchFamily="34" charset="0"/>
                <a:sym typeface="Wingdings" panose="05000000000000000000" pitchFamily="2" charset="2"/>
              </a:rPr>
              <a:t>Nhận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dạng</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cảm</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xúc</a:t>
            </a:r>
            <a:r>
              <a:rPr lang="en-US" sz="2000" dirty="0">
                <a:solidFill>
                  <a:srgbClr val="000000"/>
                </a:solidFill>
                <a:latin typeface="Arial" panose="020B0604020202020204" pitchFamily="34" charset="0"/>
                <a:sym typeface="Wingdings" panose="05000000000000000000" pitchFamily="2" charset="2"/>
              </a:rPr>
              <a:t>  </a:t>
            </a:r>
            <a:r>
              <a:rPr lang="en-US" sz="2000" dirty="0" err="1">
                <a:solidFill>
                  <a:srgbClr val="000000"/>
                </a:solidFill>
                <a:latin typeface="Arial" panose="020B0604020202020204" pitchFamily="34" charset="0"/>
                <a:sym typeface="Wingdings" panose="05000000000000000000" pitchFamily="2" charset="2"/>
              </a:rPr>
              <a:t>Thống</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kê</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mức</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độ</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cảm</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xúc</a:t>
            </a:r>
            <a:endParaRPr lang="en-US" sz="2000" dirty="0">
              <a:solidFill>
                <a:srgbClr val="000000"/>
              </a:solidFill>
              <a:latin typeface="Arial" panose="020B0604020202020204" pitchFamily="34" charset="0"/>
              <a:sym typeface="Wingdings" panose="05000000000000000000" pitchFamily="2" charset="2"/>
            </a:endParaRPr>
          </a:p>
          <a:p>
            <a:pPr rtl="0" fontAlgn="base">
              <a:spcBef>
                <a:spcPts val="1200"/>
              </a:spcBef>
              <a:spcAft>
                <a:spcPts val="0"/>
              </a:spcAft>
            </a:pPr>
            <a:r>
              <a:rPr lang="en-US" sz="2200" b="1" dirty="0">
                <a:solidFill>
                  <a:srgbClr val="000000"/>
                </a:solidFill>
                <a:latin typeface="Arial" panose="020B0604020202020204" pitchFamily="34" charset="0"/>
                <a:sym typeface="Wingdings" panose="05000000000000000000" pitchFamily="2" charset="2"/>
              </a:rPr>
              <a:t>3.2 </a:t>
            </a:r>
            <a:r>
              <a:rPr lang="en-US" sz="2200" b="1" dirty="0" err="1">
                <a:solidFill>
                  <a:srgbClr val="000000"/>
                </a:solidFill>
                <a:latin typeface="Arial" panose="020B0604020202020204" pitchFamily="34" charset="0"/>
                <a:sym typeface="Wingdings" panose="05000000000000000000" pitchFamily="2" charset="2"/>
              </a:rPr>
              <a:t>Triển</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khai</a:t>
            </a:r>
            <a:endParaRPr lang="en-US" sz="2200" b="1" dirty="0">
              <a:solidFill>
                <a:srgbClr val="000000"/>
              </a:solidFill>
              <a:latin typeface="Arial" panose="020B0604020202020204" pitchFamily="34" charset="0"/>
              <a:sym typeface="Wingdings" panose="05000000000000000000" pitchFamily="2" charset="2"/>
            </a:endParaRPr>
          </a:p>
          <a:p>
            <a:pPr>
              <a:spcBef>
                <a:spcPts val="1800"/>
              </a:spcBef>
              <a:spcAft>
                <a:spcPts val="400"/>
              </a:spcAft>
            </a:pPr>
            <a:r>
              <a:rPr lang="vi-VN" sz="2000" i="0" u="none" strike="noStrike" dirty="0">
                <a:solidFill>
                  <a:srgbClr val="000000"/>
                </a:solidFill>
                <a:effectLst/>
                <a:latin typeface="Arial" panose="020B0604020202020204" pitchFamily="34" charset="0"/>
              </a:rPr>
              <a:t>Bước 1. Thu thập dữ liệu</a:t>
            </a:r>
            <a:r>
              <a:rPr lang="en-US" sz="2000" i="0" u="none" strike="noStrike" dirty="0">
                <a:solidFill>
                  <a:srgbClr val="000000"/>
                </a:solidFill>
                <a:effectLst/>
                <a:latin typeface="Arial" panose="020B0604020202020204" pitchFamily="34" charset="0"/>
              </a:rPr>
              <a:t>                                             </a:t>
            </a:r>
            <a:r>
              <a:rPr lang="vi-VN" sz="2000" i="0" u="none" strike="noStrike" dirty="0">
                <a:solidFill>
                  <a:srgbClr val="000000"/>
                </a:solidFill>
                <a:effectLst/>
                <a:latin typeface="Arial" panose="020B0604020202020204" pitchFamily="34" charset="0"/>
              </a:rPr>
              <a:t>Bước 5. Đánh giá</a:t>
            </a:r>
            <a:endParaRPr lang="vi-VN" sz="2000" dirty="0">
              <a:effectLst/>
            </a:endParaRPr>
          </a:p>
          <a:p>
            <a:pPr>
              <a:spcBef>
                <a:spcPts val="1800"/>
              </a:spcBef>
              <a:spcAft>
                <a:spcPts val="400"/>
              </a:spcAft>
            </a:pPr>
            <a:r>
              <a:rPr lang="vi-VN" sz="2000" i="0" u="none" strike="noStrike" dirty="0">
                <a:solidFill>
                  <a:srgbClr val="000000"/>
                </a:solidFill>
                <a:effectLst/>
                <a:latin typeface="Arial" panose="020B0604020202020204" pitchFamily="34" charset="0"/>
              </a:rPr>
              <a:t>Bước 2. Tiền xử lý dữ liệu</a:t>
            </a:r>
            <a:r>
              <a:rPr lang="en-US" sz="2000" i="0" u="none" strike="noStrike" dirty="0">
                <a:solidFill>
                  <a:srgbClr val="000000"/>
                </a:solidFill>
                <a:effectLst/>
                <a:latin typeface="Arial" panose="020B0604020202020204" pitchFamily="34" charset="0"/>
              </a:rPr>
              <a:t>                                            </a:t>
            </a:r>
            <a:r>
              <a:rPr lang="vi-VN" sz="2000" i="0" u="none" strike="noStrike" dirty="0">
                <a:solidFill>
                  <a:srgbClr val="000000"/>
                </a:solidFill>
                <a:effectLst/>
                <a:latin typeface="Arial" panose="020B0604020202020204" pitchFamily="34" charset="0"/>
              </a:rPr>
              <a:t>Bước 6. Triển khai thời gian thực</a:t>
            </a:r>
            <a:endParaRPr lang="vi-VN" sz="2000" dirty="0">
              <a:effectLst/>
            </a:endParaRPr>
          </a:p>
          <a:p>
            <a:pPr rtl="0">
              <a:spcBef>
                <a:spcPts val="1800"/>
              </a:spcBef>
              <a:spcAft>
                <a:spcPts val="400"/>
              </a:spcAft>
            </a:pPr>
            <a:r>
              <a:rPr lang="vi-VN" sz="2000" i="0" u="none" strike="noStrike" dirty="0">
                <a:solidFill>
                  <a:srgbClr val="000000"/>
                </a:solidFill>
                <a:effectLst/>
                <a:latin typeface="Arial" panose="020B0604020202020204" pitchFamily="34" charset="0"/>
              </a:rPr>
              <a:t>Bước 3. Xây dựng mô hình CNN</a:t>
            </a:r>
            <a:r>
              <a:rPr lang="en-US" sz="2000" i="0" u="none" strike="noStrike" dirty="0">
                <a:solidFill>
                  <a:srgbClr val="000000"/>
                </a:solidFill>
                <a:effectLst/>
                <a:latin typeface="Arial" panose="020B0604020202020204" pitchFamily="34" charset="0"/>
              </a:rPr>
              <a:t>                                 </a:t>
            </a:r>
            <a:r>
              <a:rPr lang="vi-VN" sz="2000" i="0" u="none" strike="noStrike" dirty="0">
                <a:solidFill>
                  <a:srgbClr val="000000"/>
                </a:solidFill>
                <a:effectLst/>
                <a:latin typeface="Arial" panose="020B0604020202020204" pitchFamily="34" charset="0"/>
              </a:rPr>
              <a:t>Bước 7. Deploy hệ thống</a:t>
            </a:r>
            <a:r>
              <a:rPr lang="en-US" sz="2000" i="0" u="none" strike="noStrike" dirty="0">
                <a:solidFill>
                  <a:srgbClr val="000000"/>
                </a:solidFill>
                <a:effectLst/>
                <a:latin typeface="Arial" panose="020B0604020202020204" pitchFamily="34" charset="0"/>
              </a:rPr>
              <a:t>                       </a:t>
            </a:r>
            <a:endParaRPr lang="vi-VN" sz="2000" dirty="0">
              <a:effectLst/>
            </a:endParaRPr>
          </a:p>
          <a:p>
            <a:pPr rtl="0">
              <a:spcBef>
                <a:spcPts val="1800"/>
              </a:spcBef>
              <a:spcAft>
                <a:spcPts val="400"/>
              </a:spcAft>
            </a:pPr>
            <a:r>
              <a:rPr lang="vi-VN" sz="2000" i="0" u="none" strike="noStrike" dirty="0">
                <a:solidFill>
                  <a:srgbClr val="000000"/>
                </a:solidFill>
                <a:effectLst/>
                <a:latin typeface="Arial" panose="020B0604020202020204" pitchFamily="34" charset="0"/>
              </a:rPr>
              <a:t>Bước 4. Huấn luyện</a:t>
            </a:r>
            <a:endParaRPr lang="vi-VN" sz="2000" dirty="0">
              <a:effectLst/>
            </a:endParaRPr>
          </a:p>
          <a:p>
            <a:pPr rtl="0" fontAlgn="base">
              <a:spcBef>
                <a:spcPts val="1200"/>
              </a:spcBef>
              <a:spcAft>
                <a:spcPts val="0"/>
              </a:spcAft>
            </a:pPr>
            <a:r>
              <a:rPr lang="en-US" sz="2000" dirty="0">
                <a:solidFill>
                  <a:srgbClr val="000000"/>
                </a:solidFill>
                <a:latin typeface="Arial" panose="020B0604020202020204" pitchFamily="34" charset="0"/>
                <a:sym typeface="Wingdings" panose="05000000000000000000" pitchFamily="2" charset="2"/>
              </a:rPr>
              <a:t> </a:t>
            </a:r>
            <a:endParaRPr lang="en-US" sz="2000" dirty="0">
              <a:solidFill>
                <a:srgbClr val="000000"/>
              </a:solidFill>
              <a:latin typeface="Arial" panose="020B0604020202020204" pitchFamily="34" charset="0"/>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1194480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920AB-2F36-AB18-C548-0B2D54442523}"/>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219CEC36-A3F2-7CA3-7D67-836BF15E193C}"/>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2</a:t>
            </a:r>
            <a:r>
              <a:rPr lang="vi-VN" sz="2400" b="1" i="0" u="none" strike="noStrike" dirty="0">
                <a:solidFill>
                  <a:schemeClr val="bg1"/>
                </a:solidFill>
                <a:effectLst/>
                <a:latin typeface="Arial" panose="020B0604020202020204" pitchFamily="34" charset="0"/>
              </a:rPr>
              <a:t>: </a:t>
            </a:r>
            <a:r>
              <a:rPr lang="en-US" sz="2400" b="1" i="0" u="none" strike="noStrike" dirty="0">
                <a:solidFill>
                  <a:schemeClr val="bg1"/>
                </a:solidFill>
                <a:effectLst/>
                <a:latin typeface="Arial" panose="020B0604020202020204" pitchFamily="34" charset="0"/>
              </a:rPr>
              <a:t>FINE-TURNING </a:t>
            </a:r>
            <a:endParaRPr lang="vi-VN" sz="2400" b="1" dirty="0">
              <a:solidFill>
                <a:schemeClr val="bg1"/>
              </a:solidFill>
              <a:effectLst/>
            </a:endParaRPr>
          </a:p>
        </p:txBody>
      </p:sp>
      <p:sp>
        <p:nvSpPr>
          <p:cNvPr id="6" name="TextBox 5">
            <a:extLst>
              <a:ext uri="{FF2B5EF4-FFF2-40B4-BE49-F238E27FC236}">
                <a16:creationId xmlns:a16="http://schemas.microsoft.com/office/drawing/2014/main" id="{0B39D226-E306-FE9B-ED57-F56986B3C3AB}"/>
              </a:ext>
            </a:extLst>
          </p:cNvPr>
          <p:cNvSpPr txBox="1"/>
          <p:nvPr/>
        </p:nvSpPr>
        <p:spPr>
          <a:xfrm>
            <a:off x="210701" y="978385"/>
            <a:ext cx="11514668" cy="9818072"/>
          </a:xfrm>
          <a:prstGeom prst="rect">
            <a:avLst/>
          </a:prstGeom>
          <a:noFill/>
        </p:spPr>
        <p:txBody>
          <a:bodyPr wrap="square" rtlCol="0">
            <a:spAutoFit/>
          </a:bodyPr>
          <a:lstStyle/>
          <a:p>
            <a:pPr marL="342900" indent="-342900">
              <a:buAutoNum type="arabicPeriod"/>
            </a:pPr>
            <a:r>
              <a:rPr lang="en-US" sz="2800" b="1" dirty="0">
                <a:solidFill>
                  <a:srgbClr val="000000"/>
                </a:solidFill>
                <a:latin typeface="Arial" panose="020B0604020202020204" pitchFamily="34" charset="0"/>
              </a:rPr>
              <a:t>Fine-turning </a:t>
            </a:r>
            <a:r>
              <a:rPr lang="en-US" sz="2800" b="1" i="0" u="none" strike="noStrike" dirty="0" err="1">
                <a:solidFill>
                  <a:srgbClr val="000000"/>
                </a:solidFill>
                <a:effectLst/>
                <a:latin typeface="Arial" panose="020B0604020202020204" pitchFamily="34" charset="0"/>
              </a:rPr>
              <a:t>là</a:t>
            </a:r>
            <a:r>
              <a:rPr lang="en-US" sz="2800" b="1" i="0" u="none" strike="noStrike" dirty="0">
                <a:solidFill>
                  <a:srgbClr val="000000"/>
                </a:solidFill>
                <a:effectLst/>
                <a:latin typeface="Arial" panose="020B0604020202020204" pitchFamily="34" charset="0"/>
              </a:rPr>
              <a:t> </a:t>
            </a:r>
            <a:r>
              <a:rPr lang="en-US" sz="2800" b="1" i="0" u="none" strike="noStrike" dirty="0" err="1">
                <a:solidFill>
                  <a:srgbClr val="000000"/>
                </a:solidFill>
                <a:effectLst/>
                <a:latin typeface="Arial" panose="020B0604020202020204" pitchFamily="34" charset="0"/>
              </a:rPr>
              <a:t>gì</a:t>
            </a:r>
            <a:r>
              <a:rPr lang="en-US" sz="2800" b="1" i="0" u="none" strike="noStrike" dirty="0">
                <a:solidFill>
                  <a:srgbClr val="000000"/>
                </a:solidFill>
                <a:effectLst/>
                <a:latin typeface="Arial" panose="020B0604020202020204" pitchFamily="34" charset="0"/>
              </a:rPr>
              <a:t>?</a:t>
            </a:r>
            <a:endParaRPr lang="en-US" sz="2800" b="1" dirty="0">
              <a:solidFill>
                <a:srgbClr val="000000"/>
              </a:solidFill>
              <a:latin typeface="Arial" panose="020B0604020202020204" pitchFamily="34" charset="0"/>
            </a:endParaRPr>
          </a:p>
          <a:p>
            <a:endParaRPr lang="en-US" sz="2800" b="1" i="0" u="none" strike="noStrike" dirty="0">
              <a:solidFill>
                <a:srgbClr val="000000"/>
              </a:solidFill>
              <a:effectLst/>
              <a:latin typeface="Arial" panose="020B0604020202020204" pitchFamily="34" charset="0"/>
            </a:endParaRPr>
          </a:p>
          <a:p>
            <a:r>
              <a:rPr lang="vi-VN" sz="2200" b="1" i="0" u="none" strike="noStrike" dirty="0">
                <a:solidFill>
                  <a:srgbClr val="000000"/>
                </a:solidFill>
                <a:effectLst/>
                <a:latin typeface="Arial" panose="020B0604020202020204" pitchFamily="34" charset="0"/>
              </a:rPr>
              <a:t>1.1 Khái niệm</a:t>
            </a:r>
            <a:endParaRPr lang="vi-VN" sz="2200" b="1" dirty="0">
              <a:effectLst/>
            </a:endParaRPr>
          </a:p>
          <a:p>
            <a:pPr rtl="0">
              <a:spcBef>
                <a:spcPts val="1200"/>
              </a:spcBef>
              <a:spcAft>
                <a:spcPts val="1200"/>
              </a:spcAft>
            </a:pPr>
            <a:r>
              <a:rPr lang="vi-VN" sz="2000" dirty="0"/>
              <a:t>Fine-tuning là kỹ thuật lấy một mô hình đã được huấn luyện trước</a:t>
            </a:r>
            <a:r>
              <a:rPr lang="en-US" sz="2000" dirty="0"/>
              <a:t> </a:t>
            </a:r>
          </a:p>
          <a:p>
            <a:pPr rtl="0">
              <a:spcBef>
                <a:spcPts val="1200"/>
              </a:spcBef>
              <a:spcAft>
                <a:spcPts val="1200"/>
              </a:spcAft>
            </a:pPr>
            <a:r>
              <a:rPr lang="en-US" sz="2000" dirty="0"/>
              <a:t>(</a:t>
            </a:r>
            <a:r>
              <a:rPr lang="vi-VN" sz="2000" dirty="0"/>
              <a:t>pre</a:t>
            </a:r>
            <a:r>
              <a:rPr lang="en-US" sz="2000" dirty="0"/>
              <a:t>-</a:t>
            </a:r>
            <a:r>
              <a:rPr lang="vi-VN" sz="2000" dirty="0"/>
              <a:t>trained model) trên tập dữ liệu rất lớn, sau đó huấn luyện tiếp </a:t>
            </a:r>
            <a:endParaRPr lang="en-US" sz="2000" dirty="0"/>
          </a:p>
          <a:p>
            <a:pPr rtl="0">
              <a:spcBef>
                <a:spcPts val="1200"/>
              </a:spcBef>
              <a:spcAft>
                <a:spcPts val="1200"/>
              </a:spcAft>
            </a:pPr>
            <a:r>
              <a:rPr lang="vi-VN" sz="2000" dirty="0"/>
              <a:t>một phần hoặc toàn bộ mô hình trên dữ liệu của bài toán mới. </a:t>
            </a:r>
            <a:endParaRPr lang="en-US" sz="2000" dirty="0"/>
          </a:p>
          <a:p>
            <a:pPr rtl="0">
              <a:spcBef>
                <a:spcPts val="1200"/>
              </a:spcBef>
              <a:spcAft>
                <a:spcPts val="1200"/>
              </a:spcAft>
            </a:pPr>
            <a:r>
              <a:rPr lang="vi-VN" sz="2200" b="1" i="0" u="none" strike="noStrike" dirty="0">
                <a:solidFill>
                  <a:srgbClr val="000000"/>
                </a:solidFill>
                <a:effectLst/>
                <a:latin typeface="Arial" panose="020B0604020202020204" pitchFamily="34" charset="0"/>
              </a:rPr>
              <a:t>1.</a:t>
            </a:r>
            <a:r>
              <a:rPr lang="en-US" sz="2200" b="1" i="0" u="none" strike="noStrike" dirty="0">
                <a:solidFill>
                  <a:srgbClr val="000000"/>
                </a:solidFill>
                <a:effectLst/>
                <a:latin typeface="Arial" panose="020B0604020202020204" pitchFamily="34" charset="0"/>
              </a:rPr>
              <a:t>2</a:t>
            </a:r>
            <a:r>
              <a:rPr lang="vi-VN"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Nguyên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lí</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hoạt</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động</a:t>
            </a:r>
            <a:endParaRPr lang="en-US" sz="2200" b="1" i="0" u="none" strike="noStrike" dirty="0">
              <a:solidFill>
                <a:srgbClr val="000000"/>
              </a:solidFill>
              <a:effectLst/>
              <a:latin typeface="Arial" panose="020B0604020202020204" pitchFamily="34" charset="0"/>
            </a:endParaRPr>
          </a:p>
          <a:p>
            <a:pPr>
              <a:lnSpc>
                <a:spcPct val="150000"/>
              </a:lnSpc>
            </a:pPr>
            <a:r>
              <a:rPr lang="vi-VN" sz="2000" b="0" u="none" strike="noStrike" dirty="0">
                <a:effectLst/>
                <a:latin typeface="+mj-lt"/>
              </a:rPr>
              <a:t>Nguyên lý của fine-tuning dựa trên khái niệm chuyển giao học tập (Transfer Learning) và quá trình</a:t>
            </a:r>
            <a:endParaRPr lang="en-US" sz="2000" b="0" u="none" strike="noStrike" dirty="0">
              <a:effectLst/>
              <a:latin typeface="+mj-lt"/>
            </a:endParaRPr>
          </a:p>
          <a:p>
            <a:pPr>
              <a:lnSpc>
                <a:spcPct val="150000"/>
              </a:lnSpc>
            </a:pPr>
            <a:r>
              <a:rPr lang="en-US" sz="2000" dirty="0">
                <a:latin typeface="+mj-lt"/>
              </a:rPr>
              <a:t>c</a:t>
            </a:r>
            <a:r>
              <a:rPr lang="vi-VN" sz="2000" b="0" u="none" strike="noStrike" dirty="0">
                <a:effectLst/>
                <a:latin typeface="+mj-lt"/>
              </a:rPr>
              <a:t>ập nhật trọng số trong mạng nơ-ron. </a:t>
            </a:r>
            <a:endParaRPr lang="en-US" sz="2000" b="0" u="none" strike="noStrike" dirty="0">
              <a:effectLst/>
              <a:latin typeface="+mj-lt"/>
            </a:endParaRPr>
          </a:p>
          <a:p>
            <a:endParaRPr lang="vi-VN" b="0" u="none" strike="noStrike"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pic>
        <p:nvPicPr>
          <p:cNvPr id="3" name="Picture 2">
            <a:extLst>
              <a:ext uri="{FF2B5EF4-FFF2-40B4-BE49-F238E27FC236}">
                <a16:creationId xmlns:a16="http://schemas.microsoft.com/office/drawing/2014/main" id="{2E16A04E-C48B-9828-AB7E-BB2E743A3D94}"/>
              </a:ext>
            </a:extLst>
          </p:cNvPr>
          <p:cNvPicPr>
            <a:picLocks noChangeAspect="1"/>
          </p:cNvPicPr>
          <p:nvPr/>
        </p:nvPicPr>
        <p:blipFill>
          <a:blip r:embed="rId2"/>
          <a:stretch>
            <a:fillRect/>
          </a:stretch>
        </p:blipFill>
        <p:spPr>
          <a:xfrm>
            <a:off x="7763450" y="1142885"/>
            <a:ext cx="4006156" cy="3178537"/>
          </a:xfrm>
          <a:prstGeom prst="rect">
            <a:avLst/>
          </a:prstGeom>
        </p:spPr>
      </p:pic>
    </p:spTree>
    <p:extLst>
      <p:ext uri="{BB962C8B-B14F-4D97-AF65-F5344CB8AC3E}">
        <p14:creationId xmlns:p14="http://schemas.microsoft.com/office/powerpoint/2010/main" val="3303514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B11D-15E6-0781-6799-614EBF8B8814}"/>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7CD4E2DC-6FE8-51F2-6BAE-5E68F196A79A}"/>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2</a:t>
            </a:r>
            <a:r>
              <a:rPr lang="vi-VN" sz="2400" b="1" i="0" u="none" strike="noStrike" dirty="0">
                <a:solidFill>
                  <a:schemeClr val="bg1"/>
                </a:solidFill>
                <a:effectLst/>
                <a:latin typeface="Arial" panose="020B0604020202020204" pitchFamily="34" charset="0"/>
              </a:rPr>
              <a:t>: </a:t>
            </a:r>
            <a:r>
              <a:rPr lang="en-US" sz="2400" b="1" i="0" u="none" strike="noStrike" dirty="0">
                <a:solidFill>
                  <a:schemeClr val="bg1"/>
                </a:solidFill>
                <a:effectLst/>
                <a:latin typeface="Arial" panose="020B0604020202020204" pitchFamily="34" charset="0"/>
              </a:rPr>
              <a:t>FINE-TURNING </a:t>
            </a:r>
            <a:endParaRPr lang="vi-VN" sz="2400" b="1" dirty="0">
              <a:solidFill>
                <a:schemeClr val="bg1"/>
              </a:solidFill>
              <a:effectLst/>
            </a:endParaRPr>
          </a:p>
        </p:txBody>
      </p:sp>
      <p:sp>
        <p:nvSpPr>
          <p:cNvPr id="6" name="TextBox 5">
            <a:extLst>
              <a:ext uri="{FF2B5EF4-FFF2-40B4-BE49-F238E27FC236}">
                <a16:creationId xmlns:a16="http://schemas.microsoft.com/office/drawing/2014/main" id="{AB1A1256-F53B-0900-CCEB-2E1B9B98A958}"/>
              </a:ext>
            </a:extLst>
          </p:cNvPr>
          <p:cNvSpPr txBox="1"/>
          <p:nvPr/>
        </p:nvSpPr>
        <p:spPr>
          <a:xfrm>
            <a:off x="338666" y="860853"/>
            <a:ext cx="11514668" cy="10156627"/>
          </a:xfrm>
          <a:prstGeom prst="rect">
            <a:avLst/>
          </a:prstGeom>
          <a:noFill/>
        </p:spPr>
        <p:txBody>
          <a:bodyPr wrap="square" rtlCol="0">
            <a:spAutoFit/>
          </a:bodyPr>
          <a:lstStyle/>
          <a:p>
            <a:r>
              <a:rPr lang="en-US" sz="2400" b="1" dirty="0">
                <a:latin typeface="+mj-lt"/>
              </a:rPr>
              <a:t>- </a:t>
            </a:r>
            <a:r>
              <a:rPr lang="en-US" sz="2200" b="1" dirty="0">
                <a:latin typeface="+mj-lt"/>
              </a:rPr>
              <a:t>V</a:t>
            </a:r>
            <a:r>
              <a:rPr lang="vi-VN" sz="2200" b="1" u="none" strike="noStrike" dirty="0">
                <a:effectLst/>
                <a:latin typeface="+mj-lt"/>
              </a:rPr>
              <a:t>ận dụng kiến thức nền tảng (Base Model):</a:t>
            </a:r>
            <a:r>
              <a:rPr lang="vi-VN" sz="2200" b="0" u="none" strike="noStrike" dirty="0">
                <a:effectLst/>
                <a:latin typeface="+mj-lt"/>
              </a:rPr>
              <a:t> Trước khi fine-tune, mô hình đã trải qua bước tiền huấn luyện (Pre-training) trên một khối lượng dữ liệu khổng lồ, học được cách hiểu ngôn ngữ, ngữ pháp và kiến thức chung</a:t>
            </a:r>
            <a:r>
              <a:rPr lang="vi-VN" sz="2400" b="0" u="none" strike="noStrike" dirty="0">
                <a:effectLst/>
                <a:latin typeface="+mj-lt"/>
              </a:rPr>
              <a:t>. </a:t>
            </a:r>
            <a:endParaRPr lang="en-US" sz="2400" dirty="0">
              <a:latin typeface="+mj-lt"/>
            </a:endParaRPr>
          </a:p>
          <a:p>
            <a:endParaRPr lang="vi-VN" sz="2400" b="0" u="none" strike="noStrike" dirty="0">
              <a:effectLst/>
              <a:latin typeface="+mj-lt"/>
            </a:endParaRPr>
          </a:p>
          <a:p>
            <a:r>
              <a:rPr lang="en-US" sz="2200" b="1" u="none" strike="noStrike" dirty="0">
                <a:effectLst/>
                <a:latin typeface="+mj-lt"/>
              </a:rPr>
              <a:t>- </a:t>
            </a:r>
            <a:r>
              <a:rPr lang="vi-VN" sz="2200" b="1" u="none" strike="noStrike" dirty="0">
                <a:effectLst/>
                <a:latin typeface="+mj-lt"/>
              </a:rPr>
              <a:t>Đưa vào dữ liệu chuyên biệt (Dataset):</a:t>
            </a:r>
            <a:r>
              <a:rPr lang="vi-VN" sz="2200" b="0" u="none" strike="noStrike" dirty="0">
                <a:effectLst/>
                <a:latin typeface="+mj-lt"/>
              </a:rPr>
              <a:t> </a:t>
            </a:r>
            <a:r>
              <a:rPr lang="en-US" sz="2200" b="0" u="none" strike="noStrike" dirty="0">
                <a:effectLst/>
                <a:latin typeface="+mj-lt"/>
              </a:rPr>
              <a:t>C</a:t>
            </a:r>
            <a:r>
              <a:rPr lang="vi-VN" sz="2200" b="0" u="none" strike="noStrike" dirty="0">
                <a:effectLst/>
                <a:latin typeface="+mj-lt"/>
              </a:rPr>
              <a:t>ung cấp một tập dữ liệu mới nhỏ hơn (ví dụ: các cặp câu hỏi-đáp về dịch vụ khách hàng của doanh nghiệp, hoặc văn bản luật chuyên ngành). </a:t>
            </a:r>
            <a:r>
              <a:rPr lang="en-US" sz="2200" b="0" u="none" strike="noStrike" dirty="0">
                <a:effectLst/>
                <a:latin typeface="+mj-lt"/>
              </a:rPr>
              <a:t> </a:t>
            </a:r>
          </a:p>
          <a:p>
            <a:endParaRPr lang="vi-VN" sz="2200" b="0" u="none" strike="noStrike" dirty="0">
              <a:effectLst/>
              <a:latin typeface="+mj-lt"/>
            </a:endParaRPr>
          </a:p>
          <a:p>
            <a:r>
              <a:rPr lang="en-US" sz="2200" b="1" u="none" strike="noStrike" dirty="0">
                <a:effectLst/>
                <a:latin typeface="+mj-lt"/>
              </a:rPr>
              <a:t>- </a:t>
            </a:r>
            <a:r>
              <a:rPr lang="vi-VN" sz="2200" b="1" u="none" strike="noStrike" dirty="0">
                <a:effectLst/>
                <a:latin typeface="+mj-lt"/>
              </a:rPr>
              <a:t>Tính toán độ sai lệch (Loss Function):</a:t>
            </a:r>
            <a:r>
              <a:rPr lang="vi-VN" sz="2200" b="0" u="none" strike="noStrike" dirty="0">
                <a:effectLst/>
                <a:latin typeface="+mj-lt"/>
              </a:rPr>
              <a:t> Mô hình đưa ra dự đoán dựa trên dữ liệu mới này. Hệ thống sẽ so sánh kết quả của AI với kết quả thực tế (nhãn) trong tập dữ liệu của bạn để tính toán mức độ sai số. </a:t>
            </a:r>
            <a:endParaRPr lang="en-US" sz="2200" b="0" u="none" strike="noStrike" dirty="0">
              <a:effectLst/>
              <a:latin typeface="+mj-lt"/>
            </a:endParaRPr>
          </a:p>
          <a:p>
            <a:endParaRPr lang="vi-VN" sz="2200" b="0" u="none" strike="noStrike" dirty="0">
              <a:effectLst/>
              <a:latin typeface="+mj-lt"/>
            </a:endParaRPr>
          </a:p>
          <a:p>
            <a:r>
              <a:rPr lang="en-US" sz="2200" b="1" u="none" strike="noStrike" dirty="0">
                <a:effectLst/>
                <a:latin typeface="+mj-lt"/>
              </a:rPr>
              <a:t>- </a:t>
            </a:r>
            <a:r>
              <a:rPr lang="vi-VN" sz="2200" b="1" u="none" strike="noStrike" dirty="0">
                <a:effectLst/>
                <a:latin typeface="+mj-lt"/>
              </a:rPr>
              <a:t>Cập nhật trọng số (Backpropagation):</a:t>
            </a:r>
            <a:r>
              <a:rPr lang="vi-VN" sz="2200" b="0" u="none" strike="noStrike" dirty="0">
                <a:effectLst/>
                <a:latin typeface="+mj-lt"/>
              </a:rPr>
              <a:t> Thông qua thuật toán lan truyền ngược (backpropagation), các tham số bên trong các lớp (layers) của mô hình sẽ được điều chỉnh nhẹ nhàng để giảm thiểu sai số. </a:t>
            </a:r>
          </a:p>
          <a:p>
            <a:pPr rtl="0">
              <a:spcBef>
                <a:spcPts val="1200"/>
              </a:spcBef>
              <a:spcAft>
                <a:spcPts val="1200"/>
              </a:spcAft>
            </a:pPr>
            <a:endParaRPr lang="en-US" sz="2000"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1236897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FF2D3-029D-987E-07BB-4922D2BF8D22}"/>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15580E4D-DB8D-94A4-985C-14DDCADE2773}"/>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2</a:t>
            </a:r>
            <a:r>
              <a:rPr lang="vi-VN" sz="2400" b="1" i="0" u="none" strike="noStrike" dirty="0">
                <a:solidFill>
                  <a:schemeClr val="bg1"/>
                </a:solidFill>
                <a:effectLst/>
                <a:latin typeface="Arial" panose="020B0604020202020204" pitchFamily="34" charset="0"/>
              </a:rPr>
              <a:t>: </a:t>
            </a:r>
            <a:r>
              <a:rPr lang="en-US" sz="2400" b="1" i="0" u="none" strike="noStrike" dirty="0">
                <a:solidFill>
                  <a:schemeClr val="bg1"/>
                </a:solidFill>
                <a:effectLst/>
                <a:latin typeface="Arial" panose="020B0604020202020204" pitchFamily="34" charset="0"/>
              </a:rPr>
              <a:t>FINE-TURNING </a:t>
            </a:r>
            <a:endParaRPr lang="vi-VN" sz="2400" b="1" dirty="0">
              <a:solidFill>
                <a:schemeClr val="bg1"/>
              </a:solidFill>
              <a:effectLst/>
            </a:endParaRPr>
          </a:p>
        </p:txBody>
      </p:sp>
      <p:pic>
        <p:nvPicPr>
          <p:cNvPr id="2" name="Picture 1">
            <a:extLst>
              <a:ext uri="{FF2B5EF4-FFF2-40B4-BE49-F238E27FC236}">
                <a16:creationId xmlns:a16="http://schemas.microsoft.com/office/drawing/2014/main" id="{5273B4B1-E1D6-8101-7939-190A1B7BE384}"/>
              </a:ext>
            </a:extLst>
          </p:cNvPr>
          <p:cNvPicPr>
            <a:picLocks noChangeAspect="1"/>
          </p:cNvPicPr>
          <p:nvPr/>
        </p:nvPicPr>
        <p:blipFill>
          <a:blip r:embed="rId2"/>
          <a:stretch>
            <a:fillRect/>
          </a:stretch>
        </p:blipFill>
        <p:spPr>
          <a:xfrm>
            <a:off x="609600" y="955868"/>
            <a:ext cx="10422466" cy="5243905"/>
          </a:xfrm>
          <a:prstGeom prst="rect">
            <a:avLst/>
          </a:prstGeom>
        </p:spPr>
      </p:pic>
    </p:spTree>
    <p:extLst>
      <p:ext uri="{BB962C8B-B14F-4D97-AF65-F5344CB8AC3E}">
        <p14:creationId xmlns:p14="http://schemas.microsoft.com/office/powerpoint/2010/main" val="485520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39574-BA61-DF82-B71D-D00C6C956326}"/>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2D8ED6F3-26CA-8F6C-8DF6-E3F58113AF09}"/>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2: FINE-TURNING</a:t>
            </a:r>
            <a:endParaRPr lang="vi-VN" sz="2400" b="1" dirty="0">
              <a:solidFill>
                <a:schemeClr val="bg1"/>
              </a:solidFill>
              <a:effectLst/>
            </a:endParaRPr>
          </a:p>
        </p:txBody>
      </p:sp>
      <p:sp>
        <p:nvSpPr>
          <p:cNvPr id="6" name="TextBox 5">
            <a:extLst>
              <a:ext uri="{FF2B5EF4-FFF2-40B4-BE49-F238E27FC236}">
                <a16:creationId xmlns:a16="http://schemas.microsoft.com/office/drawing/2014/main" id="{C67C5360-FC28-626C-E828-DE7398BBD9FC}"/>
              </a:ext>
            </a:extLst>
          </p:cNvPr>
          <p:cNvSpPr txBox="1"/>
          <p:nvPr/>
        </p:nvSpPr>
        <p:spPr>
          <a:xfrm>
            <a:off x="423492" y="915243"/>
            <a:ext cx="10872132" cy="11126123"/>
          </a:xfrm>
          <a:prstGeom prst="rect">
            <a:avLst/>
          </a:prstGeom>
          <a:noFill/>
        </p:spPr>
        <p:txBody>
          <a:bodyPr wrap="square" rtlCol="0">
            <a:spAutoFit/>
          </a:bodyPr>
          <a:lstStyle/>
          <a:p>
            <a:pPr rtl="0">
              <a:spcBef>
                <a:spcPts val="2400"/>
              </a:spcBef>
              <a:spcAft>
                <a:spcPts val="600"/>
              </a:spcAft>
            </a:pPr>
            <a:r>
              <a:rPr lang="vi-VN" sz="2800" b="1" i="0" u="none" strike="noStrike" dirty="0">
                <a:solidFill>
                  <a:srgbClr val="000000"/>
                </a:solidFill>
                <a:effectLst/>
                <a:latin typeface="Arial" panose="020B0604020202020204" pitchFamily="34" charset="0"/>
              </a:rPr>
              <a:t>2. Các ứng dụng của </a:t>
            </a:r>
            <a:r>
              <a:rPr lang="en-US" sz="2800" b="1" i="0" u="none" strike="noStrike" dirty="0">
                <a:solidFill>
                  <a:srgbClr val="000000"/>
                </a:solidFill>
                <a:effectLst/>
                <a:latin typeface="Arial" panose="020B0604020202020204" pitchFamily="34" charset="0"/>
              </a:rPr>
              <a:t>Fine</a:t>
            </a:r>
            <a:r>
              <a:rPr lang="en-US" sz="2800" b="1" dirty="0">
                <a:solidFill>
                  <a:srgbClr val="000000"/>
                </a:solidFill>
                <a:latin typeface="Arial" panose="020B0604020202020204" pitchFamily="34" charset="0"/>
              </a:rPr>
              <a:t>-turning </a:t>
            </a:r>
            <a:r>
              <a:rPr lang="vi-VN" sz="2800" b="1" i="0" u="none" strike="noStrike" dirty="0">
                <a:solidFill>
                  <a:srgbClr val="000000"/>
                </a:solidFill>
                <a:effectLst/>
                <a:latin typeface="Arial" panose="020B0604020202020204" pitchFamily="34" charset="0"/>
              </a:rPr>
              <a:t>hiện nay</a:t>
            </a:r>
            <a:endParaRPr lang="en-US" sz="28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200" b="1" i="0" u="none" strike="noStrike" dirty="0">
                <a:solidFill>
                  <a:srgbClr val="000000"/>
                </a:solidFill>
                <a:effectLst/>
                <a:latin typeface="Arial" panose="020B0604020202020204" pitchFamily="34" charset="0"/>
              </a:rPr>
              <a:t>-</a:t>
            </a:r>
            <a:r>
              <a:rPr lang="en-US" sz="2200" b="1" i="0" u="none" strike="noStrike" dirty="0" err="1">
                <a:solidFill>
                  <a:srgbClr val="000000"/>
                </a:solidFill>
                <a:effectLst/>
                <a:latin typeface="Arial" panose="020B0604020202020204" pitchFamily="34" charset="0"/>
              </a:rPr>
              <a:t>Nhận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diện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khuôn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mặt</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i="0" u="none" strike="noStrike" dirty="0" err="1">
                <a:solidFill>
                  <a:srgbClr val="000000"/>
                </a:solidFill>
                <a:effectLst/>
                <a:latin typeface="Arial" panose="020B0604020202020204" pitchFamily="34" charset="0"/>
              </a:rPr>
              <a:t>V</a:t>
            </a:r>
            <a:r>
              <a:rPr lang="en-US" dirty="0" err="1">
                <a:solidFill>
                  <a:srgbClr val="000000"/>
                </a:solidFill>
                <a:latin typeface="Arial" panose="020B0604020202020204" pitchFamily="34" charset="0"/>
              </a:rPr>
              <a:t>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a:t>
            </a:r>
            <a:r>
              <a:rPr lang="vi-VN" dirty="0"/>
              <a:t>Fine-tune ResNet/ArcFace cho hệ thống điểm danh</a:t>
            </a:r>
            <a:endParaRPr lang="en-US" dirty="0"/>
          </a:p>
          <a:p>
            <a:pPr rtl="0" fontAlgn="base">
              <a:spcBef>
                <a:spcPts val="1200"/>
              </a:spcBef>
              <a:spcAft>
                <a:spcPts val="0"/>
              </a:spcAft>
            </a:pPr>
            <a:r>
              <a:rPr lang="en-US" sz="2200" b="1" dirty="0">
                <a:solidFill>
                  <a:srgbClr val="000000"/>
                </a:solidFill>
                <a:latin typeface="Arial" panose="020B0604020202020204" pitchFamily="34" charset="0"/>
              </a:rPr>
              <a:t>- </a:t>
            </a:r>
            <a:r>
              <a:rPr lang="en-US" sz="2200" b="1" i="0" u="none" strike="noStrike" dirty="0">
                <a:solidFill>
                  <a:srgbClr val="000000"/>
                </a:solidFill>
                <a:effectLst/>
                <a:latin typeface="Arial" panose="020B0604020202020204" pitchFamily="34" charset="0"/>
              </a:rPr>
              <a:t>Y </a:t>
            </a:r>
            <a:r>
              <a:rPr lang="en-US" sz="2200" b="1" i="0" u="none" strike="noStrike" dirty="0" err="1">
                <a:solidFill>
                  <a:srgbClr val="000000"/>
                </a:solidFill>
                <a:effectLst/>
                <a:latin typeface="Arial" panose="020B0604020202020204" pitchFamily="34" charset="0"/>
              </a:rPr>
              <a:t>tế</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1800" b="0" i="0" u="none" strike="noStrike" dirty="0" err="1">
                <a:solidFill>
                  <a:srgbClr val="000000"/>
                </a:solidFill>
                <a:effectLst/>
                <a:latin typeface="Arial" panose="020B0604020202020204" pitchFamily="34" charset="0"/>
              </a:rPr>
              <a:t>Ví</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dụ</a:t>
            </a:r>
            <a:r>
              <a:rPr lang="en-US" sz="1800" b="0" i="0" u="none" strike="noStrike" dirty="0">
                <a:solidFill>
                  <a:srgbClr val="000000"/>
                </a:solidFill>
                <a:effectLst/>
                <a:latin typeface="Arial" panose="020B0604020202020204" pitchFamily="34" charset="0"/>
              </a:rPr>
              <a:t>: </a:t>
            </a:r>
            <a:r>
              <a:rPr lang="vi-VN" dirty="0"/>
              <a:t>X-ray, CT, MRI</a:t>
            </a:r>
            <a:endParaRPr lang="en-US" dirty="0"/>
          </a:p>
          <a:p>
            <a:pPr rtl="0" fontAlgn="base">
              <a:spcBef>
                <a:spcPts val="1200"/>
              </a:spcBef>
              <a:spcAft>
                <a:spcPts val="0"/>
              </a:spcAft>
            </a:pPr>
            <a:r>
              <a:rPr lang="en-US" sz="2200" b="1" i="0" u="none" strike="noStrike" dirty="0">
                <a:solidFill>
                  <a:srgbClr val="000000"/>
                </a:solidFill>
                <a:latin typeface="Arial" panose="020B0604020202020204" pitchFamily="34" charset="0"/>
              </a:rPr>
              <a:t>- </a:t>
            </a:r>
            <a:r>
              <a:rPr lang="en-US" sz="2200" b="1" i="0" u="none" strike="noStrike" dirty="0" err="1">
                <a:solidFill>
                  <a:srgbClr val="000000"/>
                </a:solidFill>
                <a:effectLst/>
                <a:latin typeface="Arial" panose="020B0604020202020204" pitchFamily="34" charset="0"/>
              </a:rPr>
              <a:t>Nông</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nghiệp</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P</a:t>
            </a:r>
            <a:r>
              <a:rPr lang="vi-VN" dirty="0"/>
              <a:t>hát hiện bệnh cây</a:t>
            </a:r>
            <a:endParaRPr lang="en-US" dirty="0"/>
          </a:p>
          <a:p>
            <a:pPr rtl="0" fontAlgn="base">
              <a:spcBef>
                <a:spcPts val="1200"/>
              </a:spcBef>
              <a:spcAft>
                <a:spcPts val="0"/>
              </a:spcAft>
            </a:pPr>
            <a:r>
              <a:rPr lang="en-US" sz="2200" b="1" dirty="0">
                <a:solidFill>
                  <a:srgbClr val="000000"/>
                </a:solidFill>
                <a:latin typeface="Arial" panose="020B0604020202020204" pitchFamily="34" charset="0"/>
              </a:rPr>
              <a:t>- </a:t>
            </a:r>
            <a:r>
              <a:rPr lang="en-US" sz="2200" b="1" dirty="0" err="1">
                <a:solidFill>
                  <a:srgbClr val="000000"/>
                </a:solidFill>
                <a:effectLst/>
                <a:latin typeface="Arial" panose="020B0604020202020204" pitchFamily="34" charset="0"/>
              </a:rPr>
              <a:t>Công</a:t>
            </a:r>
            <a:r>
              <a:rPr lang="en-US" sz="2200" b="1" dirty="0">
                <a:solidFill>
                  <a:srgbClr val="000000"/>
                </a:solidFill>
                <a:effectLst/>
                <a:latin typeface="Arial" panose="020B0604020202020204" pitchFamily="34" charset="0"/>
              </a:rPr>
              <a:t> </a:t>
            </a:r>
            <a:r>
              <a:rPr lang="en-US" sz="2200" b="1" dirty="0" err="1">
                <a:solidFill>
                  <a:srgbClr val="000000"/>
                </a:solidFill>
                <a:effectLst/>
                <a:latin typeface="Arial" panose="020B0604020202020204" pitchFamily="34" charset="0"/>
              </a:rPr>
              <a:t>nghiệp</a:t>
            </a:r>
            <a:endParaRPr lang="en-US" dirty="0">
              <a:solidFill>
                <a:srgbClr val="000000"/>
              </a:solidFill>
              <a:latin typeface="Arial" panose="020B0604020202020204" pitchFamily="34" charset="0"/>
            </a:endParaRPr>
          </a:p>
          <a:p>
            <a:pPr rtl="0" fontAlgn="base">
              <a:spcBef>
                <a:spcPts val="120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Kiểm</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tra</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lỗi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sản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phẩm</a:t>
            </a:r>
            <a:endParaRPr lang="en-US" sz="2200" b="1" dirty="0">
              <a:solidFill>
                <a:srgbClr val="000000"/>
              </a:solidFill>
              <a:effectLst/>
              <a:latin typeface="Arial" panose="020B0604020202020204" pitchFamily="34" charset="0"/>
            </a:endParaRPr>
          </a:p>
          <a:p>
            <a:pPr rtl="0" fontAlgn="base">
              <a:spcBef>
                <a:spcPts val="1200"/>
              </a:spcBef>
              <a:spcAft>
                <a:spcPts val="0"/>
              </a:spcAft>
            </a:pPr>
            <a:r>
              <a:rPr lang="en-US" sz="2200" b="1" dirty="0">
                <a:solidFill>
                  <a:srgbClr val="000000"/>
                </a:solidFill>
                <a:latin typeface="Arial" panose="020B0604020202020204" pitchFamily="34" charset="0"/>
              </a:rPr>
              <a:t>- </a:t>
            </a:r>
            <a:r>
              <a:rPr lang="en-US" sz="2200" b="1" i="0" u="none" strike="noStrike" dirty="0" err="1">
                <a:solidFill>
                  <a:srgbClr val="000000"/>
                </a:solidFill>
                <a:effectLst/>
                <a:latin typeface="Arial" panose="020B0604020202020204" pitchFamily="34" charset="0"/>
              </a:rPr>
              <a:t>Giáo</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dục</a:t>
            </a:r>
            <a:endParaRPr lang="en-US" sz="2200" b="1" dirty="0">
              <a:solidFill>
                <a:srgbClr val="000000"/>
              </a:solidFill>
              <a:latin typeface="Arial" panose="020B0604020202020204" pitchFamily="34" charset="0"/>
            </a:endParaRPr>
          </a:p>
          <a:p>
            <a:pPr rtl="0" fontAlgn="base">
              <a:spcBef>
                <a:spcPts val="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a:t>
            </a:r>
            <a:r>
              <a:rPr lang="vi-VN" dirty="0"/>
              <a:t>Fine-tune mô hình nhận dạng cảm xúc, mức độ tập trung, hành vi học tập</a:t>
            </a:r>
            <a:endParaRPr lang="vi-VN" sz="1800" b="0" i="0" u="none" strike="noStrike" dirty="0">
              <a:solidFill>
                <a:srgbClr val="000000"/>
              </a:solidFill>
              <a:effectLst/>
              <a:latin typeface="Arial" panose="020B0604020202020204" pitchFamily="34" charset="0"/>
            </a:endParaRPr>
          </a:p>
          <a:p>
            <a:pPr>
              <a:spcBef>
                <a:spcPts val="1200"/>
              </a:spcBef>
              <a:spcAft>
                <a:spcPts val="1200"/>
              </a:spcAft>
            </a:pPr>
            <a:endParaRPr lang="vi-VN" sz="2200" b="1" dirty="0">
              <a:effectLst/>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1847419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319CE-75B9-956A-E24A-3A171BF6DA86}"/>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46AB14A7-D53C-4B08-9799-21ECBDFDDEC5}"/>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dirty="0">
                <a:solidFill>
                  <a:schemeClr val="bg1"/>
                </a:solidFill>
                <a:latin typeface="Arial" panose="020B0604020202020204" pitchFamily="34" charset="0"/>
              </a:rPr>
              <a:t>2: FINE-TURNING</a:t>
            </a:r>
            <a:endParaRPr lang="vi-VN" sz="2400" b="1" dirty="0">
              <a:solidFill>
                <a:schemeClr val="bg1"/>
              </a:solidFill>
              <a:effectLst/>
            </a:endParaRPr>
          </a:p>
        </p:txBody>
      </p:sp>
      <p:sp>
        <p:nvSpPr>
          <p:cNvPr id="6" name="TextBox 5">
            <a:extLst>
              <a:ext uri="{FF2B5EF4-FFF2-40B4-BE49-F238E27FC236}">
                <a16:creationId xmlns:a16="http://schemas.microsoft.com/office/drawing/2014/main" id="{0053028C-6104-83F8-6678-198179276D39}"/>
              </a:ext>
            </a:extLst>
          </p:cNvPr>
          <p:cNvSpPr txBox="1"/>
          <p:nvPr/>
        </p:nvSpPr>
        <p:spPr>
          <a:xfrm>
            <a:off x="465825" y="1025309"/>
            <a:ext cx="10872132" cy="11557010"/>
          </a:xfrm>
          <a:prstGeom prst="rect">
            <a:avLst/>
          </a:prstGeom>
          <a:noFill/>
        </p:spPr>
        <p:txBody>
          <a:bodyPr wrap="square" rtlCol="0">
            <a:spAutoFit/>
          </a:bodyPr>
          <a:lstStyle/>
          <a:p>
            <a:pPr rtl="0">
              <a:spcBef>
                <a:spcPts val="2400"/>
              </a:spcBef>
              <a:spcAft>
                <a:spcPts val="600"/>
              </a:spcAft>
            </a:pPr>
            <a:r>
              <a:rPr lang="vi-VN" sz="2800" b="1" i="0" u="none" strike="noStrike" dirty="0">
                <a:solidFill>
                  <a:srgbClr val="000000"/>
                </a:solidFill>
                <a:effectLst/>
                <a:latin typeface="Arial" panose="020B0604020202020204" pitchFamily="34" charset="0"/>
              </a:rPr>
              <a:t>3. </a:t>
            </a:r>
            <a:r>
              <a:rPr lang="en-US" sz="2800" b="1" dirty="0" err="1">
                <a:solidFill>
                  <a:srgbClr val="000000"/>
                </a:solidFill>
                <a:latin typeface="Arial" panose="020B0604020202020204" pitchFamily="34" charset="0"/>
              </a:rPr>
              <a:t>Áp</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dụng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vào</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đề</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tài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nhận</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dạng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cảm</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xúc</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người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học</a:t>
            </a:r>
            <a:endParaRPr lang="vi-VN" sz="2800" b="1" dirty="0">
              <a:effectLst/>
            </a:endParaRPr>
          </a:p>
          <a:p>
            <a:pPr rtl="0" fontAlgn="base">
              <a:spcBef>
                <a:spcPts val="1200"/>
              </a:spcBef>
              <a:spcAft>
                <a:spcPts val="0"/>
              </a:spcAft>
            </a:pPr>
            <a:r>
              <a:rPr lang="en-US" sz="2200" b="1" dirty="0">
                <a:solidFill>
                  <a:srgbClr val="000000"/>
                </a:solidFill>
                <a:latin typeface="Arial" panose="020B0604020202020204" pitchFamily="34" charset="0"/>
                <a:sym typeface="Wingdings" panose="05000000000000000000" pitchFamily="2" charset="2"/>
              </a:rPr>
              <a:t>3.1 </a:t>
            </a:r>
            <a:r>
              <a:rPr lang="en-US" sz="2200" b="1" dirty="0" err="1">
                <a:solidFill>
                  <a:srgbClr val="000000"/>
                </a:solidFill>
                <a:latin typeface="Arial" panose="020B0604020202020204" pitchFamily="34" charset="0"/>
                <a:sym typeface="Wingdings" panose="05000000000000000000" pitchFamily="2" charset="2"/>
              </a:rPr>
              <a:t>Chuẩn</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bị</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dữ</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liệu</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Sử</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dụng</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để</a:t>
            </a:r>
            <a:r>
              <a:rPr lang="en-US" sz="2200" b="1" dirty="0">
                <a:solidFill>
                  <a:srgbClr val="000000"/>
                </a:solidFill>
                <a:latin typeface="Arial" panose="020B0604020202020204" pitchFamily="34" charset="0"/>
                <a:sym typeface="Wingdings" panose="05000000000000000000" pitchFamily="2" charset="2"/>
              </a:rPr>
              <a:t> train </a:t>
            </a:r>
            <a:r>
              <a:rPr lang="en-US" sz="2200" b="1" dirty="0" err="1">
                <a:solidFill>
                  <a:srgbClr val="000000"/>
                </a:solidFill>
                <a:latin typeface="Arial" panose="020B0604020202020204" pitchFamily="34" charset="0"/>
                <a:sym typeface="Wingdings" panose="05000000000000000000" pitchFamily="2" charset="2"/>
              </a:rPr>
              <a:t>mô</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hình</a:t>
            </a:r>
            <a:r>
              <a:rPr lang="en-US" sz="2200" b="1" dirty="0">
                <a:solidFill>
                  <a:srgbClr val="000000"/>
                </a:solidFill>
                <a:latin typeface="Arial" panose="020B0604020202020204" pitchFamily="34" charset="0"/>
                <a:sym typeface="Wingdings" panose="05000000000000000000" pitchFamily="2" charset="2"/>
              </a:rPr>
              <a:t>) </a:t>
            </a:r>
          </a:p>
          <a:p>
            <a:pPr marL="342900" indent="-342900" rtl="0" fontAlgn="base">
              <a:spcBef>
                <a:spcPts val="1200"/>
              </a:spcBef>
              <a:spcAft>
                <a:spcPts val="0"/>
              </a:spcAft>
              <a:buFontTx/>
              <a:buChar char="-"/>
            </a:pPr>
            <a:r>
              <a:rPr lang="en-US" sz="2000" dirty="0"/>
              <a:t>Ng</a:t>
            </a:r>
            <a:r>
              <a:rPr lang="vi-VN" sz="2000" dirty="0"/>
              <a:t>uồn:</a:t>
            </a:r>
            <a:r>
              <a:rPr lang="en-US" sz="2000" dirty="0"/>
              <a:t> </a:t>
            </a:r>
            <a:r>
              <a:rPr lang="vi-VN" sz="2000" dirty="0"/>
              <a:t>FER2013</a:t>
            </a:r>
            <a:r>
              <a:rPr lang="en-US" sz="2000" dirty="0"/>
              <a:t>, </a:t>
            </a:r>
            <a:r>
              <a:rPr lang="vi-VN" sz="2000" dirty="0"/>
              <a:t>RAF-DB</a:t>
            </a:r>
            <a:r>
              <a:rPr lang="en-US" sz="2000" dirty="0"/>
              <a:t>, </a:t>
            </a:r>
            <a:r>
              <a:rPr lang="vi-VN" sz="2000" dirty="0"/>
              <a:t>AffectNet</a:t>
            </a:r>
            <a:r>
              <a:rPr lang="en-US" sz="2000" dirty="0"/>
              <a:t>,... </a:t>
            </a:r>
            <a:r>
              <a:rPr lang="vi-VN" sz="2000" dirty="0"/>
              <a:t>Hoặc dữ liệu webcam lớp học tự thu thập (cần lưu ý quyền riêng tư và đồng ý tham gia).</a:t>
            </a:r>
            <a:endParaRPr lang="en-US" sz="2000" dirty="0"/>
          </a:p>
          <a:p>
            <a:pPr rtl="0" fontAlgn="base">
              <a:spcBef>
                <a:spcPts val="1200"/>
              </a:spcBef>
              <a:spcAft>
                <a:spcPts val="0"/>
              </a:spcAft>
            </a:pPr>
            <a:r>
              <a:rPr lang="en-US" sz="2200" b="1" dirty="0">
                <a:latin typeface="+mj-lt"/>
              </a:rPr>
              <a:t>3.2 </a:t>
            </a:r>
            <a:r>
              <a:rPr lang="en-US" sz="2200" b="1" dirty="0" err="1">
                <a:latin typeface="+mj-lt"/>
              </a:rPr>
              <a:t>Tiền</a:t>
            </a:r>
            <a:r>
              <a:rPr lang="en-US" sz="2200" b="1" dirty="0">
                <a:latin typeface="+mj-lt"/>
              </a:rPr>
              <a:t> </a:t>
            </a:r>
            <a:r>
              <a:rPr lang="en-US" sz="2200" b="1" dirty="0" err="1">
                <a:latin typeface="+mj-lt"/>
              </a:rPr>
              <a:t>xử</a:t>
            </a:r>
            <a:r>
              <a:rPr lang="en-US" sz="2200" b="1" dirty="0">
                <a:latin typeface="+mj-lt"/>
              </a:rPr>
              <a:t> </a:t>
            </a:r>
            <a:r>
              <a:rPr lang="en-US" sz="2200" b="1" dirty="0" err="1">
                <a:latin typeface="+mj-lt"/>
              </a:rPr>
              <a:t>lý</a:t>
            </a:r>
            <a:endParaRPr lang="en-US" sz="2200" b="1" dirty="0">
              <a:latin typeface="+mj-lt"/>
            </a:endParaRPr>
          </a:p>
          <a:p>
            <a:pPr marL="342900" indent="-342900" rtl="0" fontAlgn="base">
              <a:spcBef>
                <a:spcPts val="1200"/>
              </a:spcBef>
              <a:spcAft>
                <a:spcPts val="0"/>
              </a:spcAft>
              <a:buFontTx/>
              <a:buChar char="-"/>
            </a:pPr>
            <a:r>
              <a:rPr lang="en-US" sz="2000" dirty="0" err="1"/>
              <a:t>Phát</a:t>
            </a:r>
            <a:r>
              <a:rPr lang="en-US" sz="2000" dirty="0"/>
              <a:t> </a:t>
            </a:r>
            <a:r>
              <a:rPr lang="en-US" sz="2000" dirty="0" err="1"/>
              <a:t>hiện</a:t>
            </a:r>
            <a:r>
              <a:rPr lang="en-US" sz="2000" dirty="0"/>
              <a:t> </a:t>
            </a:r>
            <a:r>
              <a:rPr lang="en-US" sz="2000" dirty="0" err="1"/>
              <a:t>và</a:t>
            </a:r>
            <a:r>
              <a:rPr lang="en-US" sz="2000" dirty="0"/>
              <a:t> crop </a:t>
            </a:r>
            <a:r>
              <a:rPr lang="en-US" sz="2000" dirty="0" err="1"/>
              <a:t>khuôn</a:t>
            </a:r>
            <a:r>
              <a:rPr lang="en-US" sz="2000" dirty="0"/>
              <a:t> </a:t>
            </a:r>
            <a:r>
              <a:rPr lang="en-US" sz="2000" dirty="0" err="1"/>
              <a:t>mặt</a:t>
            </a:r>
            <a:r>
              <a:rPr lang="en-US" sz="2000" dirty="0"/>
              <a:t> (OpenCV, </a:t>
            </a:r>
            <a:r>
              <a:rPr lang="en-US" sz="2000" dirty="0" err="1"/>
              <a:t>MediaPie</a:t>
            </a:r>
            <a:r>
              <a:rPr lang="en-US" sz="2000" dirty="0"/>
              <a:t>,..)</a:t>
            </a:r>
          </a:p>
          <a:p>
            <a:pPr marL="342900" indent="-342900" rtl="0" fontAlgn="base">
              <a:spcBef>
                <a:spcPts val="1200"/>
              </a:spcBef>
              <a:spcAft>
                <a:spcPts val="0"/>
              </a:spcAft>
              <a:buFontTx/>
              <a:buChar char="-"/>
            </a:pPr>
            <a:r>
              <a:rPr lang="en-US" sz="2000" dirty="0"/>
              <a:t>Resize </a:t>
            </a:r>
            <a:r>
              <a:rPr lang="en-US" sz="2000" dirty="0" err="1"/>
              <a:t>để</a:t>
            </a:r>
            <a:r>
              <a:rPr lang="en-US" sz="2000" dirty="0"/>
              <a:t> </a:t>
            </a:r>
            <a:r>
              <a:rPr lang="en-US" sz="2000" dirty="0" err="1"/>
              <a:t>phù</a:t>
            </a:r>
            <a:r>
              <a:rPr lang="en-US" sz="2000" dirty="0"/>
              <a:t> </a:t>
            </a:r>
            <a:r>
              <a:rPr lang="en-US" sz="2000" dirty="0" err="1"/>
              <a:t>hợp</a:t>
            </a:r>
            <a:r>
              <a:rPr lang="en-US" sz="2000" dirty="0"/>
              <a:t> </a:t>
            </a:r>
            <a:r>
              <a:rPr lang="en-US" sz="2000" dirty="0" err="1"/>
              <a:t>với</a:t>
            </a:r>
            <a:r>
              <a:rPr lang="en-US" sz="2000" dirty="0"/>
              <a:t> </a:t>
            </a:r>
            <a:r>
              <a:rPr lang="en-US" sz="2000" dirty="0" err="1"/>
              <a:t>mô</a:t>
            </a:r>
            <a:r>
              <a:rPr lang="en-US" sz="2000" dirty="0"/>
              <a:t> </a:t>
            </a:r>
            <a:r>
              <a:rPr lang="en-US" sz="2000" dirty="0" err="1"/>
              <a:t>hình</a:t>
            </a:r>
            <a:r>
              <a:rPr lang="en-US" sz="2000" dirty="0"/>
              <a:t> </a:t>
            </a:r>
            <a:r>
              <a:rPr lang="en-US" sz="2000" dirty="0" err="1"/>
              <a:t>sử</a:t>
            </a:r>
            <a:r>
              <a:rPr lang="en-US" sz="2000" dirty="0"/>
              <a:t> </a:t>
            </a:r>
            <a:r>
              <a:rPr lang="en-US" sz="2000" dirty="0" err="1"/>
              <a:t>dụng</a:t>
            </a:r>
            <a:r>
              <a:rPr lang="en-US" sz="2000" dirty="0"/>
              <a:t> (</a:t>
            </a:r>
            <a:r>
              <a:rPr lang="en-US" sz="2000" dirty="0" err="1"/>
              <a:t>Ví</a:t>
            </a:r>
            <a:r>
              <a:rPr lang="en-US" sz="2000" dirty="0"/>
              <a:t> </a:t>
            </a:r>
            <a:r>
              <a:rPr lang="en-US" sz="2000" dirty="0" err="1"/>
              <a:t>dụ</a:t>
            </a:r>
            <a:r>
              <a:rPr lang="en-US" sz="2000" dirty="0"/>
              <a:t>: 224x224 </a:t>
            </a:r>
            <a:r>
              <a:rPr lang="en-US" sz="2000" dirty="0" err="1"/>
              <a:t>phù</a:t>
            </a:r>
            <a:r>
              <a:rPr lang="en-US" sz="2000" dirty="0"/>
              <a:t> </a:t>
            </a:r>
            <a:r>
              <a:rPr lang="en-US" sz="2000" dirty="0" err="1"/>
              <a:t>hợp</a:t>
            </a:r>
            <a:r>
              <a:rPr lang="en-US" sz="2000" dirty="0"/>
              <a:t> </a:t>
            </a:r>
            <a:r>
              <a:rPr lang="en-US" sz="2000" dirty="0" err="1"/>
              <a:t>ResNet</a:t>
            </a:r>
            <a:r>
              <a:rPr lang="en-US" sz="2000" dirty="0"/>
              <a:t>, </a:t>
            </a:r>
            <a:r>
              <a:rPr lang="en-US" sz="2000" dirty="0" err="1"/>
              <a:t>EfficientNet</a:t>
            </a:r>
            <a:r>
              <a:rPr lang="en-US" sz="2000" dirty="0"/>
              <a:t>)</a:t>
            </a:r>
          </a:p>
          <a:p>
            <a:pPr marL="342900" indent="-342900" rtl="0" fontAlgn="base">
              <a:spcBef>
                <a:spcPts val="1200"/>
              </a:spcBef>
              <a:spcAft>
                <a:spcPts val="0"/>
              </a:spcAft>
              <a:buFontTx/>
              <a:buChar char="-"/>
            </a:pPr>
            <a:r>
              <a:rPr lang="en-US" sz="2000" dirty="0"/>
              <a:t>Data augmentation (Flip </a:t>
            </a:r>
            <a:r>
              <a:rPr lang="en-US" sz="2000" dirty="0" err="1"/>
              <a:t>ngang</a:t>
            </a:r>
            <a:r>
              <a:rPr lang="en-US" sz="2000" dirty="0"/>
              <a:t>, rotate </a:t>
            </a:r>
            <a:r>
              <a:rPr lang="en-US" sz="2000" dirty="0" err="1"/>
              <a:t>nhẹ</a:t>
            </a:r>
            <a:r>
              <a:rPr lang="en-US" sz="2000" dirty="0"/>
              <a:t>, brightness/contrast, random crop,…)</a:t>
            </a:r>
          </a:p>
          <a:p>
            <a:pPr rtl="0" fontAlgn="base">
              <a:spcBef>
                <a:spcPts val="1200"/>
              </a:spcBef>
              <a:spcAft>
                <a:spcPts val="0"/>
              </a:spcAft>
            </a:pPr>
            <a:r>
              <a:rPr lang="en-US" sz="2200" b="1" dirty="0">
                <a:latin typeface="+mj-lt"/>
              </a:rPr>
              <a:t>3.3 </a:t>
            </a:r>
            <a:r>
              <a:rPr lang="en-US" sz="2200" b="1" dirty="0" err="1">
                <a:latin typeface="+mj-lt"/>
              </a:rPr>
              <a:t>Chọn</a:t>
            </a:r>
            <a:r>
              <a:rPr lang="en-US" sz="2200" b="1" dirty="0">
                <a:latin typeface="+mj-lt"/>
              </a:rPr>
              <a:t> </a:t>
            </a:r>
            <a:r>
              <a:rPr lang="en-US" sz="2200" b="1" dirty="0" err="1">
                <a:latin typeface="+mj-lt"/>
              </a:rPr>
              <a:t>mô</a:t>
            </a:r>
            <a:r>
              <a:rPr lang="en-US" sz="2200" b="1" dirty="0">
                <a:latin typeface="+mj-lt"/>
              </a:rPr>
              <a:t> </a:t>
            </a:r>
            <a:r>
              <a:rPr lang="en-US" sz="2200" b="1" dirty="0" err="1">
                <a:latin typeface="+mj-lt"/>
              </a:rPr>
              <a:t>hình</a:t>
            </a:r>
            <a:r>
              <a:rPr lang="en-US" sz="2200" b="1" dirty="0">
                <a:latin typeface="+mj-lt"/>
              </a:rPr>
              <a:t> Pretrained              3.5 </a:t>
            </a:r>
            <a:r>
              <a:rPr lang="en-US" sz="2200" b="1" dirty="0" err="1">
                <a:latin typeface="+mj-lt"/>
              </a:rPr>
              <a:t>Đánh</a:t>
            </a:r>
            <a:r>
              <a:rPr lang="en-US" sz="2200" b="1" dirty="0">
                <a:latin typeface="+mj-lt"/>
              </a:rPr>
              <a:t> </a:t>
            </a:r>
            <a:r>
              <a:rPr lang="en-US" sz="2200" b="1" dirty="0" err="1">
                <a:latin typeface="+mj-lt"/>
              </a:rPr>
              <a:t>giá</a:t>
            </a:r>
            <a:r>
              <a:rPr lang="en-US" sz="2200" b="1" dirty="0">
                <a:latin typeface="+mj-lt"/>
              </a:rPr>
              <a:t> </a:t>
            </a:r>
            <a:r>
              <a:rPr lang="en-US" sz="2000" dirty="0">
                <a:latin typeface="+mj-lt"/>
              </a:rPr>
              <a:t>(Accuracy, Precision, Recall,…)</a:t>
            </a:r>
            <a:endParaRPr lang="en-US" sz="2000" b="1" dirty="0">
              <a:latin typeface="+mj-lt"/>
            </a:endParaRPr>
          </a:p>
          <a:p>
            <a:pPr rtl="0" fontAlgn="base">
              <a:spcBef>
                <a:spcPts val="1200"/>
              </a:spcBef>
              <a:spcAft>
                <a:spcPts val="0"/>
              </a:spcAft>
            </a:pPr>
            <a:r>
              <a:rPr lang="en-US" sz="2200" b="1" dirty="0">
                <a:latin typeface="+mj-lt"/>
              </a:rPr>
              <a:t>3.4 Train model                                     3.6 Deploy </a:t>
            </a:r>
            <a:r>
              <a:rPr lang="en-US" sz="2200" b="1" dirty="0" err="1">
                <a:latin typeface="+mj-lt"/>
              </a:rPr>
              <a:t>hệ</a:t>
            </a:r>
            <a:r>
              <a:rPr lang="en-US" sz="2200" b="1" dirty="0">
                <a:latin typeface="+mj-lt"/>
              </a:rPr>
              <a:t> </a:t>
            </a:r>
            <a:r>
              <a:rPr lang="en-US" sz="2200" b="1" dirty="0" err="1">
                <a:latin typeface="+mj-lt"/>
              </a:rPr>
              <a:t>thống</a:t>
            </a:r>
            <a:endParaRPr lang="en-US" sz="2200" b="1" dirty="0">
              <a:latin typeface="+mj-lt"/>
            </a:endParaRPr>
          </a:p>
          <a:p>
            <a:pPr rtl="0" fontAlgn="base">
              <a:spcBef>
                <a:spcPts val="1200"/>
              </a:spcBef>
              <a:spcAft>
                <a:spcPts val="0"/>
              </a:spcAft>
            </a:pPr>
            <a:r>
              <a:rPr lang="en-US" sz="2000" dirty="0">
                <a:latin typeface="+mj-lt"/>
              </a:rPr>
              <a:t>(</a:t>
            </a:r>
            <a:r>
              <a:rPr lang="en-US" sz="2000" dirty="0" err="1">
                <a:latin typeface="+mj-lt"/>
              </a:rPr>
              <a:t>Chiến</a:t>
            </a:r>
            <a:r>
              <a:rPr lang="en-US" sz="2000" dirty="0">
                <a:latin typeface="+mj-lt"/>
              </a:rPr>
              <a:t> </a:t>
            </a:r>
            <a:r>
              <a:rPr lang="en-US" sz="2000" dirty="0" err="1">
                <a:latin typeface="+mj-lt"/>
              </a:rPr>
              <a:t>lược</a:t>
            </a:r>
            <a:r>
              <a:rPr lang="en-US" sz="2000" dirty="0">
                <a:latin typeface="+mj-lt"/>
              </a:rPr>
              <a:t> Feature extraction/ Fine-turning 1 </a:t>
            </a:r>
            <a:r>
              <a:rPr lang="en-US" sz="2000" dirty="0" err="1">
                <a:latin typeface="+mj-lt"/>
              </a:rPr>
              <a:t>phần</a:t>
            </a:r>
            <a:r>
              <a:rPr lang="en-US" sz="2000" dirty="0"/>
              <a:t>)</a:t>
            </a:r>
            <a:endParaRPr lang="en-US" sz="2000" dirty="0">
              <a:latin typeface="+mj-lt"/>
            </a:endParaRPr>
          </a:p>
          <a:p>
            <a:pPr marL="342900" indent="-342900" rtl="0" fontAlgn="base">
              <a:spcBef>
                <a:spcPts val="1200"/>
              </a:spcBef>
              <a:spcAft>
                <a:spcPts val="0"/>
              </a:spcAft>
              <a:buFontTx/>
              <a:buChar char="-"/>
            </a:pPr>
            <a:endParaRPr lang="vi-VN" sz="2000" dirty="0"/>
          </a:p>
          <a:p>
            <a:pPr rtl="0" fontAlgn="base">
              <a:spcBef>
                <a:spcPts val="1200"/>
              </a:spcBef>
              <a:spcAft>
                <a:spcPts val="0"/>
              </a:spcAft>
            </a:pPr>
            <a:r>
              <a:rPr lang="en-US" sz="2000" dirty="0">
                <a:solidFill>
                  <a:srgbClr val="000000"/>
                </a:solidFill>
                <a:latin typeface="Arial" panose="020B0604020202020204" pitchFamily="34" charset="0"/>
                <a:sym typeface="Wingdings" panose="05000000000000000000" pitchFamily="2" charset="2"/>
              </a:rPr>
              <a:t> </a:t>
            </a:r>
            <a:endParaRPr lang="en-US" sz="2000" dirty="0">
              <a:solidFill>
                <a:srgbClr val="000000"/>
              </a:solidFill>
              <a:latin typeface="Arial" panose="020B0604020202020204" pitchFamily="34" charset="0"/>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3329259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26FC-3376-2F72-F4EC-9BCA25A2674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D3BC51AC-D6B9-003C-3785-D5BED9912AA0}"/>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3: DÙNG API CỦA MODEL ĐÃ CÓ SẴN </a:t>
            </a:r>
            <a:endParaRPr lang="vi-VN" sz="2400" b="1" dirty="0">
              <a:solidFill>
                <a:schemeClr val="bg1"/>
              </a:solidFill>
              <a:effectLst/>
            </a:endParaRPr>
          </a:p>
        </p:txBody>
      </p:sp>
      <p:sp>
        <p:nvSpPr>
          <p:cNvPr id="6" name="TextBox 5">
            <a:extLst>
              <a:ext uri="{FF2B5EF4-FFF2-40B4-BE49-F238E27FC236}">
                <a16:creationId xmlns:a16="http://schemas.microsoft.com/office/drawing/2014/main" id="{859CCCC4-0443-2ED4-FBE1-8AE8BEAB5747}"/>
              </a:ext>
            </a:extLst>
          </p:cNvPr>
          <p:cNvSpPr txBox="1"/>
          <p:nvPr/>
        </p:nvSpPr>
        <p:spPr>
          <a:xfrm>
            <a:off x="210701" y="978385"/>
            <a:ext cx="11514668" cy="10525958"/>
          </a:xfrm>
          <a:prstGeom prst="rect">
            <a:avLst/>
          </a:prstGeom>
          <a:noFill/>
        </p:spPr>
        <p:txBody>
          <a:bodyPr wrap="square" rtlCol="0">
            <a:spAutoFit/>
          </a:bodyPr>
          <a:lstStyle/>
          <a:p>
            <a:pPr marL="342900" indent="-342900">
              <a:buAutoNum type="arabicPeriod"/>
            </a:pPr>
            <a:r>
              <a:rPr lang="en-US" sz="2800" b="1" dirty="0">
                <a:solidFill>
                  <a:srgbClr val="000000"/>
                </a:solidFill>
                <a:latin typeface="Arial" panose="020B0604020202020204" pitchFamily="34" charset="0"/>
              </a:rPr>
              <a:t>API </a:t>
            </a:r>
            <a:r>
              <a:rPr lang="en-US" sz="2800" b="1" dirty="0" err="1">
                <a:solidFill>
                  <a:srgbClr val="000000"/>
                </a:solidFill>
                <a:latin typeface="Arial" panose="020B0604020202020204" pitchFamily="34" charset="0"/>
              </a:rPr>
              <a:t>là</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gì</a:t>
            </a:r>
            <a:r>
              <a:rPr lang="en-US" sz="2800" b="1" dirty="0">
                <a:solidFill>
                  <a:srgbClr val="000000"/>
                </a:solidFill>
                <a:latin typeface="Arial" panose="020B0604020202020204" pitchFamily="34" charset="0"/>
              </a:rPr>
              <a:t>?</a:t>
            </a:r>
          </a:p>
          <a:p>
            <a:endParaRPr lang="en-US" sz="2800" b="1" i="0" u="none" strike="noStrike" dirty="0">
              <a:solidFill>
                <a:srgbClr val="000000"/>
              </a:solidFill>
              <a:effectLst/>
              <a:latin typeface="Arial" panose="020B0604020202020204" pitchFamily="34" charset="0"/>
            </a:endParaRPr>
          </a:p>
          <a:p>
            <a:r>
              <a:rPr lang="vi-VN" sz="2200" b="1" i="0" u="none" strike="noStrike" dirty="0">
                <a:solidFill>
                  <a:srgbClr val="000000"/>
                </a:solidFill>
                <a:effectLst/>
                <a:latin typeface="Arial" panose="020B0604020202020204" pitchFamily="34" charset="0"/>
              </a:rPr>
              <a:t>1.1 Khái niệm</a:t>
            </a:r>
            <a:endParaRPr lang="vi-VN" sz="2200" b="1" dirty="0">
              <a:effectLst/>
            </a:endParaRPr>
          </a:p>
          <a:p>
            <a:r>
              <a:rPr lang="vi-VN" sz="2000" dirty="0"/>
              <a:t>API (Application Programming Interface) là giao diện lập trình ứng dụng, cho phép các phần mềm khác nhau giao tiếp và trao đổi dữ liệu với nhau.</a:t>
            </a:r>
          </a:p>
          <a:p>
            <a:r>
              <a:rPr lang="vi-VN" sz="2000" dirty="0"/>
              <a:t>Trong lĩnh vực AI, API cho phép lập trình viên sử dụng các mô hình trí tuệ nhân tạo đã được huấn luyện sẵn</a:t>
            </a:r>
            <a:r>
              <a:rPr lang="en-US" sz="2000" dirty="0"/>
              <a:t> (Pre-trained model)</a:t>
            </a:r>
            <a:r>
              <a:rPr lang="vi-VN" sz="2000" dirty="0"/>
              <a:t> mà không cần tự xây dựng hay huấn luyện mô hình từ đầu.</a:t>
            </a:r>
          </a:p>
          <a:p>
            <a:pPr rtl="0">
              <a:spcBef>
                <a:spcPts val="1200"/>
              </a:spcBef>
              <a:spcAft>
                <a:spcPts val="1200"/>
              </a:spcAft>
            </a:pPr>
            <a:r>
              <a:rPr lang="vi-VN" sz="2200" b="1" i="0" u="none" strike="noStrike" dirty="0">
                <a:solidFill>
                  <a:srgbClr val="000000"/>
                </a:solidFill>
                <a:effectLst/>
                <a:latin typeface="Arial" panose="020B0604020202020204" pitchFamily="34" charset="0"/>
              </a:rPr>
              <a:t>1.</a:t>
            </a:r>
            <a:r>
              <a:rPr lang="en-US" sz="2200" b="1" i="0" u="none" strike="noStrike" dirty="0">
                <a:solidFill>
                  <a:srgbClr val="000000"/>
                </a:solidFill>
                <a:effectLst/>
                <a:latin typeface="Arial" panose="020B0604020202020204" pitchFamily="34" charset="0"/>
              </a:rPr>
              <a:t>2</a:t>
            </a:r>
            <a:r>
              <a:rPr lang="vi-VN"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Nguyên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lí</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hoạt</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động</a:t>
            </a:r>
            <a:endParaRPr lang="en-US" sz="2200" b="1" i="0" u="none" strike="noStrike" dirty="0">
              <a:solidFill>
                <a:srgbClr val="000000"/>
              </a:solidFill>
              <a:effectLst/>
              <a:latin typeface="Arial" panose="020B0604020202020204" pitchFamily="34" charset="0"/>
            </a:endParaRPr>
          </a:p>
          <a:p>
            <a:pPr>
              <a:spcBef>
                <a:spcPts val="1200"/>
              </a:spcBef>
              <a:spcAft>
                <a:spcPts val="1200"/>
              </a:spcAft>
            </a:pPr>
            <a:r>
              <a:rPr lang="vi-VN" sz="2000" dirty="0"/>
              <a:t>Thu nhận dữ liệu đầu vào</a:t>
            </a:r>
            <a:r>
              <a:rPr lang="en-US" sz="2000" dirty="0"/>
              <a:t> </a:t>
            </a:r>
            <a:r>
              <a:rPr lang="en-US" sz="2000" dirty="0">
                <a:sym typeface="Wingdings" panose="05000000000000000000" pitchFamily="2" charset="2"/>
              </a:rPr>
              <a:t> </a:t>
            </a:r>
            <a:r>
              <a:rPr lang="en-US" sz="2000" dirty="0" err="1">
                <a:sym typeface="Wingdings" panose="05000000000000000000" pitchFamily="2" charset="2"/>
              </a:rPr>
              <a:t>Gửi</a:t>
            </a:r>
            <a:r>
              <a:rPr lang="en-US" sz="2000" dirty="0">
                <a:sym typeface="Wingdings" panose="05000000000000000000" pitchFamily="2" charset="2"/>
              </a:rPr>
              <a:t> </a:t>
            </a:r>
            <a:r>
              <a:rPr lang="en-US" sz="2000" dirty="0" err="1">
                <a:sym typeface="Wingdings" panose="05000000000000000000" pitchFamily="2" charset="2"/>
              </a:rPr>
              <a:t>yêu</a:t>
            </a:r>
            <a:r>
              <a:rPr lang="en-US" sz="2000" dirty="0">
                <a:sym typeface="Wingdings" panose="05000000000000000000" pitchFamily="2" charset="2"/>
              </a:rPr>
              <a:t> </a:t>
            </a:r>
            <a:r>
              <a:rPr lang="en-US" sz="2000" dirty="0" err="1">
                <a:sym typeface="Wingdings" panose="05000000000000000000" pitchFamily="2" charset="2"/>
              </a:rPr>
              <a:t>cầu</a:t>
            </a:r>
            <a:endParaRPr lang="en-US" sz="2000" dirty="0">
              <a:sym typeface="Wingdings" panose="05000000000000000000" pitchFamily="2" charset="2"/>
            </a:endParaRPr>
          </a:p>
          <a:p>
            <a:pPr>
              <a:spcBef>
                <a:spcPts val="1200"/>
              </a:spcBef>
              <a:spcAft>
                <a:spcPts val="1200"/>
              </a:spcAft>
            </a:pPr>
            <a:r>
              <a:rPr lang="en-US" sz="2000" dirty="0">
                <a:sym typeface="Wingdings" panose="05000000000000000000" pitchFamily="2" charset="2"/>
              </a:rPr>
              <a:t> API </a:t>
            </a:r>
            <a:r>
              <a:rPr lang="en-US" sz="2000" dirty="0" err="1">
                <a:sym typeface="Wingdings" panose="05000000000000000000" pitchFamily="2" charset="2"/>
              </a:rPr>
              <a:t>tiền</a:t>
            </a:r>
            <a:r>
              <a:rPr lang="en-US" sz="2000" dirty="0">
                <a:sym typeface="Wingdings" panose="05000000000000000000" pitchFamily="2" charset="2"/>
              </a:rPr>
              <a:t> </a:t>
            </a:r>
            <a:r>
              <a:rPr lang="en-US" sz="2000" dirty="0" err="1">
                <a:sym typeface="Wingdings" panose="05000000000000000000" pitchFamily="2" charset="2"/>
              </a:rPr>
              <a:t>xử</a:t>
            </a:r>
            <a:r>
              <a:rPr lang="en-US" sz="2000" dirty="0">
                <a:sym typeface="Wingdings" panose="05000000000000000000" pitchFamily="2" charset="2"/>
              </a:rPr>
              <a:t> </a:t>
            </a:r>
            <a:r>
              <a:rPr lang="en-US" sz="2000" dirty="0" err="1">
                <a:sym typeface="Wingdings" panose="05000000000000000000" pitchFamily="2" charset="2"/>
              </a:rPr>
              <a:t>lý</a:t>
            </a:r>
            <a:r>
              <a:rPr lang="en-US" sz="2000" dirty="0">
                <a:sym typeface="Wingdings" panose="05000000000000000000" pitchFamily="2" charset="2"/>
              </a:rPr>
              <a:t> </a:t>
            </a:r>
            <a:r>
              <a:rPr lang="en-US" sz="2000" dirty="0" err="1">
                <a:sym typeface="Wingdings" panose="05000000000000000000" pitchFamily="2" charset="2"/>
              </a:rPr>
              <a:t>dữ</a:t>
            </a:r>
            <a:r>
              <a:rPr lang="en-US" sz="2000" dirty="0">
                <a:sym typeface="Wingdings" panose="05000000000000000000" pitchFamily="2" charset="2"/>
              </a:rPr>
              <a:t> </a:t>
            </a:r>
            <a:r>
              <a:rPr lang="en-US" sz="2000" dirty="0" err="1">
                <a:sym typeface="Wingdings" panose="05000000000000000000" pitchFamily="2" charset="2"/>
              </a:rPr>
              <a:t>liệu</a:t>
            </a:r>
            <a:r>
              <a:rPr lang="en-US" sz="2000" dirty="0">
                <a:sym typeface="Wingdings" panose="05000000000000000000" pitchFamily="2" charset="2"/>
              </a:rPr>
              <a:t>  Inference</a:t>
            </a:r>
          </a:p>
          <a:p>
            <a:pPr>
              <a:spcBef>
                <a:spcPts val="1200"/>
              </a:spcBef>
              <a:spcAft>
                <a:spcPts val="1200"/>
              </a:spcAft>
            </a:pPr>
            <a:r>
              <a:rPr lang="en-US" sz="2000" dirty="0">
                <a:sym typeface="Wingdings" panose="05000000000000000000" pitchFamily="2" charset="2"/>
              </a:rPr>
              <a:t> </a:t>
            </a:r>
            <a:r>
              <a:rPr lang="en-US" sz="2000" dirty="0" err="1">
                <a:sym typeface="Wingdings" panose="05000000000000000000" pitchFamily="2" charset="2"/>
              </a:rPr>
              <a:t>Trả</a:t>
            </a:r>
            <a:r>
              <a:rPr lang="en-US" sz="2000" dirty="0">
                <a:sym typeface="Wingdings" panose="05000000000000000000" pitchFamily="2" charset="2"/>
              </a:rPr>
              <a:t> </a:t>
            </a:r>
            <a:r>
              <a:rPr lang="en-US" sz="2000" dirty="0" err="1">
                <a:sym typeface="Wingdings" panose="05000000000000000000" pitchFamily="2" charset="2"/>
              </a:rPr>
              <a:t>về</a:t>
            </a:r>
            <a:r>
              <a:rPr lang="en-US" sz="2000" dirty="0">
                <a:sym typeface="Wingdings" panose="05000000000000000000" pitchFamily="2" charset="2"/>
              </a:rPr>
              <a:t> </a:t>
            </a:r>
            <a:r>
              <a:rPr lang="en-US" sz="2000" dirty="0" err="1">
                <a:sym typeface="Wingdings" panose="05000000000000000000" pitchFamily="2" charset="2"/>
              </a:rPr>
              <a:t>kết</a:t>
            </a:r>
            <a:r>
              <a:rPr lang="en-US" sz="2000" dirty="0">
                <a:sym typeface="Wingdings" panose="05000000000000000000" pitchFamily="2" charset="2"/>
              </a:rPr>
              <a:t> </a:t>
            </a:r>
            <a:r>
              <a:rPr lang="en-US" sz="2000" dirty="0" err="1">
                <a:sym typeface="Wingdings" panose="05000000000000000000" pitchFamily="2" charset="2"/>
              </a:rPr>
              <a:t>quả</a:t>
            </a:r>
            <a:endParaRPr lang="en-US" sz="2000" dirty="0">
              <a:sym typeface="Wingdings" panose="05000000000000000000" pitchFamily="2" charset="2"/>
            </a:endParaRPr>
          </a:p>
          <a:p>
            <a:pPr>
              <a:spcBef>
                <a:spcPts val="1200"/>
              </a:spcBef>
              <a:spcAft>
                <a:spcPts val="1200"/>
              </a:spcAft>
            </a:pPr>
            <a:endParaRPr lang="vi-VN" sz="2000" dirty="0"/>
          </a:p>
          <a:p>
            <a:pPr rtl="0">
              <a:spcBef>
                <a:spcPts val="1200"/>
              </a:spcBef>
              <a:spcAft>
                <a:spcPts val="1200"/>
              </a:spcAft>
            </a:pPr>
            <a:endParaRPr lang="en-US" sz="2200" b="1" i="0" u="none" strike="noStrike" dirty="0">
              <a:solidFill>
                <a:srgbClr val="000000"/>
              </a:solidFill>
              <a:effectLst/>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pic>
        <p:nvPicPr>
          <p:cNvPr id="3" name="Picture 2">
            <a:extLst>
              <a:ext uri="{FF2B5EF4-FFF2-40B4-BE49-F238E27FC236}">
                <a16:creationId xmlns:a16="http://schemas.microsoft.com/office/drawing/2014/main" id="{11D1AE8C-1FC5-D051-8982-A3D010E1BECC}"/>
              </a:ext>
            </a:extLst>
          </p:cNvPr>
          <p:cNvPicPr>
            <a:picLocks noChangeAspect="1"/>
          </p:cNvPicPr>
          <p:nvPr/>
        </p:nvPicPr>
        <p:blipFill>
          <a:blip r:embed="rId2"/>
          <a:stretch>
            <a:fillRect/>
          </a:stretch>
        </p:blipFill>
        <p:spPr>
          <a:xfrm>
            <a:off x="6192252" y="3710177"/>
            <a:ext cx="5440522" cy="2506907"/>
          </a:xfrm>
          <a:prstGeom prst="rect">
            <a:avLst/>
          </a:prstGeom>
        </p:spPr>
      </p:pic>
    </p:spTree>
    <p:extLst>
      <p:ext uri="{BB962C8B-B14F-4D97-AF65-F5344CB8AC3E}">
        <p14:creationId xmlns:p14="http://schemas.microsoft.com/office/powerpoint/2010/main" val="49280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2D1F2-B1B9-C265-9160-9B6F5E4F0BBB}"/>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D36BDBCF-A6FF-ED96-BC2C-2E54DC800EAE}"/>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3: DÙNG API CỦA MODEL CÓ SẴN</a:t>
            </a:r>
            <a:endParaRPr lang="vi-VN" sz="2400" b="1" dirty="0">
              <a:solidFill>
                <a:schemeClr val="bg1"/>
              </a:solidFill>
              <a:effectLst/>
            </a:endParaRPr>
          </a:p>
        </p:txBody>
      </p:sp>
      <p:sp>
        <p:nvSpPr>
          <p:cNvPr id="6" name="TextBox 5">
            <a:extLst>
              <a:ext uri="{FF2B5EF4-FFF2-40B4-BE49-F238E27FC236}">
                <a16:creationId xmlns:a16="http://schemas.microsoft.com/office/drawing/2014/main" id="{37A75C34-68A6-A7E7-BF28-ED7940078703}"/>
              </a:ext>
            </a:extLst>
          </p:cNvPr>
          <p:cNvSpPr txBox="1"/>
          <p:nvPr/>
        </p:nvSpPr>
        <p:spPr>
          <a:xfrm>
            <a:off x="423492" y="915243"/>
            <a:ext cx="10872132" cy="10479792"/>
          </a:xfrm>
          <a:prstGeom prst="rect">
            <a:avLst/>
          </a:prstGeom>
          <a:noFill/>
        </p:spPr>
        <p:txBody>
          <a:bodyPr wrap="square" rtlCol="0">
            <a:spAutoFit/>
          </a:bodyPr>
          <a:lstStyle/>
          <a:p>
            <a:pPr rtl="0">
              <a:spcBef>
                <a:spcPts val="2400"/>
              </a:spcBef>
              <a:spcAft>
                <a:spcPts val="600"/>
              </a:spcAft>
            </a:pPr>
            <a:r>
              <a:rPr lang="vi-VN" sz="2800" b="1" i="0" u="none" strike="noStrike" dirty="0">
                <a:solidFill>
                  <a:srgbClr val="000000"/>
                </a:solidFill>
                <a:effectLst/>
                <a:latin typeface="Arial" panose="020B0604020202020204" pitchFamily="34" charset="0"/>
              </a:rPr>
              <a:t>2. Các ứng dụng của </a:t>
            </a:r>
            <a:r>
              <a:rPr lang="en-US" sz="2800" b="1" i="0" u="none" strike="noStrike" dirty="0">
                <a:solidFill>
                  <a:srgbClr val="000000"/>
                </a:solidFill>
                <a:effectLst/>
                <a:latin typeface="Arial" panose="020B0604020202020204" pitchFamily="34" charset="0"/>
              </a:rPr>
              <a:t>API</a:t>
            </a:r>
            <a:r>
              <a:rPr lang="en-US" sz="2800" b="1" dirty="0">
                <a:solidFill>
                  <a:srgbClr val="000000"/>
                </a:solidFill>
                <a:latin typeface="Arial" panose="020B0604020202020204" pitchFamily="34" charset="0"/>
              </a:rPr>
              <a:t> </a:t>
            </a:r>
            <a:r>
              <a:rPr lang="vi-VN" sz="2800" b="1" i="0" u="none" strike="noStrike" dirty="0">
                <a:solidFill>
                  <a:srgbClr val="000000"/>
                </a:solidFill>
                <a:effectLst/>
                <a:latin typeface="Arial" panose="020B0604020202020204" pitchFamily="34" charset="0"/>
              </a:rPr>
              <a:t>hiện nay</a:t>
            </a:r>
            <a:endParaRPr lang="en-US" sz="28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200" b="1" i="0" u="none" strike="noStrike" dirty="0">
                <a:solidFill>
                  <a:srgbClr val="000000"/>
                </a:solidFill>
                <a:effectLst/>
                <a:latin typeface="Arial" panose="020B0604020202020204" pitchFamily="34" charset="0"/>
              </a:rPr>
              <a:t>-</a:t>
            </a:r>
            <a:r>
              <a:rPr lang="en-US" sz="2200" b="1" i="0" u="none" strike="noStrike" dirty="0" err="1">
                <a:solidFill>
                  <a:srgbClr val="000000"/>
                </a:solidFill>
                <a:effectLst/>
                <a:latin typeface="Arial" panose="020B0604020202020204" pitchFamily="34" charset="0"/>
              </a:rPr>
              <a:t>Nhận</a:t>
            </a:r>
            <a:r>
              <a:rPr lang="en-US" sz="2200" b="1" i="0" u="none" strike="noStrike" dirty="0">
                <a:solidFill>
                  <a:srgbClr val="000000"/>
                </a:solidFill>
                <a:effectLst/>
                <a:latin typeface="Arial" panose="020B0604020202020204" pitchFamily="34" charset="0"/>
              </a:rPr>
              <a:t> </a:t>
            </a:r>
            <a:r>
              <a:rPr lang="en-US" sz="2200" b="1" dirty="0" err="1">
                <a:solidFill>
                  <a:srgbClr val="000000"/>
                </a:solidFill>
                <a:latin typeface="Arial" panose="020B0604020202020204" pitchFamily="34" charset="0"/>
              </a:rPr>
              <a:t>dạng</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ảnh</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và</a:t>
            </a:r>
            <a:r>
              <a:rPr lang="en-US" sz="2200" b="1" dirty="0">
                <a:solidFill>
                  <a:srgbClr val="000000"/>
                </a:solidFill>
                <a:latin typeface="Arial" panose="020B0604020202020204" pitchFamily="34" charset="0"/>
              </a:rPr>
              <a:t> video</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i="0" u="none" strike="noStrike" dirty="0" err="1">
                <a:solidFill>
                  <a:srgbClr val="000000"/>
                </a:solidFill>
                <a:effectLst/>
                <a:latin typeface="Arial" panose="020B0604020202020204" pitchFamily="34" charset="0"/>
              </a:rPr>
              <a:t>V</a:t>
            </a:r>
            <a:r>
              <a:rPr lang="en-US" dirty="0" err="1">
                <a:solidFill>
                  <a:srgbClr val="000000"/>
                </a:solidFill>
                <a:latin typeface="Arial" panose="020B0604020202020204" pitchFamily="34" charset="0"/>
              </a:rPr>
              <a:t>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Google Cloud Vision AI, Amazon </a:t>
            </a:r>
            <a:r>
              <a:rPr lang="en-US" dirty="0" err="1">
                <a:solidFill>
                  <a:srgbClr val="000000"/>
                </a:solidFill>
                <a:latin typeface="Arial" panose="020B0604020202020204" pitchFamily="34" charset="0"/>
              </a:rPr>
              <a:t>Rekognition</a:t>
            </a:r>
            <a:endParaRPr lang="en-US" dirty="0"/>
          </a:p>
          <a:p>
            <a:pPr rtl="0" fontAlgn="base">
              <a:spcBef>
                <a:spcPts val="1200"/>
              </a:spcBef>
              <a:spcAft>
                <a:spcPts val="0"/>
              </a:spcAft>
            </a:pP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Xử</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lý</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ngôn</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ngữ</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tự</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nhiên</a:t>
            </a:r>
            <a:r>
              <a:rPr lang="en-US" sz="2200" b="1" dirty="0">
                <a:solidFill>
                  <a:srgbClr val="000000"/>
                </a:solidFill>
                <a:latin typeface="Arial" panose="020B0604020202020204" pitchFamily="34" charset="0"/>
              </a:rPr>
              <a:t> (NLP)</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1800" b="0" i="0" u="none" strike="noStrike" dirty="0" err="1">
                <a:solidFill>
                  <a:srgbClr val="000000"/>
                </a:solidFill>
                <a:effectLst/>
                <a:latin typeface="Arial" panose="020B0604020202020204" pitchFamily="34" charset="0"/>
              </a:rPr>
              <a:t>Ví</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dụ</a:t>
            </a:r>
            <a:r>
              <a:rPr lang="en-US" sz="1800" b="0" i="0" u="none" strike="noStrike" dirty="0">
                <a:solidFill>
                  <a:srgbClr val="000000"/>
                </a:solidFill>
                <a:effectLst/>
                <a:latin typeface="Arial" panose="020B0604020202020204" pitchFamily="34" charset="0"/>
              </a:rPr>
              <a:t>: Chatbot, </a:t>
            </a:r>
            <a:r>
              <a:rPr lang="en-US" sz="1800" b="0" i="0" u="none" strike="noStrike" dirty="0" err="1">
                <a:solidFill>
                  <a:srgbClr val="000000"/>
                </a:solidFill>
                <a:effectLst/>
                <a:latin typeface="Arial" panose="020B0604020202020204" pitchFamily="34" charset="0"/>
              </a:rPr>
              <a:t>Trợ</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lý</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ảo</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Phân</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tích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bình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luận</a:t>
            </a:r>
            <a:r>
              <a:rPr lang="en-US" sz="1800" b="0" i="0" u="none" strike="noStrike" dirty="0">
                <a:solidFill>
                  <a:srgbClr val="000000"/>
                </a:solidFill>
                <a:effectLst/>
                <a:latin typeface="Arial" panose="020B0604020202020204" pitchFamily="34" charset="0"/>
              </a:rPr>
              <a:t>,…</a:t>
            </a:r>
            <a:endParaRPr lang="en-US" dirty="0"/>
          </a:p>
          <a:p>
            <a:pPr rtl="0" fontAlgn="base">
              <a:spcBef>
                <a:spcPts val="1200"/>
              </a:spcBef>
              <a:spcAft>
                <a:spcPts val="0"/>
              </a:spcAft>
            </a:pPr>
            <a:r>
              <a:rPr lang="en-US" sz="2200" b="1" i="0" u="none" strike="noStrike" dirty="0">
                <a:solidFill>
                  <a:srgbClr val="000000"/>
                </a:solidFill>
                <a:latin typeface="Arial" panose="020B0604020202020204" pitchFamily="34" charset="0"/>
              </a:rPr>
              <a:t>- </a:t>
            </a:r>
            <a:r>
              <a:rPr lang="en-US" sz="2200" b="1" i="0" u="none" strike="noStrike" dirty="0" err="1">
                <a:solidFill>
                  <a:srgbClr val="000000"/>
                </a:solidFill>
                <a:effectLst/>
                <a:latin typeface="Arial" panose="020B0604020202020204" pitchFamily="34" charset="0"/>
              </a:rPr>
              <a:t>Bản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đồ</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và</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định</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vị</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Mapbox</a:t>
            </a:r>
            <a:r>
              <a:rPr lang="en-US" dirty="0">
                <a:solidFill>
                  <a:srgbClr val="000000"/>
                </a:solidFill>
                <a:latin typeface="Arial" panose="020B0604020202020204" pitchFamily="34" charset="0"/>
              </a:rPr>
              <a:t>, Google Maps Platform</a:t>
            </a:r>
            <a:endParaRPr lang="en-US" dirty="0"/>
          </a:p>
          <a:p>
            <a:pPr rtl="0" fontAlgn="base">
              <a:spcBef>
                <a:spcPts val="1200"/>
              </a:spcBef>
              <a:spcAft>
                <a:spcPts val="0"/>
              </a:spcAft>
            </a:pPr>
            <a:r>
              <a:rPr lang="en-US" sz="2200" b="1" dirty="0">
                <a:solidFill>
                  <a:srgbClr val="000000"/>
                </a:solidFill>
                <a:latin typeface="Arial" panose="020B0604020202020204" pitchFamily="34" charset="0"/>
              </a:rPr>
              <a:t>- Thanh </a:t>
            </a:r>
            <a:r>
              <a:rPr lang="en-US" sz="2200" b="1" dirty="0" err="1">
                <a:solidFill>
                  <a:srgbClr val="000000"/>
                </a:solidFill>
                <a:latin typeface="Arial" panose="020B0604020202020204" pitchFamily="34" charset="0"/>
              </a:rPr>
              <a:t>toán</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trực</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tuyến</a:t>
            </a:r>
            <a:endParaRPr lang="en-US" dirty="0">
              <a:solidFill>
                <a:srgbClr val="000000"/>
              </a:solidFill>
              <a:latin typeface="Arial" panose="020B0604020202020204" pitchFamily="34" charset="0"/>
            </a:endParaRPr>
          </a:p>
          <a:p>
            <a:pPr rtl="0" fontAlgn="base">
              <a:spcBef>
                <a:spcPts val="120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PayPal Developer, Stripe, Momo</a:t>
            </a:r>
            <a:endParaRPr lang="en-US" sz="2200" b="1" dirty="0">
              <a:solidFill>
                <a:srgbClr val="000000"/>
              </a:solidFill>
              <a:effectLst/>
              <a:latin typeface="Arial" panose="020B0604020202020204" pitchFamily="34" charset="0"/>
            </a:endParaRPr>
          </a:p>
          <a:p>
            <a:pPr rtl="0" fontAlgn="base">
              <a:spcBef>
                <a:spcPts val="1200"/>
              </a:spcBef>
              <a:spcAft>
                <a:spcPts val="0"/>
              </a:spcAft>
            </a:pPr>
            <a:r>
              <a:rPr lang="en-US" sz="2200" b="1" dirty="0">
                <a:solidFill>
                  <a:srgbClr val="000000"/>
                </a:solidFill>
                <a:latin typeface="Arial" panose="020B0604020202020204" pitchFamily="34" charset="0"/>
              </a:rPr>
              <a:t>- </a:t>
            </a:r>
            <a:r>
              <a:rPr lang="en-US" sz="2200" b="1" i="0" u="none" strike="noStrike" dirty="0" err="1">
                <a:solidFill>
                  <a:srgbClr val="000000"/>
                </a:solidFill>
                <a:effectLst/>
                <a:latin typeface="Arial" panose="020B0604020202020204" pitchFamily="34" charset="0"/>
              </a:rPr>
              <a:t>Thương</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mại</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điện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tử</a:t>
            </a:r>
            <a:r>
              <a:rPr lang="en-US" sz="2200" b="1" i="0" u="none" strike="noStrike" dirty="0">
                <a:solidFill>
                  <a:srgbClr val="000000"/>
                </a:solidFill>
                <a:effectLst/>
                <a:latin typeface="Arial" panose="020B0604020202020204" pitchFamily="34" charset="0"/>
              </a:rPr>
              <a:t> </a:t>
            </a:r>
            <a:endParaRPr lang="en-US" sz="2200" b="1" dirty="0">
              <a:solidFill>
                <a:srgbClr val="000000"/>
              </a:solidFill>
              <a:latin typeface="Arial" panose="020B0604020202020204" pitchFamily="34" charset="0"/>
            </a:endParaRPr>
          </a:p>
          <a:p>
            <a:pPr rtl="0" fontAlgn="base">
              <a:spcBef>
                <a:spcPts val="0"/>
              </a:spcBef>
              <a:spcAft>
                <a:spcPts val="0"/>
              </a:spcAft>
            </a:pPr>
            <a:r>
              <a:rPr lang="en-US" dirty="0" err="1">
                <a:solidFill>
                  <a:srgbClr val="000000"/>
                </a:solidFill>
                <a:latin typeface="Arial" panose="020B0604020202020204" pitchFamily="34" charset="0"/>
              </a:rPr>
              <a:t>Ví</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dụ</a:t>
            </a:r>
            <a:r>
              <a:rPr lang="en-US" dirty="0">
                <a:solidFill>
                  <a:srgbClr val="000000"/>
                </a:solidFill>
                <a:latin typeface="Arial" panose="020B0604020202020204" pitchFamily="34" charset="0"/>
              </a:rPr>
              <a:t>: Shopify, Shopee Open Platform</a:t>
            </a:r>
            <a:endParaRPr lang="vi-VN" sz="2200" b="1" dirty="0">
              <a:effectLst/>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2807093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372E-1D71-2EF2-81A9-CB8BBEBCE55E}"/>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0E98856B-EDF3-4912-3022-15E83FA7F707}"/>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3: DÙNG API CỦA MODEL CÓ SẴN</a:t>
            </a:r>
            <a:endParaRPr lang="vi-VN" sz="2400" b="1" dirty="0">
              <a:solidFill>
                <a:schemeClr val="bg1"/>
              </a:solidFill>
              <a:effectLst/>
            </a:endParaRPr>
          </a:p>
        </p:txBody>
      </p:sp>
      <p:sp>
        <p:nvSpPr>
          <p:cNvPr id="6" name="TextBox 5">
            <a:extLst>
              <a:ext uri="{FF2B5EF4-FFF2-40B4-BE49-F238E27FC236}">
                <a16:creationId xmlns:a16="http://schemas.microsoft.com/office/drawing/2014/main" id="{A2E25D56-4242-426D-BEBA-E3F54BEA9E63}"/>
              </a:ext>
            </a:extLst>
          </p:cNvPr>
          <p:cNvSpPr txBox="1"/>
          <p:nvPr/>
        </p:nvSpPr>
        <p:spPr>
          <a:xfrm>
            <a:off x="423492" y="915243"/>
            <a:ext cx="10872132" cy="10172015"/>
          </a:xfrm>
          <a:prstGeom prst="rect">
            <a:avLst/>
          </a:prstGeom>
          <a:noFill/>
        </p:spPr>
        <p:txBody>
          <a:bodyPr wrap="square" rtlCol="0">
            <a:spAutoFit/>
          </a:bodyPr>
          <a:lstStyle/>
          <a:p>
            <a:pPr rtl="0">
              <a:spcBef>
                <a:spcPts val="2400"/>
              </a:spcBef>
              <a:spcAft>
                <a:spcPts val="600"/>
              </a:spcAft>
            </a:pPr>
            <a:r>
              <a:rPr lang="en-US" sz="2800" b="1" dirty="0">
                <a:solidFill>
                  <a:srgbClr val="000000"/>
                </a:solidFill>
                <a:latin typeface="Arial" panose="020B0604020202020204" pitchFamily="34" charset="0"/>
              </a:rPr>
              <a:t>3</a:t>
            </a:r>
            <a:r>
              <a:rPr lang="vi-VN" sz="2800" b="1" i="0" u="none" strike="noStrike" dirty="0">
                <a:solidFill>
                  <a:srgbClr val="000000"/>
                </a:solidFill>
                <a:effectLst/>
                <a:latin typeface="Arial" panose="020B0604020202020204" pitchFamily="34" charset="0"/>
              </a:rPr>
              <a:t>. </a:t>
            </a:r>
            <a:r>
              <a:rPr lang="vi-VN" sz="2800" b="1" dirty="0"/>
              <a:t>Triển khai API vào bài toán nhận dạng cảm xúc người học từ ảnh và video</a:t>
            </a:r>
            <a:endParaRPr lang="en-US" sz="28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200" b="1" dirty="0">
                <a:solidFill>
                  <a:srgbClr val="000000"/>
                </a:solidFill>
                <a:latin typeface="Arial" panose="020B0604020202020204" pitchFamily="34" charset="0"/>
              </a:rPr>
              <a:t>3.1 </a:t>
            </a:r>
            <a:r>
              <a:rPr lang="vi-VN" sz="2400" b="1" dirty="0"/>
              <a:t>Mục tiêu bài toán</a:t>
            </a:r>
            <a:endParaRPr lang="en-US" sz="2200" b="1" dirty="0">
              <a:solidFill>
                <a:srgbClr val="000000"/>
              </a:solidFill>
              <a:latin typeface="Arial" panose="020B0604020202020204" pitchFamily="34" charset="0"/>
            </a:endParaRPr>
          </a:p>
          <a:p>
            <a:pPr rtl="0" fontAlgn="base">
              <a:spcBef>
                <a:spcPts val="1200"/>
              </a:spcBef>
              <a:spcAft>
                <a:spcPts val="0"/>
              </a:spcAft>
            </a:pPr>
            <a:r>
              <a:rPr lang="vi-VN" dirty="0"/>
              <a:t>Bài toán cần xác định trạng thái cảm xúc của người học trong quá trình học tập.</a:t>
            </a:r>
            <a:endParaRPr lang="vi-VN" b="0"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200" b="1" dirty="0">
                <a:solidFill>
                  <a:srgbClr val="000000"/>
                </a:solidFill>
                <a:latin typeface="Arial" panose="020B0604020202020204" pitchFamily="34" charset="0"/>
              </a:rPr>
              <a:t>3.2 </a:t>
            </a:r>
            <a:r>
              <a:rPr lang="vi-VN" sz="2400" b="1" dirty="0"/>
              <a:t>Quy trình sử dụng API cho ảnh</a:t>
            </a:r>
            <a:r>
              <a:rPr lang="en-US" sz="2400" b="1" dirty="0"/>
              <a:t>+video</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vi-VN" dirty="0"/>
              <a:t>Bước 1: Thu nhận ảnh</a:t>
            </a:r>
            <a:r>
              <a:rPr lang="en-US" dirty="0"/>
              <a:t>/video</a:t>
            </a:r>
          </a:p>
          <a:p>
            <a:pPr rtl="0" fontAlgn="base">
              <a:spcBef>
                <a:spcPts val="1200"/>
              </a:spcBef>
              <a:spcAft>
                <a:spcPts val="0"/>
              </a:spcAft>
            </a:pPr>
            <a:r>
              <a:rPr lang="vi-VN" dirty="0"/>
              <a:t>Bước 2: API phát hiện khuôn mặt</a:t>
            </a:r>
            <a:endParaRPr lang="en-US" dirty="0"/>
          </a:p>
          <a:p>
            <a:pPr rtl="0" fontAlgn="base">
              <a:spcBef>
                <a:spcPts val="1200"/>
              </a:spcBef>
              <a:spcAft>
                <a:spcPts val="0"/>
              </a:spcAft>
            </a:pPr>
            <a:r>
              <a:rPr lang="vi-VN" dirty="0"/>
              <a:t>Bước 3: API dự đoán cảm xúc</a:t>
            </a:r>
            <a:endParaRPr lang="en-US" sz="2200" b="1" dirty="0">
              <a:solidFill>
                <a:srgbClr val="000000"/>
              </a:solidFill>
              <a:latin typeface="Arial" panose="020B0604020202020204" pitchFamily="34" charset="0"/>
            </a:endParaRPr>
          </a:p>
          <a:p>
            <a:pPr rtl="0" fontAlgn="base">
              <a:spcBef>
                <a:spcPts val="1200"/>
              </a:spcBef>
              <a:spcAft>
                <a:spcPts val="0"/>
              </a:spcAft>
            </a:pPr>
            <a:r>
              <a:rPr lang="en-US" sz="2400" b="1" dirty="0"/>
              <a:t>3.3 </a:t>
            </a:r>
            <a:r>
              <a:rPr lang="vi-VN" sz="2400" b="1" dirty="0"/>
              <a:t>Các API thường dùng cho nhận dạng cảm xúc </a:t>
            </a:r>
            <a:endParaRPr lang="en-US" sz="2400" b="1" dirty="0"/>
          </a:p>
          <a:p>
            <a:pPr rtl="0" fontAlgn="base">
              <a:spcBef>
                <a:spcPts val="1200"/>
              </a:spcBef>
              <a:spcAft>
                <a:spcPts val="0"/>
              </a:spcAft>
            </a:pPr>
            <a:r>
              <a:rPr lang="vi-VN" dirty="0"/>
              <a:t> </a:t>
            </a:r>
            <a:r>
              <a:rPr lang="vi-VN" dirty="0">
                <a:hlinkClick r:id="rId2"/>
              </a:rPr>
              <a:t>Azure Face API </a:t>
            </a:r>
            <a:r>
              <a:rPr lang="en-US" dirty="0"/>
              <a:t>,</a:t>
            </a:r>
            <a:r>
              <a:rPr lang="vi-VN" dirty="0"/>
              <a:t> Amazon Rekognition</a:t>
            </a:r>
            <a:r>
              <a:rPr lang="en-US" sz="1800" b="0" i="0" u="none" strike="noStrike" dirty="0">
                <a:solidFill>
                  <a:srgbClr val="000000"/>
                </a:solidFill>
                <a:effectLst/>
                <a:latin typeface="Arial" panose="020B0604020202020204" pitchFamily="34" charset="0"/>
              </a:rPr>
              <a:t>,</a:t>
            </a:r>
            <a:r>
              <a:rPr lang="vi-VN" dirty="0"/>
              <a:t>Face++</a:t>
            </a:r>
            <a:r>
              <a:rPr lang="en-US" dirty="0"/>
              <a:t>,</a:t>
            </a:r>
            <a:r>
              <a:rPr lang="vi-VN" dirty="0"/>
              <a:t> Hume AI</a:t>
            </a:r>
            <a:endParaRPr lang="en-US" sz="1800" b="0" i="0" u="none" strike="noStrike" dirty="0">
              <a:solidFill>
                <a:srgbClr val="000000"/>
              </a:solidFill>
              <a:effectLst/>
              <a:latin typeface="Arial" panose="020B0604020202020204" pitchFamily="34" charset="0"/>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2342056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6EAE4-C2AF-1192-A74C-2067C0A9ED3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33CDA276-50A3-0759-C461-E6E4169855A5}"/>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4: SỬ DỤNG ML CƠ BẢN</a:t>
            </a:r>
            <a:endParaRPr lang="vi-VN" sz="2400" b="1" dirty="0">
              <a:solidFill>
                <a:schemeClr val="bg1"/>
              </a:solidFill>
              <a:effectLst/>
            </a:endParaRPr>
          </a:p>
        </p:txBody>
      </p:sp>
      <p:sp>
        <p:nvSpPr>
          <p:cNvPr id="6" name="TextBox 5">
            <a:extLst>
              <a:ext uri="{FF2B5EF4-FFF2-40B4-BE49-F238E27FC236}">
                <a16:creationId xmlns:a16="http://schemas.microsoft.com/office/drawing/2014/main" id="{28525EDB-8224-FF26-5303-D03EC0275949}"/>
              </a:ext>
            </a:extLst>
          </p:cNvPr>
          <p:cNvSpPr txBox="1"/>
          <p:nvPr/>
        </p:nvSpPr>
        <p:spPr>
          <a:xfrm>
            <a:off x="210701" y="978385"/>
            <a:ext cx="11514668" cy="9910405"/>
          </a:xfrm>
          <a:prstGeom prst="rect">
            <a:avLst/>
          </a:prstGeom>
          <a:noFill/>
        </p:spPr>
        <p:txBody>
          <a:bodyPr wrap="square" rtlCol="0">
            <a:spAutoFit/>
          </a:bodyPr>
          <a:lstStyle/>
          <a:p>
            <a:pPr marL="342900" indent="-342900">
              <a:buAutoNum type="arabicPeriod"/>
            </a:pPr>
            <a:r>
              <a:rPr lang="en-US" sz="2800" b="1" dirty="0">
                <a:solidFill>
                  <a:srgbClr val="000000"/>
                </a:solidFill>
                <a:latin typeface="Arial" panose="020B0604020202020204" pitchFamily="34" charset="0"/>
              </a:rPr>
              <a:t>ML </a:t>
            </a:r>
            <a:r>
              <a:rPr lang="en-US" sz="2800" b="1" dirty="0" err="1">
                <a:solidFill>
                  <a:srgbClr val="000000"/>
                </a:solidFill>
                <a:latin typeface="Arial" panose="020B0604020202020204" pitchFamily="34" charset="0"/>
              </a:rPr>
              <a:t>là</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gì</a:t>
            </a:r>
            <a:r>
              <a:rPr lang="en-US" sz="2800" b="1" dirty="0">
                <a:solidFill>
                  <a:srgbClr val="000000"/>
                </a:solidFill>
                <a:latin typeface="Arial" panose="020B0604020202020204" pitchFamily="34" charset="0"/>
              </a:rPr>
              <a:t>?</a:t>
            </a:r>
          </a:p>
          <a:p>
            <a:endParaRPr lang="en-US" sz="2800" b="1" i="0" u="none" strike="noStrike" dirty="0">
              <a:solidFill>
                <a:srgbClr val="000000"/>
              </a:solidFill>
              <a:effectLst/>
              <a:latin typeface="Arial" panose="020B0604020202020204" pitchFamily="34" charset="0"/>
            </a:endParaRPr>
          </a:p>
          <a:p>
            <a:r>
              <a:rPr lang="vi-VN" sz="2200" b="1" i="0" u="none" strike="noStrike" dirty="0">
                <a:solidFill>
                  <a:srgbClr val="000000"/>
                </a:solidFill>
                <a:effectLst/>
                <a:latin typeface="Arial" panose="020B0604020202020204" pitchFamily="34" charset="0"/>
              </a:rPr>
              <a:t>1.1 Khái niệm</a:t>
            </a:r>
            <a:endParaRPr lang="vi-VN" sz="2200" b="1" dirty="0">
              <a:effectLst/>
            </a:endParaRPr>
          </a:p>
          <a:p>
            <a:r>
              <a:rPr lang="vi-VN" sz="2000" b="0" i="0" dirty="0">
                <a:solidFill>
                  <a:srgbClr val="212529"/>
                </a:solidFill>
                <a:effectLst/>
                <a:highlight>
                  <a:srgbClr val="FFFFFF"/>
                </a:highlight>
                <a:latin typeface="+mj-lt"/>
              </a:rPr>
              <a:t>Machine Learning (học máy)</a:t>
            </a:r>
            <a:r>
              <a:rPr lang="en-US" sz="2000" b="0" i="0" dirty="0">
                <a:solidFill>
                  <a:srgbClr val="212529"/>
                </a:solidFill>
                <a:effectLst/>
                <a:highlight>
                  <a:srgbClr val="FFFFFF"/>
                </a:highlight>
                <a:latin typeface="+mj-lt"/>
              </a:rPr>
              <a:t>, </a:t>
            </a:r>
            <a:r>
              <a:rPr lang="vi-VN" sz="2000" b="0" i="0" dirty="0">
                <a:solidFill>
                  <a:srgbClr val="212529"/>
                </a:solidFill>
                <a:effectLst/>
                <a:highlight>
                  <a:srgbClr val="FFFFFF"/>
                </a:highlight>
                <a:latin typeface="+mj-lt"/>
              </a:rPr>
              <a:t>là một lĩnh vực thuộc </a:t>
            </a:r>
            <a:r>
              <a:rPr lang="vi-VN" sz="2000" b="0" i="0" u="sng" dirty="0">
                <a:solidFill>
                  <a:srgbClr val="0D6EFD"/>
                </a:solidFill>
                <a:effectLst/>
                <a:highlight>
                  <a:srgbClr val="FFFFFF"/>
                </a:highlight>
                <a:latin typeface="+mj-lt"/>
                <a:hlinkClick r:id="rId2"/>
              </a:rPr>
              <a:t>trí tuệ nhân tạo (AI)</a:t>
            </a:r>
            <a:r>
              <a:rPr lang="vi-VN" sz="2000" b="0" i="0" dirty="0">
                <a:solidFill>
                  <a:srgbClr val="212529"/>
                </a:solidFill>
                <a:effectLst/>
                <a:highlight>
                  <a:srgbClr val="FFFFFF"/>
                </a:highlight>
                <a:latin typeface="+mj-lt"/>
              </a:rPr>
              <a:t>, tập trung vào phát triển các thuật toán cho phép máy tính tự động cải thiện và tăng độ chính xác thông qua kinh nghiệm và dựa trên dữ liệu. </a:t>
            </a:r>
            <a:endParaRPr lang="en-US" sz="2000" dirty="0">
              <a:solidFill>
                <a:srgbClr val="212529"/>
              </a:solidFill>
              <a:highlight>
                <a:srgbClr val="FFFFFF"/>
              </a:highlight>
              <a:latin typeface="+mj-lt"/>
            </a:endParaRPr>
          </a:p>
          <a:p>
            <a:r>
              <a:rPr lang="en-US" sz="2000" b="0" i="0" dirty="0">
                <a:solidFill>
                  <a:srgbClr val="212529"/>
                </a:solidFill>
                <a:effectLst/>
                <a:highlight>
                  <a:srgbClr val="FFFFFF"/>
                </a:highlight>
                <a:latin typeface="+mj-lt"/>
                <a:sym typeface="Wingdings" panose="05000000000000000000" pitchFamily="2" charset="2"/>
              </a:rPr>
              <a:t> </a:t>
            </a:r>
            <a:r>
              <a:rPr lang="vi-VN" sz="2000" b="0" i="0" dirty="0">
                <a:solidFill>
                  <a:srgbClr val="212529"/>
                </a:solidFill>
                <a:effectLst/>
                <a:highlight>
                  <a:srgbClr val="FFFFFF"/>
                </a:highlight>
                <a:latin typeface="+mj-lt"/>
              </a:rPr>
              <a:t>ML cho phép máy tính học từ dữ liệu và đưa ra quyết địn</a:t>
            </a:r>
            <a:r>
              <a:rPr lang="en-US" sz="2000" b="0" i="0" dirty="0">
                <a:solidFill>
                  <a:srgbClr val="212529"/>
                </a:solidFill>
                <a:effectLst/>
                <a:highlight>
                  <a:srgbClr val="FFFFFF"/>
                </a:highlight>
                <a:latin typeface="+mj-lt"/>
              </a:rPr>
              <a:t>h/</a:t>
            </a:r>
            <a:r>
              <a:rPr lang="vi-VN" sz="2000" b="0" i="0" dirty="0">
                <a:solidFill>
                  <a:srgbClr val="212529"/>
                </a:solidFill>
                <a:effectLst/>
                <a:highlight>
                  <a:srgbClr val="FFFFFF"/>
                </a:highlight>
                <a:latin typeface="+mj-lt"/>
              </a:rPr>
              <a:t> dự đoán mà không cần được lập trình rõ ràng cho từng tác vụ.</a:t>
            </a:r>
            <a:endParaRPr lang="en-US" sz="2000" b="0" i="0" dirty="0">
              <a:solidFill>
                <a:srgbClr val="212529"/>
              </a:solidFill>
              <a:effectLst/>
              <a:highlight>
                <a:srgbClr val="FFFFFF"/>
              </a:highlight>
              <a:latin typeface="+mj-lt"/>
            </a:endParaRPr>
          </a:p>
          <a:p>
            <a:endParaRPr lang="en-US" sz="2000" b="0" i="0" dirty="0">
              <a:solidFill>
                <a:srgbClr val="212529"/>
              </a:solidFill>
              <a:effectLst/>
              <a:highlight>
                <a:srgbClr val="FFFFFF"/>
              </a:highlight>
              <a:latin typeface="Inter"/>
            </a:endParaRPr>
          </a:p>
          <a:p>
            <a:r>
              <a:rPr lang="vi-VN" sz="2200" b="1" i="0" u="none" strike="noStrike" dirty="0">
                <a:solidFill>
                  <a:srgbClr val="000000"/>
                </a:solidFill>
                <a:effectLst/>
                <a:latin typeface="Arial" panose="020B0604020202020204" pitchFamily="34" charset="0"/>
              </a:rPr>
              <a:t>1.</a:t>
            </a:r>
            <a:r>
              <a:rPr lang="en-US" sz="2200" b="1" i="0" u="none" strike="noStrike" dirty="0">
                <a:solidFill>
                  <a:srgbClr val="000000"/>
                </a:solidFill>
                <a:effectLst/>
                <a:latin typeface="Arial" panose="020B0604020202020204" pitchFamily="34" charset="0"/>
              </a:rPr>
              <a:t>2</a:t>
            </a:r>
            <a:r>
              <a:rPr lang="vi-VN"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Nguyên</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lí</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hoạt</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động</a:t>
            </a:r>
            <a:endParaRPr lang="en-US" sz="2200" b="1" i="0" u="none" strike="noStrike" dirty="0">
              <a:solidFill>
                <a:srgbClr val="000000"/>
              </a:solidFill>
              <a:effectLst/>
              <a:latin typeface="Arial" panose="020B0604020202020204" pitchFamily="34" charset="0"/>
            </a:endParaRPr>
          </a:p>
          <a:p>
            <a:pPr>
              <a:spcBef>
                <a:spcPts val="1200"/>
              </a:spcBef>
              <a:spcAft>
                <a:spcPts val="1200"/>
              </a:spcAft>
            </a:pPr>
            <a:r>
              <a:rPr lang="vi-VN" sz="2000" dirty="0"/>
              <a:t>Thu nhận dữ liệu đầu vào</a:t>
            </a:r>
            <a:r>
              <a:rPr lang="en-US" sz="2000" dirty="0"/>
              <a:t> </a:t>
            </a:r>
            <a:r>
              <a:rPr lang="en-US" sz="2000" dirty="0">
                <a:sym typeface="Wingdings" panose="05000000000000000000" pitchFamily="2" charset="2"/>
              </a:rPr>
              <a:t> </a:t>
            </a:r>
            <a:r>
              <a:rPr lang="en-US" sz="2000" dirty="0" err="1">
                <a:sym typeface="Wingdings" panose="05000000000000000000" pitchFamily="2" charset="2"/>
              </a:rPr>
              <a:t>Tiền</a:t>
            </a:r>
            <a:r>
              <a:rPr lang="en-US" sz="2000" dirty="0">
                <a:sym typeface="Wingdings" panose="05000000000000000000" pitchFamily="2" charset="2"/>
              </a:rPr>
              <a:t> </a:t>
            </a:r>
            <a:r>
              <a:rPr lang="en-US" sz="2000" dirty="0" err="1">
                <a:sym typeface="Wingdings" panose="05000000000000000000" pitchFamily="2" charset="2"/>
              </a:rPr>
              <a:t>xử</a:t>
            </a:r>
            <a:r>
              <a:rPr lang="en-US" sz="2000" dirty="0">
                <a:sym typeface="Wingdings" panose="05000000000000000000" pitchFamily="2" charset="2"/>
              </a:rPr>
              <a:t> </a:t>
            </a:r>
            <a:r>
              <a:rPr lang="en-US" sz="2000" dirty="0" err="1">
                <a:sym typeface="Wingdings" panose="05000000000000000000" pitchFamily="2" charset="2"/>
              </a:rPr>
              <a:t>lý</a:t>
            </a:r>
            <a:r>
              <a:rPr lang="en-US" sz="2000" dirty="0">
                <a:sym typeface="Wingdings" panose="05000000000000000000" pitchFamily="2" charset="2"/>
              </a:rPr>
              <a:t> </a:t>
            </a:r>
            <a:r>
              <a:rPr lang="en-US" sz="2000" dirty="0" err="1">
                <a:sym typeface="Wingdings" panose="05000000000000000000" pitchFamily="2" charset="2"/>
              </a:rPr>
              <a:t>dữ</a:t>
            </a:r>
            <a:r>
              <a:rPr lang="en-US" sz="2000" dirty="0">
                <a:sym typeface="Wingdings" panose="05000000000000000000" pitchFamily="2" charset="2"/>
              </a:rPr>
              <a:t> </a:t>
            </a:r>
            <a:r>
              <a:rPr lang="en-US" sz="2000" dirty="0" err="1">
                <a:sym typeface="Wingdings" panose="05000000000000000000" pitchFamily="2" charset="2"/>
              </a:rPr>
              <a:t>liệu</a:t>
            </a:r>
            <a:r>
              <a:rPr lang="en-US" sz="2000" dirty="0">
                <a:sym typeface="Wingdings" panose="05000000000000000000" pitchFamily="2" charset="2"/>
              </a:rPr>
              <a:t> </a:t>
            </a:r>
            <a:r>
              <a:rPr lang="en-US" sz="2000" dirty="0" err="1">
                <a:sym typeface="Wingdings" panose="05000000000000000000" pitchFamily="2" charset="2"/>
              </a:rPr>
              <a:t>Trích</a:t>
            </a:r>
            <a:r>
              <a:rPr lang="en-US" sz="2000" dirty="0">
                <a:sym typeface="Wingdings" panose="05000000000000000000" pitchFamily="2" charset="2"/>
              </a:rPr>
              <a:t> </a:t>
            </a:r>
            <a:r>
              <a:rPr lang="en-US" sz="2000" dirty="0" err="1">
                <a:sym typeface="Wingdings" panose="05000000000000000000" pitchFamily="2" charset="2"/>
              </a:rPr>
              <a:t>xuất</a:t>
            </a:r>
            <a:r>
              <a:rPr lang="en-US" sz="2000" dirty="0">
                <a:sym typeface="Wingdings" panose="05000000000000000000" pitchFamily="2" charset="2"/>
              </a:rPr>
              <a:t> </a:t>
            </a:r>
            <a:r>
              <a:rPr lang="en-US" sz="2000" dirty="0" err="1">
                <a:sym typeface="Wingdings" panose="05000000000000000000" pitchFamily="2" charset="2"/>
              </a:rPr>
              <a:t>đặc</a:t>
            </a:r>
            <a:r>
              <a:rPr lang="en-US" sz="2000" dirty="0">
                <a:sym typeface="Wingdings" panose="05000000000000000000" pitchFamily="2" charset="2"/>
              </a:rPr>
              <a:t> </a:t>
            </a:r>
            <a:r>
              <a:rPr lang="en-US" sz="2000" dirty="0" err="1">
                <a:sym typeface="Wingdings" panose="05000000000000000000" pitchFamily="2" charset="2"/>
              </a:rPr>
              <a:t>trưng</a:t>
            </a:r>
            <a:r>
              <a:rPr lang="en-US" sz="2000" dirty="0">
                <a:sym typeface="Wingdings" panose="05000000000000000000" pitchFamily="2" charset="2"/>
              </a:rPr>
              <a:t>  </a:t>
            </a:r>
            <a:r>
              <a:rPr lang="en-US" sz="2000" dirty="0" err="1"/>
              <a:t>Huấn</a:t>
            </a:r>
            <a:r>
              <a:rPr lang="en-US" sz="2000" dirty="0"/>
              <a:t> </a:t>
            </a:r>
            <a:r>
              <a:rPr lang="en-US" sz="2000" dirty="0" err="1"/>
              <a:t>luyện</a:t>
            </a:r>
            <a:r>
              <a:rPr lang="en-US" sz="2000" dirty="0"/>
              <a:t> </a:t>
            </a:r>
            <a:r>
              <a:rPr lang="en-US" sz="2000" dirty="0" err="1"/>
              <a:t>mô</a:t>
            </a:r>
            <a:r>
              <a:rPr lang="en-US" sz="2000" dirty="0"/>
              <a:t> </a:t>
            </a:r>
            <a:r>
              <a:rPr lang="en-US" sz="2000" dirty="0" err="1"/>
              <a:t>hình</a:t>
            </a:r>
            <a:r>
              <a:rPr lang="en-US" sz="2000" dirty="0"/>
              <a:t> </a:t>
            </a:r>
            <a:r>
              <a:rPr lang="en-US" sz="2000" dirty="0">
                <a:sym typeface="Wingdings" panose="05000000000000000000" pitchFamily="2" charset="2"/>
              </a:rPr>
              <a:t> </a:t>
            </a:r>
            <a:r>
              <a:rPr lang="en-US" sz="2000" dirty="0" err="1">
                <a:sym typeface="Wingdings" panose="05000000000000000000" pitchFamily="2" charset="2"/>
              </a:rPr>
              <a:t>Đánh</a:t>
            </a:r>
            <a:r>
              <a:rPr lang="en-US" sz="2000" dirty="0">
                <a:sym typeface="Wingdings" panose="05000000000000000000" pitchFamily="2" charset="2"/>
              </a:rPr>
              <a:t> </a:t>
            </a:r>
            <a:r>
              <a:rPr lang="en-US" sz="2000" dirty="0" err="1">
                <a:sym typeface="Wingdings" panose="05000000000000000000" pitchFamily="2" charset="2"/>
              </a:rPr>
              <a:t>giá</a:t>
            </a:r>
            <a:r>
              <a:rPr lang="en-US" sz="2000" dirty="0">
                <a:sym typeface="Wingdings" panose="05000000000000000000" pitchFamily="2" charset="2"/>
              </a:rPr>
              <a:t> </a:t>
            </a:r>
            <a:r>
              <a:rPr lang="en-US" sz="2000" dirty="0" err="1">
                <a:sym typeface="Wingdings" panose="05000000000000000000" pitchFamily="2" charset="2"/>
              </a:rPr>
              <a:t>mô</a:t>
            </a:r>
            <a:r>
              <a:rPr lang="en-US" sz="2000" dirty="0">
                <a:sym typeface="Wingdings" panose="05000000000000000000" pitchFamily="2" charset="2"/>
              </a:rPr>
              <a:t> </a:t>
            </a:r>
            <a:r>
              <a:rPr lang="en-US" sz="2000" dirty="0" err="1">
                <a:sym typeface="Wingdings" panose="05000000000000000000" pitchFamily="2" charset="2"/>
              </a:rPr>
              <a:t>hình</a:t>
            </a:r>
            <a:r>
              <a:rPr lang="en-US" sz="2000" dirty="0">
                <a:sym typeface="Wingdings" panose="05000000000000000000" pitchFamily="2" charset="2"/>
              </a:rPr>
              <a:t>  </a:t>
            </a:r>
            <a:r>
              <a:rPr lang="en-US" sz="2000" dirty="0" err="1">
                <a:sym typeface="Wingdings" panose="05000000000000000000" pitchFamily="2" charset="2"/>
              </a:rPr>
              <a:t>Điều</a:t>
            </a:r>
            <a:r>
              <a:rPr lang="en-US" sz="2000" dirty="0">
                <a:sym typeface="Wingdings" panose="05000000000000000000" pitchFamily="2" charset="2"/>
              </a:rPr>
              <a:t> </a:t>
            </a:r>
            <a:r>
              <a:rPr lang="en-US" sz="2000" dirty="0" err="1">
                <a:sym typeface="Wingdings" panose="05000000000000000000" pitchFamily="2" charset="2"/>
              </a:rPr>
              <a:t>chỉnh</a:t>
            </a:r>
            <a:r>
              <a:rPr lang="en-US" sz="2000" dirty="0">
                <a:sym typeface="Wingdings" panose="05000000000000000000" pitchFamily="2" charset="2"/>
              </a:rPr>
              <a:t> </a:t>
            </a:r>
            <a:r>
              <a:rPr lang="en-US" sz="2000" dirty="0" err="1">
                <a:sym typeface="Wingdings" panose="05000000000000000000" pitchFamily="2" charset="2"/>
              </a:rPr>
              <a:t>và</a:t>
            </a:r>
            <a:r>
              <a:rPr lang="en-US" sz="2000" dirty="0">
                <a:sym typeface="Wingdings" panose="05000000000000000000" pitchFamily="2" charset="2"/>
              </a:rPr>
              <a:t> </a:t>
            </a:r>
            <a:r>
              <a:rPr lang="en-US" sz="2000" dirty="0" err="1">
                <a:sym typeface="Wingdings" panose="05000000000000000000" pitchFamily="2" charset="2"/>
              </a:rPr>
              <a:t>tối</a:t>
            </a:r>
            <a:r>
              <a:rPr lang="en-US" sz="2000" dirty="0">
                <a:sym typeface="Wingdings" panose="05000000000000000000" pitchFamily="2" charset="2"/>
              </a:rPr>
              <a:t> </a:t>
            </a:r>
            <a:r>
              <a:rPr lang="en-US" sz="2000" dirty="0" err="1">
                <a:sym typeface="Wingdings" panose="05000000000000000000" pitchFamily="2" charset="2"/>
              </a:rPr>
              <a:t>ưu</a:t>
            </a:r>
            <a:r>
              <a:rPr lang="en-US" sz="2000" dirty="0">
                <a:sym typeface="Wingdings" panose="05000000000000000000" pitchFamily="2" charset="2"/>
              </a:rPr>
              <a:t> </a:t>
            </a:r>
            <a:r>
              <a:rPr lang="en-US" sz="2000" dirty="0" err="1">
                <a:sym typeface="Wingdings" panose="05000000000000000000" pitchFamily="2" charset="2"/>
              </a:rPr>
              <a:t>hóa</a:t>
            </a:r>
            <a:r>
              <a:rPr lang="en-US" sz="2000" dirty="0">
                <a:sym typeface="Wingdings" panose="05000000000000000000" pitchFamily="2" charset="2"/>
              </a:rPr>
              <a:t> </a:t>
            </a:r>
            <a:r>
              <a:rPr lang="en-US" sz="2000" dirty="0" err="1">
                <a:sym typeface="Wingdings" panose="05000000000000000000" pitchFamily="2" charset="2"/>
              </a:rPr>
              <a:t>tham</a:t>
            </a:r>
            <a:r>
              <a:rPr lang="en-US" sz="2000" dirty="0">
                <a:sym typeface="Wingdings" panose="05000000000000000000" pitchFamily="2" charset="2"/>
              </a:rPr>
              <a:t> </a:t>
            </a:r>
            <a:r>
              <a:rPr lang="en-US" sz="2000" dirty="0" err="1">
                <a:sym typeface="Wingdings" panose="05000000000000000000" pitchFamily="2" charset="2"/>
              </a:rPr>
              <a:t>số</a:t>
            </a:r>
            <a:endParaRPr lang="en-US" sz="2000" dirty="0">
              <a:sym typeface="Wingdings" panose="05000000000000000000" pitchFamily="2" charset="2"/>
            </a:endParaRPr>
          </a:p>
          <a:p>
            <a:pPr>
              <a:spcBef>
                <a:spcPts val="1200"/>
              </a:spcBef>
              <a:spcAft>
                <a:spcPts val="1200"/>
              </a:spcAft>
            </a:pPr>
            <a:endParaRPr lang="vi-VN" sz="2000" dirty="0"/>
          </a:p>
          <a:p>
            <a:pPr rtl="0">
              <a:spcBef>
                <a:spcPts val="1200"/>
              </a:spcBef>
              <a:spcAft>
                <a:spcPts val="1200"/>
              </a:spcAft>
            </a:pPr>
            <a:endParaRPr lang="en-US" sz="2200" b="1" i="0" u="none" strike="noStrike" dirty="0">
              <a:solidFill>
                <a:srgbClr val="000000"/>
              </a:solidFill>
              <a:effectLst/>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3797308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4078C-9984-F9A4-4EDF-091F0E5B0025}"/>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7BC9D06D-72CE-401C-8CD0-95949382CA20}"/>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4: SỬ DỤNG ML CƠ BẢN</a:t>
            </a:r>
            <a:endParaRPr lang="vi-VN" sz="2400" b="1" dirty="0">
              <a:solidFill>
                <a:schemeClr val="bg1"/>
              </a:solidFill>
              <a:effectLst/>
            </a:endParaRPr>
          </a:p>
        </p:txBody>
      </p:sp>
      <p:sp>
        <p:nvSpPr>
          <p:cNvPr id="6" name="TextBox 5">
            <a:extLst>
              <a:ext uri="{FF2B5EF4-FFF2-40B4-BE49-F238E27FC236}">
                <a16:creationId xmlns:a16="http://schemas.microsoft.com/office/drawing/2014/main" id="{8E647ADA-D548-525E-9553-8971CA976EB5}"/>
              </a:ext>
            </a:extLst>
          </p:cNvPr>
          <p:cNvSpPr txBox="1"/>
          <p:nvPr/>
        </p:nvSpPr>
        <p:spPr>
          <a:xfrm>
            <a:off x="210701" y="861918"/>
            <a:ext cx="11514668" cy="11110734"/>
          </a:xfrm>
          <a:prstGeom prst="rect">
            <a:avLst/>
          </a:prstGeom>
          <a:noFill/>
        </p:spPr>
        <p:txBody>
          <a:bodyPr wrap="square" rtlCol="0">
            <a:spAutoFit/>
          </a:bodyPr>
          <a:lstStyle/>
          <a:p>
            <a:r>
              <a:rPr lang="en-US" sz="2600" b="1" dirty="0">
                <a:solidFill>
                  <a:srgbClr val="000000"/>
                </a:solidFill>
                <a:latin typeface="Arial" panose="020B0604020202020204" pitchFamily="34" charset="0"/>
              </a:rPr>
              <a:t>2. </a:t>
            </a:r>
            <a:r>
              <a:rPr lang="en-US" sz="2600" b="1" dirty="0" err="1">
                <a:solidFill>
                  <a:srgbClr val="000000"/>
                </a:solidFill>
                <a:latin typeface="Arial" panose="020B0604020202020204" pitchFamily="34" charset="0"/>
              </a:rPr>
              <a:t>Các</a:t>
            </a:r>
            <a:r>
              <a:rPr lang="en-US" sz="2600" b="1" dirty="0">
                <a:solidFill>
                  <a:srgbClr val="000000"/>
                </a:solidFill>
                <a:latin typeface="Arial" panose="020B0604020202020204" pitchFamily="34" charset="0"/>
              </a:rPr>
              <a:t> </a:t>
            </a:r>
            <a:r>
              <a:rPr lang="en-US" sz="2600" b="1" dirty="0" err="1">
                <a:solidFill>
                  <a:srgbClr val="000000"/>
                </a:solidFill>
                <a:latin typeface="Arial" panose="020B0604020202020204" pitchFamily="34" charset="0"/>
              </a:rPr>
              <a:t>phương</a:t>
            </a:r>
            <a:r>
              <a:rPr lang="en-US" sz="2600" b="1" dirty="0">
                <a:solidFill>
                  <a:srgbClr val="000000"/>
                </a:solidFill>
                <a:latin typeface="Arial" panose="020B0604020202020204" pitchFamily="34" charset="0"/>
              </a:rPr>
              <a:t> </a:t>
            </a:r>
            <a:r>
              <a:rPr lang="en-US" sz="2600" b="1" dirty="0" err="1">
                <a:solidFill>
                  <a:srgbClr val="000000"/>
                </a:solidFill>
                <a:latin typeface="Arial" panose="020B0604020202020204" pitchFamily="34" charset="0"/>
              </a:rPr>
              <a:t>pháp</a:t>
            </a:r>
            <a:r>
              <a:rPr lang="en-US" sz="2600" b="1" dirty="0">
                <a:solidFill>
                  <a:srgbClr val="000000"/>
                </a:solidFill>
                <a:latin typeface="Arial" panose="020B0604020202020204" pitchFamily="34" charset="0"/>
              </a:rPr>
              <a:t> </a:t>
            </a:r>
            <a:r>
              <a:rPr lang="en-US" sz="2600" b="1" dirty="0" err="1">
                <a:solidFill>
                  <a:srgbClr val="000000"/>
                </a:solidFill>
                <a:latin typeface="Arial" panose="020B0604020202020204" pitchFamily="34" charset="0"/>
              </a:rPr>
              <a:t>học</a:t>
            </a:r>
            <a:r>
              <a:rPr lang="en-US" sz="2600" b="1" dirty="0">
                <a:solidFill>
                  <a:srgbClr val="000000"/>
                </a:solidFill>
                <a:latin typeface="Arial" panose="020B0604020202020204" pitchFamily="34" charset="0"/>
              </a:rPr>
              <a:t> </a:t>
            </a:r>
            <a:r>
              <a:rPr lang="en-US" sz="2600" b="1" dirty="0" err="1">
                <a:solidFill>
                  <a:srgbClr val="000000"/>
                </a:solidFill>
                <a:latin typeface="Arial" panose="020B0604020202020204" pitchFamily="34" charset="0"/>
              </a:rPr>
              <a:t>máy</a:t>
            </a:r>
            <a:r>
              <a:rPr lang="en-US" sz="2600" b="1" dirty="0">
                <a:solidFill>
                  <a:srgbClr val="000000"/>
                </a:solidFill>
                <a:latin typeface="Arial" panose="020B0604020202020204" pitchFamily="34" charset="0"/>
              </a:rPr>
              <a:t> </a:t>
            </a:r>
            <a:r>
              <a:rPr lang="en-US" sz="2600" b="1" dirty="0" err="1">
                <a:solidFill>
                  <a:srgbClr val="000000"/>
                </a:solidFill>
                <a:latin typeface="Arial" panose="020B0604020202020204" pitchFamily="34" charset="0"/>
              </a:rPr>
              <a:t>phổ</a:t>
            </a:r>
            <a:r>
              <a:rPr lang="en-US" sz="2600" b="1" dirty="0">
                <a:solidFill>
                  <a:srgbClr val="000000"/>
                </a:solidFill>
                <a:latin typeface="Arial" panose="020B0604020202020204" pitchFamily="34" charset="0"/>
              </a:rPr>
              <a:t> </a:t>
            </a:r>
            <a:r>
              <a:rPr lang="en-US" sz="2600" b="1" dirty="0" err="1">
                <a:solidFill>
                  <a:srgbClr val="000000"/>
                </a:solidFill>
                <a:latin typeface="Arial" panose="020B0604020202020204" pitchFamily="34" charset="0"/>
              </a:rPr>
              <a:t>biến</a:t>
            </a:r>
            <a:endParaRPr lang="en-US" sz="2600" b="1" dirty="0">
              <a:solidFill>
                <a:srgbClr val="000000"/>
              </a:solidFill>
              <a:latin typeface="Arial" panose="020B0604020202020204" pitchFamily="34" charset="0"/>
            </a:endParaRPr>
          </a:p>
          <a:p>
            <a:endParaRPr lang="en-US" sz="2800" b="1" i="0" u="none" strike="noStrike" dirty="0">
              <a:solidFill>
                <a:srgbClr val="000000"/>
              </a:solidFill>
              <a:effectLst/>
              <a:latin typeface="Arial" panose="020B0604020202020204" pitchFamily="34" charset="0"/>
            </a:endParaRPr>
          </a:p>
          <a:p>
            <a:r>
              <a:rPr lang="en-US" sz="2200" b="1" dirty="0">
                <a:solidFill>
                  <a:srgbClr val="000000"/>
                </a:solidFill>
                <a:latin typeface="Arial" panose="020B0604020202020204" pitchFamily="34" charset="0"/>
              </a:rPr>
              <a:t>2</a:t>
            </a:r>
            <a:r>
              <a:rPr lang="vi-VN" sz="2200" b="1" i="0" u="none" strike="noStrike" dirty="0">
                <a:solidFill>
                  <a:srgbClr val="000000"/>
                </a:solidFill>
                <a:effectLst/>
                <a:latin typeface="Arial" panose="020B0604020202020204" pitchFamily="34" charset="0"/>
              </a:rPr>
              <a:t>.1 </a:t>
            </a:r>
            <a:r>
              <a:rPr lang="en-US" sz="2200" b="1" dirty="0" err="1">
                <a:solidFill>
                  <a:srgbClr val="000000"/>
                </a:solidFill>
                <a:latin typeface="Arial" panose="020B0604020202020204" pitchFamily="34" charset="0"/>
              </a:rPr>
              <a:t>Học</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máy</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có</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giám</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sát</a:t>
            </a:r>
            <a:endParaRPr lang="vi-VN" sz="2200" b="1" dirty="0">
              <a:effectLst/>
            </a:endParaRPr>
          </a:p>
          <a:p>
            <a:r>
              <a:rPr lang="en-US" sz="2000" b="0" i="0" dirty="0">
                <a:solidFill>
                  <a:srgbClr val="212529"/>
                </a:solidFill>
                <a:effectLst/>
                <a:highlight>
                  <a:srgbClr val="FFFFFF"/>
                </a:highlight>
                <a:latin typeface="Inter"/>
              </a:rPr>
              <a:t>- </a:t>
            </a:r>
            <a:r>
              <a:rPr lang="vi-VN" sz="2000" b="0" i="0" dirty="0">
                <a:solidFill>
                  <a:srgbClr val="212529"/>
                </a:solidFill>
                <a:effectLst/>
                <a:highlight>
                  <a:srgbClr val="FFFFFF"/>
                </a:highlight>
              </a:rPr>
              <a:t>Phương pháp này dựa trên việc sử dụng tập dữ liệu đã được gắn nhãn để huấn luyện thuật toán, cho phép mô hình phân loại hoặc dự đoán kết quả với độ chính xác cao. </a:t>
            </a:r>
            <a:endParaRPr lang="en-US" sz="2000" b="0" i="0" dirty="0">
              <a:solidFill>
                <a:srgbClr val="212529"/>
              </a:solidFill>
              <a:effectLst/>
              <a:highlight>
                <a:srgbClr val="FFFFFF"/>
              </a:highlight>
            </a:endParaRPr>
          </a:p>
          <a:p>
            <a:endParaRPr lang="en-US" sz="2000" b="0" i="0" dirty="0">
              <a:solidFill>
                <a:srgbClr val="212529"/>
              </a:solidFill>
              <a:effectLst/>
              <a:highlight>
                <a:srgbClr val="FFFFFF"/>
              </a:highlight>
            </a:endParaRPr>
          </a:p>
          <a:p>
            <a:r>
              <a:rPr lang="en-US" sz="2000" dirty="0">
                <a:solidFill>
                  <a:srgbClr val="212529"/>
                </a:solidFill>
                <a:highlight>
                  <a:srgbClr val="FFFFFF"/>
                </a:highlight>
              </a:rPr>
              <a:t>- </a:t>
            </a:r>
            <a:r>
              <a:rPr lang="en-US" sz="2000" dirty="0" err="1">
                <a:solidFill>
                  <a:srgbClr val="212529"/>
                </a:solidFill>
                <a:highlight>
                  <a:srgbClr val="FFFFFF"/>
                </a:highlight>
              </a:rPr>
              <a:t>Cách</a:t>
            </a:r>
            <a:r>
              <a:rPr lang="en-US" sz="2000" dirty="0">
                <a:solidFill>
                  <a:srgbClr val="212529"/>
                </a:solidFill>
                <a:highlight>
                  <a:srgbClr val="FFFFFF"/>
                </a:highlight>
              </a:rPr>
              <a:t> </a:t>
            </a:r>
            <a:r>
              <a:rPr lang="en-US" sz="2000" dirty="0" err="1">
                <a:solidFill>
                  <a:srgbClr val="212529"/>
                </a:solidFill>
                <a:highlight>
                  <a:srgbClr val="FFFFFF"/>
                </a:highlight>
              </a:rPr>
              <a:t>thức</a:t>
            </a:r>
            <a:r>
              <a:rPr lang="en-US" sz="2000" dirty="0">
                <a:solidFill>
                  <a:srgbClr val="212529"/>
                </a:solidFill>
                <a:highlight>
                  <a:srgbClr val="FFFFFF"/>
                </a:highlight>
              </a:rPr>
              <a:t> </a:t>
            </a:r>
            <a:r>
              <a:rPr lang="en-US" sz="2000" dirty="0" err="1">
                <a:solidFill>
                  <a:srgbClr val="212529"/>
                </a:solidFill>
                <a:highlight>
                  <a:srgbClr val="FFFFFF"/>
                </a:highlight>
              </a:rPr>
              <a:t>hoạt</a:t>
            </a:r>
            <a:r>
              <a:rPr lang="en-US" sz="2000" dirty="0">
                <a:solidFill>
                  <a:srgbClr val="212529"/>
                </a:solidFill>
                <a:highlight>
                  <a:srgbClr val="FFFFFF"/>
                </a:highlight>
              </a:rPr>
              <a:t> </a:t>
            </a:r>
            <a:r>
              <a:rPr lang="en-US" sz="2000" dirty="0" err="1">
                <a:solidFill>
                  <a:srgbClr val="212529"/>
                </a:solidFill>
                <a:highlight>
                  <a:srgbClr val="FFFFFF"/>
                </a:highlight>
              </a:rPr>
              <a:t>động</a:t>
            </a:r>
            <a:r>
              <a:rPr lang="en-US" sz="2000" dirty="0">
                <a:solidFill>
                  <a:srgbClr val="212529"/>
                </a:solidFill>
                <a:highlight>
                  <a:srgbClr val="FFFFFF"/>
                </a:highlight>
              </a:rPr>
              <a:t>: T</a:t>
            </a:r>
            <a:r>
              <a:rPr lang="vi-VN" sz="2000" b="0" i="0" dirty="0">
                <a:solidFill>
                  <a:srgbClr val="212529"/>
                </a:solidFill>
                <a:effectLst/>
                <a:highlight>
                  <a:srgbClr val="FFFFFF"/>
                </a:highlight>
              </a:rPr>
              <a:t>huật toán được cung cấp một tập dữ liệu bao gồm các đặc trưng (features) và nhãn (labels). Dựa trên mối quan hệ giữa dữ liệu đầu vào và đầu ra, mô hình dần học cách đưa ra dự đoán chính xác khi tiếp xúc với dữ liệu mới.</a:t>
            </a:r>
            <a:endParaRPr lang="en-US" sz="2000" b="0" i="0" dirty="0">
              <a:solidFill>
                <a:srgbClr val="212529"/>
              </a:solidFill>
              <a:effectLst/>
              <a:highlight>
                <a:srgbClr val="FFFFFF"/>
              </a:highlight>
            </a:endParaRPr>
          </a:p>
          <a:p>
            <a:endParaRPr lang="en-US" sz="2000" dirty="0">
              <a:solidFill>
                <a:srgbClr val="212529"/>
              </a:solidFill>
              <a:highlight>
                <a:srgbClr val="FFFFFF"/>
              </a:highlight>
            </a:endParaRPr>
          </a:p>
          <a:p>
            <a:r>
              <a:rPr lang="en-US" sz="2000" b="0" i="0" dirty="0">
                <a:solidFill>
                  <a:srgbClr val="212529"/>
                </a:solidFill>
                <a:effectLst/>
                <a:highlight>
                  <a:srgbClr val="FFFFFF"/>
                </a:highlight>
              </a:rPr>
              <a:t>- </a:t>
            </a:r>
            <a:r>
              <a:rPr lang="en-US" sz="2000" b="0" i="0" dirty="0" err="1">
                <a:solidFill>
                  <a:srgbClr val="212529"/>
                </a:solidFill>
                <a:effectLst/>
                <a:highlight>
                  <a:srgbClr val="FFFFFF"/>
                </a:highlight>
              </a:rPr>
              <a:t>Một</a:t>
            </a:r>
            <a:r>
              <a:rPr lang="en-US" sz="2000" b="0" i="0" dirty="0">
                <a:solidFill>
                  <a:srgbClr val="212529"/>
                </a:solidFill>
                <a:effectLst/>
                <a:highlight>
                  <a:srgbClr val="FFFFFF"/>
                </a:highlight>
              </a:rPr>
              <a:t> </a:t>
            </a:r>
            <a:r>
              <a:rPr lang="en-US" sz="2000" b="0" i="0" dirty="0" err="1">
                <a:solidFill>
                  <a:srgbClr val="212529"/>
                </a:solidFill>
                <a:effectLst/>
                <a:highlight>
                  <a:srgbClr val="FFFFFF"/>
                </a:highlight>
              </a:rPr>
              <a:t>số</a:t>
            </a:r>
            <a:r>
              <a:rPr lang="en-US" sz="2000" b="0" i="0" dirty="0">
                <a:solidFill>
                  <a:srgbClr val="212529"/>
                </a:solidFill>
                <a:effectLst/>
                <a:highlight>
                  <a:srgbClr val="FFFFFF"/>
                </a:highlight>
              </a:rPr>
              <a:t> </a:t>
            </a:r>
            <a:r>
              <a:rPr lang="en-US" sz="2000" b="0" i="0" dirty="0" err="1">
                <a:solidFill>
                  <a:srgbClr val="212529"/>
                </a:solidFill>
                <a:effectLst/>
                <a:highlight>
                  <a:srgbClr val="FFFFFF"/>
                </a:highlight>
              </a:rPr>
              <a:t>thuật</a:t>
            </a:r>
            <a:r>
              <a:rPr lang="en-US" sz="2000" b="0" i="0" dirty="0">
                <a:solidFill>
                  <a:srgbClr val="212529"/>
                </a:solidFill>
                <a:effectLst/>
                <a:highlight>
                  <a:srgbClr val="FFFFFF"/>
                </a:highlight>
              </a:rPr>
              <a:t> </a:t>
            </a:r>
            <a:r>
              <a:rPr lang="en-US" sz="2000" b="0" i="0" dirty="0" err="1">
                <a:solidFill>
                  <a:srgbClr val="212529"/>
                </a:solidFill>
                <a:effectLst/>
                <a:highlight>
                  <a:srgbClr val="FFFFFF"/>
                </a:highlight>
              </a:rPr>
              <a:t>toán</a:t>
            </a:r>
            <a:r>
              <a:rPr lang="en-US" sz="2000" b="0" i="0" dirty="0">
                <a:solidFill>
                  <a:srgbClr val="212529"/>
                </a:solidFill>
                <a:effectLst/>
                <a:highlight>
                  <a:srgbClr val="FFFFFF"/>
                </a:highlight>
              </a:rPr>
              <a:t> </a:t>
            </a:r>
            <a:r>
              <a:rPr lang="en-US" sz="2000" b="0" i="0" dirty="0" err="1">
                <a:solidFill>
                  <a:srgbClr val="212529"/>
                </a:solidFill>
                <a:effectLst/>
                <a:highlight>
                  <a:srgbClr val="FFFFFF"/>
                </a:highlight>
              </a:rPr>
              <a:t>thường</a:t>
            </a:r>
            <a:r>
              <a:rPr lang="en-US" sz="2000" b="0" i="0" dirty="0">
                <a:solidFill>
                  <a:srgbClr val="212529"/>
                </a:solidFill>
                <a:effectLst/>
                <a:highlight>
                  <a:srgbClr val="FFFFFF"/>
                </a:highlight>
              </a:rPr>
              <a:t> </a:t>
            </a:r>
            <a:r>
              <a:rPr lang="en-US" sz="2000" b="0" i="0" dirty="0" err="1">
                <a:solidFill>
                  <a:srgbClr val="212529"/>
                </a:solidFill>
                <a:effectLst/>
                <a:highlight>
                  <a:srgbClr val="FFFFFF"/>
                </a:highlight>
              </a:rPr>
              <a:t>đượ</a:t>
            </a:r>
            <a:r>
              <a:rPr lang="en-US" sz="2000" dirty="0" err="1">
                <a:solidFill>
                  <a:srgbClr val="212529"/>
                </a:solidFill>
                <a:highlight>
                  <a:srgbClr val="FFFFFF"/>
                </a:highlight>
              </a:rPr>
              <a:t>c</a:t>
            </a:r>
            <a:r>
              <a:rPr lang="en-US" sz="2000" dirty="0">
                <a:solidFill>
                  <a:srgbClr val="212529"/>
                </a:solidFill>
                <a:highlight>
                  <a:srgbClr val="FFFFFF"/>
                </a:highlight>
              </a:rPr>
              <a:t> </a:t>
            </a:r>
            <a:r>
              <a:rPr lang="en-US" sz="2000" dirty="0" err="1">
                <a:solidFill>
                  <a:srgbClr val="212529"/>
                </a:solidFill>
                <a:highlight>
                  <a:srgbClr val="FFFFFF"/>
                </a:highlight>
              </a:rPr>
              <a:t>sử</a:t>
            </a:r>
            <a:r>
              <a:rPr lang="en-US" sz="2000" dirty="0">
                <a:solidFill>
                  <a:srgbClr val="212529"/>
                </a:solidFill>
                <a:highlight>
                  <a:srgbClr val="FFFFFF"/>
                </a:highlight>
              </a:rPr>
              <a:t> </a:t>
            </a:r>
            <a:r>
              <a:rPr lang="en-US" sz="2000" dirty="0" err="1">
                <a:solidFill>
                  <a:srgbClr val="212529"/>
                </a:solidFill>
                <a:highlight>
                  <a:srgbClr val="FFFFFF"/>
                </a:highlight>
              </a:rPr>
              <a:t>dụng</a:t>
            </a:r>
            <a:r>
              <a:rPr lang="en-US" sz="2000" dirty="0">
                <a:solidFill>
                  <a:srgbClr val="212529"/>
                </a:solidFill>
                <a:highlight>
                  <a:srgbClr val="FFFFFF"/>
                </a:highlight>
              </a:rPr>
              <a:t> </a:t>
            </a:r>
            <a:r>
              <a:rPr lang="en-US" sz="2000" dirty="0" err="1">
                <a:solidFill>
                  <a:srgbClr val="212529"/>
                </a:solidFill>
                <a:highlight>
                  <a:srgbClr val="FFFFFF"/>
                </a:highlight>
              </a:rPr>
              <a:t>trong</a:t>
            </a:r>
            <a:r>
              <a:rPr lang="en-US" sz="2000" dirty="0">
                <a:solidFill>
                  <a:srgbClr val="212529"/>
                </a:solidFill>
                <a:highlight>
                  <a:srgbClr val="FFFFFF"/>
                </a:highlight>
              </a:rPr>
              <a:t> </a:t>
            </a:r>
            <a:r>
              <a:rPr lang="en-US" sz="2000" dirty="0" err="1">
                <a:solidFill>
                  <a:srgbClr val="212529"/>
                </a:solidFill>
                <a:highlight>
                  <a:srgbClr val="FFFFFF"/>
                </a:highlight>
              </a:rPr>
              <a:t>mô</a:t>
            </a:r>
            <a:r>
              <a:rPr lang="en-US" sz="2000" dirty="0">
                <a:solidFill>
                  <a:srgbClr val="212529"/>
                </a:solidFill>
                <a:highlight>
                  <a:srgbClr val="FFFFFF"/>
                </a:highlight>
              </a:rPr>
              <a:t> </a:t>
            </a:r>
            <a:r>
              <a:rPr lang="en-US" sz="2000" dirty="0" err="1">
                <a:solidFill>
                  <a:srgbClr val="212529"/>
                </a:solidFill>
                <a:highlight>
                  <a:srgbClr val="FFFFFF"/>
                </a:highlight>
              </a:rPr>
              <a:t>hình</a:t>
            </a:r>
            <a:r>
              <a:rPr lang="en-US" sz="2000" dirty="0">
                <a:solidFill>
                  <a:srgbClr val="212529"/>
                </a:solidFill>
                <a:highlight>
                  <a:srgbClr val="FFFFFF"/>
                </a:highlight>
              </a:rPr>
              <a:t> </a:t>
            </a:r>
            <a:r>
              <a:rPr lang="en-US" sz="2000" dirty="0" err="1">
                <a:solidFill>
                  <a:srgbClr val="212529"/>
                </a:solidFill>
                <a:highlight>
                  <a:srgbClr val="FFFFFF"/>
                </a:highlight>
              </a:rPr>
              <a:t>học</a:t>
            </a:r>
            <a:r>
              <a:rPr lang="en-US" sz="2000" dirty="0">
                <a:solidFill>
                  <a:srgbClr val="212529"/>
                </a:solidFill>
                <a:highlight>
                  <a:srgbClr val="FFFFFF"/>
                </a:highlight>
              </a:rPr>
              <a:t> </a:t>
            </a:r>
            <a:r>
              <a:rPr lang="en-US" sz="2000" dirty="0" err="1">
                <a:solidFill>
                  <a:srgbClr val="212529"/>
                </a:solidFill>
                <a:highlight>
                  <a:srgbClr val="FFFFFF"/>
                </a:highlight>
              </a:rPr>
              <a:t>máy</a:t>
            </a:r>
            <a:r>
              <a:rPr lang="en-US" sz="2000" dirty="0">
                <a:solidFill>
                  <a:srgbClr val="212529"/>
                </a:solidFill>
                <a:highlight>
                  <a:srgbClr val="FFFFFF"/>
                </a:highlight>
              </a:rPr>
              <a:t> </a:t>
            </a:r>
            <a:r>
              <a:rPr lang="en-US" sz="2000" dirty="0" err="1">
                <a:solidFill>
                  <a:srgbClr val="212529"/>
                </a:solidFill>
                <a:highlight>
                  <a:srgbClr val="FFFFFF"/>
                </a:highlight>
              </a:rPr>
              <a:t>có</a:t>
            </a:r>
            <a:r>
              <a:rPr lang="en-US" sz="2000" dirty="0">
                <a:solidFill>
                  <a:srgbClr val="212529"/>
                </a:solidFill>
                <a:highlight>
                  <a:srgbClr val="FFFFFF"/>
                </a:highlight>
              </a:rPr>
              <a:t> </a:t>
            </a:r>
            <a:r>
              <a:rPr lang="en-US" sz="2000" dirty="0" err="1">
                <a:solidFill>
                  <a:srgbClr val="212529"/>
                </a:solidFill>
                <a:highlight>
                  <a:srgbClr val="FFFFFF"/>
                </a:highlight>
              </a:rPr>
              <a:t>giám</a:t>
            </a:r>
            <a:r>
              <a:rPr lang="en-US" sz="2000" dirty="0">
                <a:solidFill>
                  <a:srgbClr val="212529"/>
                </a:solidFill>
                <a:highlight>
                  <a:srgbClr val="FFFFFF"/>
                </a:highlight>
              </a:rPr>
              <a:t> </a:t>
            </a:r>
            <a:r>
              <a:rPr lang="en-US" sz="2000" dirty="0" err="1">
                <a:solidFill>
                  <a:srgbClr val="212529"/>
                </a:solidFill>
                <a:highlight>
                  <a:srgbClr val="FFFFFF"/>
                </a:highlight>
              </a:rPr>
              <a:t>sát</a:t>
            </a:r>
            <a:r>
              <a:rPr lang="en-US" sz="2000" dirty="0">
                <a:solidFill>
                  <a:srgbClr val="212529"/>
                </a:solidFill>
                <a:highlight>
                  <a:srgbClr val="FFFFFF"/>
                </a:highlight>
              </a:rPr>
              <a:t>: </a:t>
            </a:r>
            <a:r>
              <a:rPr lang="en-US" sz="2000" dirty="0" err="1">
                <a:solidFill>
                  <a:srgbClr val="212529"/>
                </a:solidFill>
                <a:highlight>
                  <a:srgbClr val="FFFFFF"/>
                </a:highlight>
              </a:rPr>
              <a:t>mạng</a:t>
            </a:r>
            <a:r>
              <a:rPr lang="en-US" sz="2000" dirty="0">
                <a:solidFill>
                  <a:srgbClr val="212529"/>
                </a:solidFill>
                <a:highlight>
                  <a:srgbClr val="FFFFFF"/>
                </a:highlight>
              </a:rPr>
              <a:t> </a:t>
            </a:r>
            <a:r>
              <a:rPr lang="en-US" sz="2000" dirty="0" err="1">
                <a:solidFill>
                  <a:srgbClr val="212529"/>
                </a:solidFill>
                <a:highlight>
                  <a:srgbClr val="FFFFFF"/>
                </a:highlight>
              </a:rPr>
              <a:t>nơ-ron</a:t>
            </a:r>
            <a:r>
              <a:rPr lang="en-US" sz="2000" dirty="0">
                <a:solidFill>
                  <a:srgbClr val="212529"/>
                </a:solidFill>
                <a:highlight>
                  <a:srgbClr val="FFFFFF"/>
                </a:highlight>
              </a:rPr>
              <a:t> </a:t>
            </a:r>
            <a:r>
              <a:rPr lang="en-US" sz="2000" dirty="0" err="1">
                <a:solidFill>
                  <a:srgbClr val="212529"/>
                </a:solidFill>
                <a:highlight>
                  <a:srgbClr val="FFFFFF"/>
                </a:highlight>
              </a:rPr>
              <a:t>nhân</a:t>
            </a:r>
            <a:r>
              <a:rPr lang="en-US" sz="2000" dirty="0">
                <a:solidFill>
                  <a:srgbClr val="212529"/>
                </a:solidFill>
                <a:highlight>
                  <a:srgbClr val="FFFFFF"/>
                </a:highlight>
              </a:rPr>
              <a:t> </a:t>
            </a:r>
            <a:r>
              <a:rPr lang="en-US" sz="2000" dirty="0" err="1">
                <a:solidFill>
                  <a:srgbClr val="212529"/>
                </a:solidFill>
                <a:highlight>
                  <a:srgbClr val="FFFFFF"/>
                </a:highlight>
              </a:rPr>
              <a:t>tạo</a:t>
            </a:r>
            <a:r>
              <a:rPr lang="en-US" sz="2000" dirty="0">
                <a:solidFill>
                  <a:srgbClr val="212529"/>
                </a:solidFill>
                <a:highlight>
                  <a:srgbClr val="FFFFFF"/>
                </a:highlight>
              </a:rPr>
              <a:t>, </a:t>
            </a:r>
            <a:r>
              <a:rPr lang="en-US" sz="2000" dirty="0" err="1">
                <a:solidFill>
                  <a:srgbClr val="212529"/>
                </a:solidFill>
                <a:highlight>
                  <a:srgbClr val="FFFFFF"/>
                </a:highlight>
              </a:rPr>
              <a:t>mô</a:t>
            </a:r>
            <a:r>
              <a:rPr lang="en-US" sz="2000" dirty="0">
                <a:solidFill>
                  <a:srgbClr val="212529"/>
                </a:solidFill>
                <a:highlight>
                  <a:srgbClr val="FFFFFF"/>
                </a:highlight>
              </a:rPr>
              <a:t> </a:t>
            </a:r>
            <a:r>
              <a:rPr lang="en-US" sz="2000" dirty="0" err="1">
                <a:solidFill>
                  <a:srgbClr val="212529"/>
                </a:solidFill>
                <a:highlight>
                  <a:srgbClr val="FFFFFF"/>
                </a:highlight>
              </a:rPr>
              <a:t>hình</a:t>
            </a:r>
            <a:r>
              <a:rPr lang="en-US" sz="2000" dirty="0">
                <a:solidFill>
                  <a:srgbClr val="212529"/>
                </a:solidFill>
                <a:highlight>
                  <a:srgbClr val="FFFFFF"/>
                </a:highlight>
              </a:rPr>
              <a:t> </a:t>
            </a:r>
            <a:r>
              <a:rPr lang="en-US" sz="2000" dirty="0" err="1">
                <a:solidFill>
                  <a:srgbClr val="212529"/>
                </a:solidFill>
                <a:highlight>
                  <a:srgbClr val="FFFFFF"/>
                </a:highlight>
              </a:rPr>
              <a:t>phân</a:t>
            </a:r>
            <a:r>
              <a:rPr lang="en-US" sz="2000" dirty="0">
                <a:solidFill>
                  <a:srgbClr val="212529"/>
                </a:solidFill>
                <a:highlight>
                  <a:srgbClr val="FFFFFF"/>
                </a:highlight>
              </a:rPr>
              <a:t> </a:t>
            </a:r>
            <a:r>
              <a:rPr lang="en-US" sz="2000" dirty="0" err="1">
                <a:solidFill>
                  <a:srgbClr val="212529"/>
                </a:solidFill>
                <a:highlight>
                  <a:srgbClr val="FFFFFF"/>
                </a:highlight>
              </a:rPr>
              <a:t>lớp</a:t>
            </a:r>
            <a:r>
              <a:rPr lang="en-US" sz="2000" dirty="0">
                <a:solidFill>
                  <a:srgbClr val="212529"/>
                </a:solidFill>
                <a:highlight>
                  <a:srgbClr val="FFFFFF"/>
                </a:highlight>
              </a:rPr>
              <a:t> Navie Bayes, </a:t>
            </a:r>
            <a:r>
              <a:rPr lang="en-US" sz="2000" dirty="0" err="1">
                <a:solidFill>
                  <a:srgbClr val="212529"/>
                </a:solidFill>
                <a:highlight>
                  <a:srgbClr val="FFFFFF"/>
                </a:highlight>
              </a:rPr>
              <a:t>hồi</a:t>
            </a:r>
            <a:r>
              <a:rPr lang="en-US" sz="2000" dirty="0">
                <a:solidFill>
                  <a:srgbClr val="212529"/>
                </a:solidFill>
                <a:highlight>
                  <a:srgbClr val="FFFFFF"/>
                </a:highlight>
              </a:rPr>
              <a:t> </a:t>
            </a:r>
            <a:r>
              <a:rPr lang="en-US" sz="2000" dirty="0" err="1">
                <a:solidFill>
                  <a:srgbClr val="212529"/>
                </a:solidFill>
                <a:highlight>
                  <a:srgbClr val="FFFFFF"/>
                </a:highlight>
              </a:rPr>
              <a:t>quy</a:t>
            </a:r>
            <a:r>
              <a:rPr lang="en-US" sz="2000" dirty="0">
                <a:solidFill>
                  <a:srgbClr val="212529"/>
                </a:solidFill>
                <a:highlight>
                  <a:srgbClr val="FFFFFF"/>
                </a:highlight>
              </a:rPr>
              <a:t> </a:t>
            </a:r>
            <a:r>
              <a:rPr lang="en-US" sz="2000" dirty="0" err="1">
                <a:solidFill>
                  <a:srgbClr val="212529"/>
                </a:solidFill>
                <a:highlight>
                  <a:srgbClr val="FFFFFF"/>
                </a:highlight>
              </a:rPr>
              <a:t>tuyến</a:t>
            </a:r>
            <a:r>
              <a:rPr lang="en-US" sz="2000" dirty="0">
                <a:solidFill>
                  <a:srgbClr val="212529"/>
                </a:solidFill>
                <a:highlight>
                  <a:srgbClr val="FFFFFF"/>
                </a:highlight>
              </a:rPr>
              <a:t> </a:t>
            </a:r>
            <a:r>
              <a:rPr lang="en-US" sz="2000" dirty="0" err="1">
                <a:solidFill>
                  <a:srgbClr val="212529"/>
                </a:solidFill>
                <a:highlight>
                  <a:srgbClr val="FFFFFF"/>
                </a:highlight>
              </a:rPr>
              <a:t>tính</a:t>
            </a:r>
            <a:r>
              <a:rPr lang="en-US" sz="2000" dirty="0">
                <a:solidFill>
                  <a:srgbClr val="212529"/>
                </a:solidFill>
                <a:highlight>
                  <a:srgbClr val="FFFFFF"/>
                </a:highlight>
              </a:rPr>
              <a:t>, </a:t>
            </a:r>
            <a:r>
              <a:rPr lang="en-US" sz="2000" dirty="0" err="1">
                <a:solidFill>
                  <a:srgbClr val="212529"/>
                </a:solidFill>
                <a:highlight>
                  <a:srgbClr val="FFFFFF"/>
                </a:highlight>
              </a:rPr>
              <a:t>hồi</a:t>
            </a:r>
            <a:r>
              <a:rPr lang="en-US" sz="2000" dirty="0">
                <a:solidFill>
                  <a:srgbClr val="212529"/>
                </a:solidFill>
                <a:highlight>
                  <a:srgbClr val="FFFFFF"/>
                </a:highlight>
              </a:rPr>
              <a:t> </a:t>
            </a:r>
            <a:r>
              <a:rPr lang="en-US" sz="2000" dirty="0" err="1">
                <a:solidFill>
                  <a:srgbClr val="212529"/>
                </a:solidFill>
                <a:highlight>
                  <a:srgbClr val="FFFFFF"/>
                </a:highlight>
              </a:rPr>
              <a:t>quy</a:t>
            </a:r>
            <a:r>
              <a:rPr lang="en-US" sz="2000" dirty="0">
                <a:solidFill>
                  <a:srgbClr val="212529"/>
                </a:solidFill>
                <a:highlight>
                  <a:srgbClr val="FFFFFF"/>
                </a:highlight>
              </a:rPr>
              <a:t> logistic, </a:t>
            </a:r>
            <a:r>
              <a:rPr lang="en-US" sz="2000" dirty="0" err="1">
                <a:solidFill>
                  <a:srgbClr val="212529"/>
                </a:solidFill>
                <a:highlight>
                  <a:srgbClr val="FFFFFF"/>
                </a:highlight>
              </a:rPr>
              <a:t>máy</a:t>
            </a:r>
            <a:r>
              <a:rPr lang="en-US" sz="2000" dirty="0">
                <a:solidFill>
                  <a:srgbClr val="212529"/>
                </a:solidFill>
                <a:highlight>
                  <a:srgbClr val="FFFFFF"/>
                </a:highlight>
              </a:rPr>
              <a:t> </a:t>
            </a:r>
            <a:r>
              <a:rPr lang="en-US" sz="2000" dirty="0" err="1">
                <a:solidFill>
                  <a:srgbClr val="212529"/>
                </a:solidFill>
                <a:highlight>
                  <a:srgbClr val="FFFFFF"/>
                </a:highlight>
              </a:rPr>
              <a:t>hỗ</a:t>
            </a:r>
            <a:r>
              <a:rPr lang="en-US" sz="2000" dirty="0">
                <a:solidFill>
                  <a:srgbClr val="212529"/>
                </a:solidFill>
                <a:highlight>
                  <a:srgbClr val="FFFFFF"/>
                </a:highlight>
              </a:rPr>
              <a:t> </a:t>
            </a:r>
            <a:r>
              <a:rPr lang="en-US" sz="2000" dirty="0" err="1">
                <a:solidFill>
                  <a:srgbClr val="212529"/>
                </a:solidFill>
                <a:highlight>
                  <a:srgbClr val="FFFFFF"/>
                </a:highlight>
              </a:rPr>
              <a:t>trợ</a:t>
            </a:r>
            <a:r>
              <a:rPr lang="en-US" sz="2000" dirty="0">
                <a:solidFill>
                  <a:srgbClr val="212529"/>
                </a:solidFill>
                <a:highlight>
                  <a:srgbClr val="FFFFFF"/>
                </a:highlight>
              </a:rPr>
              <a:t> </a:t>
            </a:r>
            <a:r>
              <a:rPr lang="en-US" sz="2000" dirty="0" err="1">
                <a:solidFill>
                  <a:srgbClr val="212529"/>
                </a:solidFill>
                <a:highlight>
                  <a:srgbClr val="FFFFFF"/>
                </a:highlight>
              </a:rPr>
              <a:t>vecto</a:t>
            </a:r>
            <a:r>
              <a:rPr lang="en-US" sz="2000" dirty="0">
                <a:solidFill>
                  <a:srgbClr val="212529"/>
                </a:solidFill>
                <a:highlight>
                  <a:srgbClr val="FFFFFF"/>
                </a:highlight>
              </a:rPr>
              <a:t>. </a:t>
            </a:r>
          </a:p>
          <a:p>
            <a:endParaRPr lang="en-US" sz="2000" b="0" i="0" dirty="0">
              <a:solidFill>
                <a:srgbClr val="212529"/>
              </a:solidFill>
              <a:effectLst/>
              <a:highlight>
                <a:srgbClr val="FFFFFF"/>
              </a:highlight>
              <a:latin typeface="Inter"/>
            </a:endParaRPr>
          </a:p>
          <a:p>
            <a:r>
              <a:rPr lang="en-US" sz="2200" b="1" dirty="0">
                <a:solidFill>
                  <a:srgbClr val="000000"/>
                </a:solidFill>
                <a:latin typeface="Arial" panose="020B0604020202020204" pitchFamily="34" charset="0"/>
              </a:rPr>
              <a:t>2</a:t>
            </a:r>
            <a:r>
              <a:rPr lang="vi-VN" sz="2200" b="1" i="0" u="none" strike="noStrike" dirty="0">
                <a:solidFill>
                  <a:srgbClr val="000000"/>
                </a:solidFill>
                <a:effectLst/>
                <a:latin typeface="Arial" panose="020B0604020202020204" pitchFamily="34" charset="0"/>
              </a:rPr>
              <a:t>.</a:t>
            </a:r>
            <a:r>
              <a:rPr lang="en-US" sz="2200" b="1" i="0" u="none" strike="noStrike" dirty="0">
                <a:solidFill>
                  <a:srgbClr val="000000"/>
                </a:solidFill>
                <a:effectLst/>
                <a:latin typeface="Arial" panose="020B0604020202020204" pitchFamily="34" charset="0"/>
              </a:rPr>
              <a:t>2</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Học</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máy</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không</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giám</a:t>
            </a:r>
            <a:r>
              <a:rPr lang="en-US" sz="2200" b="1" dirty="0">
                <a:solidFill>
                  <a:srgbClr val="000000"/>
                </a:solidFill>
                <a:latin typeface="Arial" panose="020B0604020202020204" pitchFamily="34" charset="0"/>
              </a:rPr>
              <a:t> </a:t>
            </a:r>
            <a:r>
              <a:rPr lang="en-US" sz="2200" b="1" dirty="0" err="1">
                <a:solidFill>
                  <a:srgbClr val="000000"/>
                </a:solidFill>
                <a:latin typeface="Arial" panose="020B0604020202020204" pitchFamily="34" charset="0"/>
              </a:rPr>
              <a:t>sát</a:t>
            </a:r>
            <a:endParaRPr lang="en-US" sz="2200" b="1" i="0" u="none" strike="noStrike" dirty="0">
              <a:solidFill>
                <a:srgbClr val="000000"/>
              </a:solidFill>
              <a:effectLst/>
              <a:latin typeface="Arial" panose="020B0604020202020204" pitchFamily="34" charset="0"/>
            </a:endParaRPr>
          </a:p>
          <a:p>
            <a:pPr>
              <a:spcBef>
                <a:spcPts val="1200"/>
              </a:spcBef>
              <a:spcAft>
                <a:spcPts val="1200"/>
              </a:spcAft>
            </a:pPr>
            <a:r>
              <a:rPr lang="en-US" sz="2000" dirty="0"/>
              <a:t>- </a:t>
            </a:r>
            <a:r>
              <a:rPr lang="en-US" sz="2000" dirty="0" err="1"/>
              <a:t>Phương</a:t>
            </a:r>
            <a:r>
              <a:rPr lang="en-US" sz="2000" dirty="0"/>
              <a:t> </a:t>
            </a:r>
            <a:r>
              <a:rPr lang="en-US" sz="2000" dirty="0" err="1"/>
              <a:t>pháp</a:t>
            </a:r>
            <a:r>
              <a:rPr lang="en-US" sz="2000" dirty="0"/>
              <a:t> </a:t>
            </a:r>
            <a:r>
              <a:rPr lang="en-US" sz="2000" dirty="0" err="1"/>
              <a:t>này</a:t>
            </a:r>
            <a:r>
              <a:rPr lang="en-US" sz="2000" dirty="0"/>
              <a:t> </a:t>
            </a:r>
            <a:r>
              <a:rPr lang="en-US" sz="2000" dirty="0" err="1"/>
              <a:t>dựa</a:t>
            </a:r>
            <a:r>
              <a:rPr lang="en-US" sz="2000" dirty="0"/>
              <a:t> </a:t>
            </a:r>
            <a:r>
              <a:rPr lang="en-US" sz="2000" dirty="0" err="1"/>
              <a:t>trên</a:t>
            </a:r>
            <a:r>
              <a:rPr lang="en-US" sz="2000" dirty="0"/>
              <a:t> </a:t>
            </a:r>
            <a:r>
              <a:rPr lang="en-US" sz="2000" dirty="0" err="1"/>
              <a:t>việc</a:t>
            </a:r>
            <a:r>
              <a:rPr lang="en-US" sz="2000" dirty="0"/>
              <a:t> </a:t>
            </a:r>
            <a:r>
              <a:rPr lang="vi-VN" sz="2000" b="0" i="0" dirty="0">
                <a:solidFill>
                  <a:srgbClr val="212529"/>
                </a:solidFill>
                <a:effectLst/>
                <a:highlight>
                  <a:srgbClr val="FFFFFF"/>
                </a:highlight>
              </a:rPr>
              <a:t>hệ thống tự động phát hiện các mẫu, cụm hoặc mối quan hệ ẩn trong tập dữ liệu, từ đó đưa ra những chiến lược kinh doanh phù hợp.</a:t>
            </a:r>
            <a:endParaRPr lang="en-US" sz="2000" dirty="0">
              <a:sym typeface="Wingdings" panose="05000000000000000000" pitchFamily="2" charset="2"/>
            </a:endParaRPr>
          </a:p>
          <a:p>
            <a:pPr>
              <a:spcBef>
                <a:spcPts val="1200"/>
              </a:spcBef>
              <a:spcAft>
                <a:spcPts val="1200"/>
              </a:spcAft>
            </a:pPr>
            <a:endParaRPr lang="vi-VN" sz="2000" dirty="0"/>
          </a:p>
          <a:p>
            <a:pPr rtl="0">
              <a:spcBef>
                <a:spcPts val="1200"/>
              </a:spcBef>
              <a:spcAft>
                <a:spcPts val="1200"/>
              </a:spcAft>
            </a:pPr>
            <a:endParaRPr lang="en-US" sz="2200" b="1" i="0" u="none" strike="noStrike" dirty="0">
              <a:solidFill>
                <a:srgbClr val="000000"/>
              </a:solidFill>
              <a:effectLst/>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2481052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BC181-C10C-6FB0-DE3C-8EC3D6AAE2A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36AAA06E-2472-CA6F-1866-80627439B4DD}"/>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4: SỬ DỤNG ML CƠ BẢN</a:t>
            </a:r>
            <a:endParaRPr lang="vi-VN" sz="2400" b="1" dirty="0">
              <a:solidFill>
                <a:schemeClr val="bg1"/>
              </a:solidFill>
              <a:effectLst/>
            </a:endParaRPr>
          </a:p>
        </p:txBody>
      </p:sp>
      <p:sp>
        <p:nvSpPr>
          <p:cNvPr id="6" name="TextBox 5">
            <a:extLst>
              <a:ext uri="{FF2B5EF4-FFF2-40B4-BE49-F238E27FC236}">
                <a16:creationId xmlns:a16="http://schemas.microsoft.com/office/drawing/2014/main" id="{4B6DBA6A-9366-F2C6-0857-93EDE6C41DA0}"/>
              </a:ext>
            </a:extLst>
          </p:cNvPr>
          <p:cNvSpPr txBox="1"/>
          <p:nvPr/>
        </p:nvSpPr>
        <p:spPr>
          <a:xfrm>
            <a:off x="210701" y="978385"/>
            <a:ext cx="11514668" cy="8710077"/>
          </a:xfrm>
          <a:prstGeom prst="rect">
            <a:avLst/>
          </a:prstGeom>
          <a:noFill/>
        </p:spPr>
        <p:txBody>
          <a:bodyPr wrap="square" rtlCol="0">
            <a:spAutoFit/>
          </a:bodyPr>
          <a:lstStyle/>
          <a:p>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Một</a:t>
            </a:r>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số</a:t>
            </a:r>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thuật</a:t>
            </a:r>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toán</a:t>
            </a:r>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thường</a:t>
            </a:r>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được</a:t>
            </a:r>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sử</a:t>
            </a:r>
            <a:r>
              <a:rPr lang="en-US" sz="2000" b="0" i="0" dirty="0">
                <a:solidFill>
                  <a:srgbClr val="212529"/>
                </a:solidFill>
                <a:effectLst/>
                <a:highlight>
                  <a:srgbClr val="FFFFFF"/>
                </a:highlight>
                <a:latin typeface="+mj-lt"/>
              </a:rPr>
              <a:t> </a:t>
            </a:r>
            <a:r>
              <a:rPr lang="en-US" sz="2000" b="0" i="0" dirty="0" err="1">
                <a:solidFill>
                  <a:srgbClr val="212529"/>
                </a:solidFill>
                <a:effectLst/>
                <a:highlight>
                  <a:srgbClr val="FFFFFF"/>
                </a:highlight>
                <a:latin typeface="+mj-lt"/>
              </a:rPr>
              <a:t>dụng</a:t>
            </a:r>
            <a:r>
              <a:rPr lang="en-US" sz="2000" b="0" i="0" dirty="0">
                <a:solidFill>
                  <a:srgbClr val="212529"/>
                </a:solidFill>
                <a:effectLst/>
                <a:highlight>
                  <a:srgbClr val="FFFFFF"/>
                </a:highlight>
                <a:latin typeface="+mj-lt"/>
              </a:rPr>
              <a:t>: </a:t>
            </a:r>
            <a:r>
              <a:rPr lang="vi-VN" sz="2000" b="0" i="0" dirty="0">
                <a:solidFill>
                  <a:srgbClr val="212529"/>
                </a:solidFill>
                <a:effectLst/>
                <a:highlight>
                  <a:srgbClr val="FFFFFF"/>
                </a:highlight>
                <a:latin typeface="+mj-lt"/>
              </a:rPr>
              <a:t>mạng nơ-ron nhân tạo, thuật toán phân cụm K-means, và phương pháp phân cụm xác suất</a:t>
            </a:r>
            <a:r>
              <a:rPr lang="en-US" sz="2000" b="0" i="0" dirty="0">
                <a:solidFill>
                  <a:srgbClr val="212529"/>
                </a:solidFill>
                <a:effectLst/>
                <a:highlight>
                  <a:srgbClr val="FFFFFF"/>
                </a:highlight>
                <a:latin typeface="+mj-lt"/>
              </a:rPr>
              <a:t> </a:t>
            </a:r>
            <a:r>
              <a:rPr lang="en-US" sz="2000" b="0" i="0" dirty="0">
                <a:solidFill>
                  <a:srgbClr val="212529"/>
                </a:solidFill>
                <a:effectLst/>
                <a:highlight>
                  <a:srgbClr val="FFFFFF"/>
                </a:highlight>
                <a:latin typeface="+mj-lt"/>
                <a:sym typeface="Wingdings" panose="05000000000000000000" pitchFamily="2" charset="2"/>
              </a:rPr>
              <a:t> </a:t>
            </a:r>
            <a:r>
              <a:rPr lang="en-US" sz="2000" dirty="0">
                <a:solidFill>
                  <a:srgbClr val="212529"/>
                </a:solidFill>
                <a:highlight>
                  <a:srgbClr val="FFFFFF"/>
                </a:highlight>
                <a:latin typeface="+mj-lt"/>
                <a:sym typeface="Wingdings" panose="05000000000000000000" pitchFamily="2" charset="2"/>
              </a:rPr>
              <a:t>G</a:t>
            </a:r>
            <a:r>
              <a:rPr lang="vi-VN" sz="2000" b="0" i="0" dirty="0">
                <a:solidFill>
                  <a:srgbClr val="212529"/>
                </a:solidFill>
                <a:effectLst/>
                <a:highlight>
                  <a:srgbClr val="FFFFFF"/>
                </a:highlight>
                <a:latin typeface="+mj-lt"/>
              </a:rPr>
              <a:t>iúp phân tích và nhóm dữ liệu lại với nhau dựa trên các đặc điểm chung, tìm ra những mô hình hoặc cấu trúc tiềm ẩn mà không cần nhãn đầu ra.</a:t>
            </a:r>
            <a:endParaRPr lang="en-US" sz="2000" b="0" i="0" dirty="0">
              <a:solidFill>
                <a:srgbClr val="212529"/>
              </a:solidFill>
              <a:effectLst/>
              <a:highlight>
                <a:srgbClr val="FFFFFF"/>
              </a:highlight>
              <a:latin typeface="+mj-lt"/>
            </a:endParaRPr>
          </a:p>
          <a:p>
            <a:pPr marL="342900" indent="-342900">
              <a:buFontTx/>
              <a:buChar char="-"/>
            </a:pPr>
            <a:endParaRPr lang="en-US" sz="2000" b="0" i="0" dirty="0">
              <a:solidFill>
                <a:srgbClr val="212529"/>
              </a:solidFill>
              <a:effectLst/>
              <a:highlight>
                <a:srgbClr val="FFFFFF"/>
              </a:highlight>
              <a:latin typeface="+mj-lt"/>
            </a:endParaRPr>
          </a:p>
          <a:p>
            <a:r>
              <a:rPr lang="en-US" sz="2000" b="1" dirty="0">
                <a:solidFill>
                  <a:srgbClr val="000000"/>
                </a:solidFill>
                <a:latin typeface="+mj-lt"/>
              </a:rPr>
              <a:t>2</a:t>
            </a:r>
            <a:r>
              <a:rPr lang="vi-VN" sz="2000" b="1" i="0" u="none" strike="noStrike" dirty="0">
                <a:solidFill>
                  <a:srgbClr val="000000"/>
                </a:solidFill>
                <a:effectLst/>
                <a:latin typeface="+mj-lt"/>
              </a:rPr>
              <a:t>.</a:t>
            </a:r>
            <a:r>
              <a:rPr lang="en-US" sz="2000" b="1" i="0" u="none" strike="noStrike" dirty="0">
                <a:solidFill>
                  <a:srgbClr val="000000"/>
                </a:solidFill>
                <a:effectLst/>
                <a:latin typeface="+mj-lt"/>
              </a:rPr>
              <a:t>3 </a:t>
            </a:r>
            <a:r>
              <a:rPr lang="en-US" sz="2000" b="1" i="0" u="none" strike="noStrike" dirty="0" err="1">
                <a:solidFill>
                  <a:srgbClr val="000000"/>
                </a:solidFill>
                <a:effectLst/>
                <a:latin typeface="+mj-lt"/>
              </a:rPr>
              <a:t>Học</a:t>
            </a:r>
            <a:r>
              <a:rPr lang="en-US" sz="2000" b="1" i="0" u="none" strike="noStrike" dirty="0">
                <a:solidFill>
                  <a:srgbClr val="000000"/>
                </a:solidFill>
                <a:effectLst/>
                <a:latin typeface="+mj-lt"/>
              </a:rPr>
              <a:t> </a:t>
            </a:r>
            <a:r>
              <a:rPr lang="en-US" sz="2000" b="1" i="0" u="none" strike="noStrike" dirty="0" err="1">
                <a:solidFill>
                  <a:srgbClr val="000000"/>
                </a:solidFill>
                <a:effectLst/>
                <a:latin typeface="+mj-lt"/>
              </a:rPr>
              <a:t>bán</a:t>
            </a:r>
            <a:r>
              <a:rPr lang="en-US" sz="2000" b="1" i="0" u="none" strike="noStrike" dirty="0">
                <a:solidFill>
                  <a:srgbClr val="000000"/>
                </a:solidFill>
                <a:effectLst/>
                <a:latin typeface="+mj-lt"/>
              </a:rPr>
              <a:t> </a:t>
            </a:r>
            <a:r>
              <a:rPr lang="en-US" sz="2000" b="1" i="0" u="none" strike="noStrike" dirty="0" err="1">
                <a:solidFill>
                  <a:srgbClr val="000000"/>
                </a:solidFill>
                <a:effectLst/>
                <a:latin typeface="+mj-lt"/>
              </a:rPr>
              <a:t>giám</a:t>
            </a:r>
            <a:r>
              <a:rPr lang="en-US" sz="2000" b="1" i="0" u="none" strike="noStrike" dirty="0">
                <a:solidFill>
                  <a:srgbClr val="000000"/>
                </a:solidFill>
                <a:effectLst/>
                <a:latin typeface="+mj-lt"/>
              </a:rPr>
              <a:t> </a:t>
            </a:r>
            <a:r>
              <a:rPr lang="en-US" sz="2000" b="1" i="0" u="none" strike="noStrike" dirty="0" err="1">
                <a:solidFill>
                  <a:srgbClr val="000000"/>
                </a:solidFill>
                <a:effectLst/>
                <a:latin typeface="+mj-lt"/>
              </a:rPr>
              <a:t>sát</a:t>
            </a:r>
            <a:endParaRPr lang="en-US" sz="2000" b="1" i="0" u="none" strike="noStrike" dirty="0">
              <a:solidFill>
                <a:srgbClr val="000000"/>
              </a:solidFill>
              <a:effectLst/>
              <a:latin typeface="+mj-lt"/>
            </a:endParaRPr>
          </a:p>
          <a:p>
            <a:r>
              <a:rPr lang="en-US" sz="2000" dirty="0">
                <a:solidFill>
                  <a:srgbClr val="212529"/>
                </a:solidFill>
                <a:highlight>
                  <a:srgbClr val="FFFFFF"/>
                </a:highlight>
                <a:latin typeface="+mj-lt"/>
              </a:rPr>
              <a:t>- P</a:t>
            </a:r>
            <a:r>
              <a:rPr lang="vi-VN" sz="2000" b="0" i="0" dirty="0">
                <a:solidFill>
                  <a:srgbClr val="212529"/>
                </a:solidFill>
                <a:effectLst/>
                <a:highlight>
                  <a:srgbClr val="FFFFFF"/>
                </a:highlight>
                <a:latin typeface="+mj-lt"/>
              </a:rPr>
              <a:t>hương pháp học máy kết hợp học có giám sát và học không giám sát, tận dụng điểm mạnh của cả hai phương pháp để giải quyết các bài toán phức tạp. </a:t>
            </a:r>
            <a:endParaRPr lang="en-US" sz="2000" b="0" i="0" dirty="0">
              <a:solidFill>
                <a:srgbClr val="212529"/>
              </a:solidFill>
              <a:effectLst/>
              <a:highlight>
                <a:srgbClr val="FFFFFF"/>
              </a:highlight>
              <a:latin typeface="+mj-lt"/>
            </a:endParaRPr>
          </a:p>
          <a:p>
            <a:r>
              <a:rPr lang="en-US" sz="2000" dirty="0">
                <a:solidFill>
                  <a:srgbClr val="212529"/>
                </a:solidFill>
                <a:highlight>
                  <a:srgbClr val="FFFFFF"/>
                </a:highlight>
                <a:latin typeface="+mj-lt"/>
              </a:rPr>
              <a:t>- M</a:t>
            </a:r>
            <a:r>
              <a:rPr lang="vi-VN" sz="2000" b="0" i="0" dirty="0">
                <a:solidFill>
                  <a:srgbClr val="212529"/>
                </a:solidFill>
                <a:effectLst/>
                <a:highlight>
                  <a:srgbClr val="FFFFFF"/>
                </a:highlight>
                <a:latin typeface="+mj-lt"/>
              </a:rPr>
              <a:t>ô hình bắt đầu với một tập dữ liệu có nhãn nhỏ, giúp hướng dẫn phân loại và tạo ra các quyết định chính xác cho một số ít trường hợp. Sau đó, thuật toán tiếp tục sử dụng tập dữ liệu không nhãn lớn hơn để mở rộng và cải thiện khả năng tổng quát của mô hình.</a:t>
            </a:r>
            <a:endParaRPr lang="en-US" sz="2000" dirty="0">
              <a:solidFill>
                <a:srgbClr val="212529"/>
              </a:solidFill>
              <a:highlight>
                <a:srgbClr val="FFFFFF"/>
              </a:highlight>
              <a:latin typeface="+mj-lt"/>
            </a:endParaRPr>
          </a:p>
          <a:p>
            <a:endParaRPr lang="en-US" sz="2000" b="0" i="0" dirty="0">
              <a:solidFill>
                <a:srgbClr val="212529"/>
              </a:solidFill>
              <a:effectLst/>
              <a:highlight>
                <a:srgbClr val="FFFFFF"/>
              </a:highlight>
              <a:latin typeface="+mj-lt"/>
            </a:endParaRPr>
          </a:p>
          <a:p>
            <a:r>
              <a:rPr lang="en-US" sz="2000" b="1" dirty="0">
                <a:solidFill>
                  <a:srgbClr val="000000"/>
                </a:solidFill>
                <a:latin typeface="+mj-lt"/>
              </a:rPr>
              <a:t>2</a:t>
            </a:r>
            <a:r>
              <a:rPr lang="vi-VN" sz="2000" b="1" i="0" u="none" strike="noStrike" dirty="0">
                <a:solidFill>
                  <a:srgbClr val="000000"/>
                </a:solidFill>
                <a:effectLst/>
                <a:latin typeface="+mj-lt"/>
              </a:rPr>
              <a:t>.</a:t>
            </a:r>
            <a:r>
              <a:rPr lang="en-US" sz="2000" b="1" i="0" u="none" strike="noStrike" dirty="0">
                <a:solidFill>
                  <a:srgbClr val="000000"/>
                </a:solidFill>
                <a:effectLst/>
                <a:latin typeface="+mj-lt"/>
              </a:rPr>
              <a:t>4 </a:t>
            </a:r>
            <a:r>
              <a:rPr lang="en-US" sz="2000" b="1" i="0" u="none" strike="noStrike" dirty="0" err="1">
                <a:solidFill>
                  <a:srgbClr val="000000"/>
                </a:solidFill>
                <a:effectLst/>
                <a:latin typeface="+mj-lt"/>
              </a:rPr>
              <a:t>Học</a:t>
            </a:r>
            <a:r>
              <a:rPr lang="en-US" sz="2000" b="1" i="0" u="none" strike="noStrike" dirty="0">
                <a:solidFill>
                  <a:srgbClr val="000000"/>
                </a:solidFill>
                <a:effectLst/>
                <a:latin typeface="+mj-lt"/>
              </a:rPr>
              <a:t> </a:t>
            </a:r>
            <a:r>
              <a:rPr lang="en-US" sz="2000" b="1" i="0" u="none" strike="noStrike" dirty="0" err="1">
                <a:solidFill>
                  <a:srgbClr val="000000"/>
                </a:solidFill>
                <a:effectLst/>
                <a:latin typeface="+mj-lt"/>
              </a:rPr>
              <a:t>tăng</a:t>
            </a:r>
            <a:r>
              <a:rPr lang="en-US" sz="2000" b="1" i="0" u="none" strike="noStrike" dirty="0">
                <a:solidFill>
                  <a:srgbClr val="000000"/>
                </a:solidFill>
                <a:effectLst/>
                <a:latin typeface="+mj-lt"/>
              </a:rPr>
              <a:t> </a:t>
            </a:r>
            <a:r>
              <a:rPr lang="en-US" sz="2000" b="1" i="0" u="none" strike="noStrike" dirty="0" err="1">
                <a:solidFill>
                  <a:srgbClr val="000000"/>
                </a:solidFill>
                <a:effectLst/>
                <a:latin typeface="+mj-lt"/>
              </a:rPr>
              <a:t>cường</a:t>
            </a:r>
            <a:r>
              <a:rPr lang="en-US" sz="2000" b="1" i="0" u="none" strike="noStrike" dirty="0">
                <a:solidFill>
                  <a:srgbClr val="000000"/>
                </a:solidFill>
                <a:effectLst/>
                <a:latin typeface="+mj-lt"/>
              </a:rPr>
              <a:t> </a:t>
            </a:r>
          </a:p>
          <a:p>
            <a:r>
              <a:rPr lang="en-US" sz="2000" dirty="0">
                <a:solidFill>
                  <a:srgbClr val="212529"/>
                </a:solidFill>
                <a:highlight>
                  <a:srgbClr val="FFFFFF"/>
                </a:highlight>
                <a:latin typeface="+mj-lt"/>
              </a:rPr>
              <a:t>- P</a:t>
            </a:r>
            <a:r>
              <a:rPr lang="vi-VN" sz="2000" b="0" i="0" dirty="0">
                <a:solidFill>
                  <a:srgbClr val="212529"/>
                </a:solidFill>
                <a:effectLst/>
                <a:highlight>
                  <a:srgbClr val="FFFFFF"/>
                </a:highlight>
                <a:latin typeface="+mj-lt"/>
              </a:rPr>
              <a:t>hương pháp học máy, trong đó một hệ thống học cách hành động trong một môi trường thông qua việc thử nghiệm và rút kinh nghiệm. Mỗi lần hệ thống thực hiện một hành động, nó sẽ nhận được phản hồi từ môi trường dưới dạng phần thưởng hoặc hình phạt. </a:t>
            </a:r>
            <a:r>
              <a:rPr lang="en-US" sz="2000" b="0" i="0" dirty="0">
                <a:solidFill>
                  <a:srgbClr val="212529"/>
                </a:solidFill>
                <a:effectLst/>
                <a:highlight>
                  <a:srgbClr val="FFFFFF"/>
                </a:highlight>
                <a:latin typeface="+mj-lt"/>
                <a:sym typeface="Wingdings" panose="05000000000000000000" pitchFamily="2" charset="2"/>
              </a:rPr>
              <a:t> </a:t>
            </a:r>
            <a:r>
              <a:rPr lang="vi-VN" sz="2000" b="0" i="0" dirty="0">
                <a:solidFill>
                  <a:srgbClr val="212529"/>
                </a:solidFill>
                <a:effectLst/>
                <a:highlight>
                  <a:srgbClr val="FFFFFF"/>
                </a:highlight>
                <a:latin typeface="+mj-lt"/>
              </a:rPr>
              <a:t>Mục tiêu là học cách hành động sao cho nhận được phần thưởng nhiều nhất có thể trong suốt quá trình học.</a:t>
            </a:r>
            <a:endParaRPr lang="en-US" sz="2000" b="1" i="0" u="none" strike="noStrike" dirty="0">
              <a:solidFill>
                <a:srgbClr val="000000"/>
              </a:solidFill>
              <a:effectLst/>
              <a:latin typeface="+mj-lt"/>
            </a:endParaRPr>
          </a:p>
          <a:p>
            <a:endParaRPr lang="en-US" sz="2000" b="1" i="0" u="none" strike="noStrike" dirty="0">
              <a:solidFill>
                <a:srgbClr val="000000"/>
              </a:solidFill>
              <a:effectLst/>
              <a:latin typeface="+mj-lt"/>
            </a:endParaRPr>
          </a:p>
          <a:p>
            <a:endParaRPr lang="en-US" sz="2000" b="1" i="0" u="none" strike="noStrike" dirty="0">
              <a:solidFill>
                <a:srgbClr val="000000"/>
              </a:solidFill>
              <a:effectLst/>
              <a:latin typeface="+mj-lt"/>
            </a:endParaRPr>
          </a:p>
          <a:p>
            <a:endParaRPr lang="vi-VN" sz="2000" b="1" dirty="0">
              <a:effectLst/>
            </a:endParaRPr>
          </a:p>
          <a:p>
            <a:endParaRPr lang="vi-VN" sz="2000" b="0" i="0" u="none" strike="noStrike" dirty="0">
              <a:solidFill>
                <a:srgbClr val="000000"/>
              </a:solidFill>
              <a:effectLst/>
              <a:latin typeface="Arial" panose="020B0604020202020204" pitchFamily="34" charset="0"/>
            </a:endParaRPr>
          </a:p>
          <a:p>
            <a:pPr rtl="0">
              <a:spcBef>
                <a:spcPts val="1200"/>
              </a:spcBef>
              <a:spcAft>
                <a:spcPts val="1200"/>
              </a:spcAft>
            </a:pPr>
            <a:endParaRPr lang="en-US" sz="2000" i="0" u="none" strike="noStrike" dirty="0">
              <a:solidFill>
                <a:srgbClr val="000000"/>
              </a:solidFill>
              <a:latin typeface="Arial" panose="020B0604020202020204" pitchFamily="34" charset="0"/>
            </a:endParaRPr>
          </a:p>
          <a:p>
            <a:pPr rtl="0">
              <a:spcBef>
                <a:spcPts val="1200"/>
              </a:spcBef>
              <a:spcAft>
                <a:spcPts val="1200"/>
              </a:spcAft>
            </a:pPr>
            <a:endParaRPr lang="vi-VN" sz="2000" b="0" dirty="0">
              <a:effectLst/>
            </a:endParaRPr>
          </a:p>
          <a:p>
            <a:br>
              <a:rPr lang="vi-VN" sz="2000" dirty="0"/>
            </a:br>
            <a:endParaRPr lang="vi-VN" sz="2000" b="0" dirty="0">
              <a:effectLst/>
            </a:endParaRPr>
          </a:p>
          <a:p>
            <a:br>
              <a:rPr lang="vi-VN" sz="2000" dirty="0"/>
            </a:br>
            <a:endParaRPr lang="en-US" sz="2000" dirty="0"/>
          </a:p>
        </p:txBody>
      </p:sp>
    </p:spTree>
    <p:extLst>
      <p:ext uri="{BB962C8B-B14F-4D97-AF65-F5344CB8AC3E}">
        <p14:creationId xmlns:p14="http://schemas.microsoft.com/office/powerpoint/2010/main" val="3796277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460BD-2F9C-F002-9DEF-7EE6E7D09B4C}"/>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37890414-8E7F-BAE6-F06A-648AD6F808D7}"/>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4: SỬ DỤNG ML CƠ BẢN</a:t>
            </a:r>
            <a:endParaRPr lang="vi-VN" sz="2400" b="1" dirty="0">
              <a:solidFill>
                <a:schemeClr val="bg1"/>
              </a:solidFill>
              <a:effectLst/>
            </a:endParaRPr>
          </a:p>
        </p:txBody>
      </p:sp>
      <p:sp>
        <p:nvSpPr>
          <p:cNvPr id="6" name="TextBox 5">
            <a:extLst>
              <a:ext uri="{FF2B5EF4-FFF2-40B4-BE49-F238E27FC236}">
                <a16:creationId xmlns:a16="http://schemas.microsoft.com/office/drawing/2014/main" id="{B1D7481C-F7A5-6EA2-619E-B701EBFBD559}"/>
              </a:ext>
            </a:extLst>
          </p:cNvPr>
          <p:cNvSpPr txBox="1"/>
          <p:nvPr/>
        </p:nvSpPr>
        <p:spPr>
          <a:xfrm>
            <a:off x="423492" y="915243"/>
            <a:ext cx="10872132" cy="11126123"/>
          </a:xfrm>
          <a:prstGeom prst="rect">
            <a:avLst/>
          </a:prstGeom>
          <a:noFill/>
        </p:spPr>
        <p:txBody>
          <a:bodyPr wrap="square" rtlCol="0">
            <a:spAutoFit/>
          </a:bodyPr>
          <a:lstStyle/>
          <a:p>
            <a:pPr rtl="0">
              <a:spcBef>
                <a:spcPts val="2400"/>
              </a:spcBef>
              <a:spcAft>
                <a:spcPts val="600"/>
              </a:spcAft>
            </a:pPr>
            <a:r>
              <a:rPr lang="en-US" sz="2800" b="1" i="0" u="none" strike="noStrike" dirty="0">
                <a:solidFill>
                  <a:srgbClr val="000000"/>
                </a:solidFill>
                <a:effectLst/>
                <a:latin typeface="+mj-lt"/>
              </a:rPr>
              <a:t>4</a:t>
            </a:r>
            <a:r>
              <a:rPr lang="vi-VN" sz="2800" b="1" i="0" u="none" strike="noStrike" dirty="0">
                <a:solidFill>
                  <a:srgbClr val="000000"/>
                </a:solidFill>
                <a:effectLst/>
                <a:latin typeface="+mj-lt"/>
              </a:rPr>
              <a:t>. Các ứng dụng của </a:t>
            </a:r>
            <a:r>
              <a:rPr lang="en-US" sz="2800" b="1" dirty="0">
                <a:solidFill>
                  <a:srgbClr val="000000"/>
                </a:solidFill>
                <a:latin typeface="+mj-lt"/>
              </a:rPr>
              <a:t>Machine Learning </a:t>
            </a:r>
            <a:r>
              <a:rPr lang="vi-VN" sz="2800" b="1" i="0" u="none" strike="noStrike" dirty="0">
                <a:solidFill>
                  <a:srgbClr val="000000"/>
                </a:solidFill>
                <a:effectLst/>
                <a:latin typeface="+mj-lt"/>
              </a:rPr>
              <a:t>hiện nay</a:t>
            </a:r>
            <a:endParaRPr lang="en-US" sz="2800" b="1" i="0" u="none" strike="noStrike" dirty="0">
              <a:solidFill>
                <a:srgbClr val="000000"/>
              </a:solidFill>
              <a:effectLst/>
              <a:latin typeface="+mj-lt"/>
            </a:endParaRPr>
          </a:p>
          <a:p>
            <a:pPr rtl="0" fontAlgn="base">
              <a:spcBef>
                <a:spcPts val="1200"/>
              </a:spcBef>
              <a:spcAft>
                <a:spcPts val="0"/>
              </a:spcAft>
            </a:pPr>
            <a:r>
              <a:rPr lang="en-US" sz="2200" b="1" i="0" u="none" strike="noStrike" dirty="0">
                <a:solidFill>
                  <a:srgbClr val="000000"/>
                </a:solidFill>
                <a:effectLst/>
                <a:latin typeface="+mj-lt"/>
              </a:rPr>
              <a:t>-</a:t>
            </a:r>
            <a:r>
              <a:rPr lang="en-US" sz="2200" b="1" i="0" u="none" strike="noStrike" dirty="0" err="1">
                <a:solidFill>
                  <a:srgbClr val="000000"/>
                </a:solidFill>
                <a:effectLst/>
                <a:latin typeface="+mj-lt"/>
              </a:rPr>
              <a:t>Xử</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lý</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ngôn</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ngữ</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tự</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nhiên</a:t>
            </a:r>
            <a:r>
              <a:rPr lang="en-US" sz="2200" b="1" i="0" u="none" strike="noStrike" dirty="0">
                <a:solidFill>
                  <a:srgbClr val="000000"/>
                </a:solidFill>
                <a:effectLst/>
                <a:latin typeface="+mj-lt"/>
              </a:rPr>
              <a:t> (NLP)</a:t>
            </a:r>
          </a:p>
          <a:p>
            <a:pPr rtl="0" fontAlgn="base">
              <a:spcBef>
                <a:spcPts val="1200"/>
              </a:spcBef>
              <a:spcAft>
                <a:spcPts val="0"/>
              </a:spcAft>
            </a:pPr>
            <a:r>
              <a:rPr lang="en-US" i="0" u="none" strike="noStrike" dirty="0" err="1">
                <a:solidFill>
                  <a:srgbClr val="000000"/>
                </a:solidFill>
                <a:effectLst/>
                <a:latin typeface="+mj-lt"/>
              </a:rPr>
              <a:t>V</a:t>
            </a:r>
            <a:r>
              <a:rPr lang="en-US" dirty="0" err="1">
                <a:solidFill>
                  <a:srgbClr val="000000"/>
                </a:solidFill>
                <a:latin typeface="+mj-lt"/>
              </a:rPr>
              <a:t>í</a:t>
            </a:r>
            <a:r>
              <a:rPr lang="en-US" dirty="0">
                <a:solidFill>
                  <a:srgbClr val="000000"/>
                </a:solidFill>
                <a:latin typeface="+mj-lt"/>
              </a:rPr>
              <a:t> </a:t>
            </a:r>
            <a:r>
              <a:rPr lang="en-US" dirty="0" err="1">
                <a:solidFill>
                  <a:srgbClr val="000000"/>
                </a:solidFill>
                <a:latin typeface="+mj-lt"/>
              </a:rPr>
              <a:t>dụ</a:t>
            </a:r>
            <a:r>
              <a:rPr lang="en-US" dirty="0">
                <a:solidFill>
                  <a:srgbClr val="000000"/>
                </a:solidFill>
                <a:latin typeface="+mj-lt"/>
              </a:rPr>
              <a:t>: </a:t>
            </a:r>
            <a:r>
              <a:rPr lang="vi-VN" b="0" i="0" dirty="0">
                <a:solidFill>
                  <a:srgbClr val="212529"/>
                </a:solidFill>
                <a:effectLst/>
                <a:highlight>
                  <a:srgbClr val="FFFFFF"/>
                </a:highlight>
                <a:latin typeface="+mj-lt"/>
              </a:rPr>
              <a:t>Google Translate</a:t>
            </a:r>
            <a:r>
              <a:rPr lang="en-US" b="0" i="0" dirty="0">
                <a:solidFill>
                  <a:srgbClr val="212529"/>
                </a:solidFill>
                <a:effectLst/>
                <a:highlight>
                  <a:srgbClr val="FFFFFF"/>
                </a:highlight>
                <a:latin typeface="+mj-lt"/>
              </a:rPr>
              <a:t>, </a:t>
            </a:r>
            <a:r>
              <a:rPr lang="vi-VN" b="0" i="0" dirty="0">
                <a:solidFill>
                  <a:srgbClr val="212529"/>
                </a:solidFill>
                <a:effectLst/>
                <a:highlight>
                  <a:srgbClr val="FFFFFF"/>
                </a:highlight>
                <a:latin typeface="+mj-lt"/>
              </a:rPr>
              <a:t>Siri</a:t>
            </a:r>
            <a:r>
              <a:rPr lang="en-US" b="0" i="0" dirty="0">
                <a:solidFill>
                  <a:srgbClr val="212529"/>
                </a:solidFill>
                <a:effectLst/>
                <a:highlight>
                  <a:srgbClr val="FFFFFF"/>
                </a:highlight>
                <a:latin typeface="+mj-lt"/>
              </a:rPr>
              <a:t>,…</a:t>
            </a:r>
            <a:endParaRPr lang="en-US" dirty="0">
              <a:solidFill>
                <a:srgbClr val="000000"/>
              </a:solidFill>
              <a:latin typeface="+mj-lt"/>
            </a:endParaRPr>
          </a:p>
          <a:p>
            <a:pPr rtl="0" fontAlgn="base">
              <a:spcBef>
                <a:spcPts val="1200"/>
              </a:spcBef>
              <a:spcAft>
                <a:spcPts val="0"/>
              </a:spcAft>
            </a:pPr>
            <a:r>
              <a:rPr lang="en-US" sz="2200" b="1" dirty="0">
                <a:solidFill>
                  <a:srgbClr val="000000"/>
                </a:solidFill>
                <a:latin typeface="+mj-lt"/>
              </a:rPr>
              <a:t>- </a:t>
            </a:r>
            <a:r>
              <a:rPr lang="en-US" sz="2200" b="1" i="0" u="none" strike="noStrike" dirty="0">
                <a:solidFill>
                  <a:srgbClr val="000000"/>
                </a:solidFill>
                <a:effectLst/>
                <a:latin typeface="+mj-lt"/>
              </a:rPr>
              <a:t>Y </a:t>
            </a:r>
            <a:r>
              <a:rPr lang="en-US" sz="2200" b="1" i="0" u="none" strike="noStrike" dirty="0" err="1">
                <a:solidFill>
                  <a:srgbClr val="000000"/>
                </a:solidFill>
                <a:effectLst/>
                <a:latin typeface="+mj-lt"/>
              </a:rPr>
              <a:t>tế</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và</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chăm</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sóc</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sức</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khỏe</a:t>
            </a:r>
            <a:endParaRPr lang="en-US" sz="2200" b="1" i="0" u="none" strike="noStrike" dirty="0">
              <a:solidFill>
                <a:srgbClr val="000000"/>
              </a:solidFill>
              <a:effectLst/>
              <a:latin typeface="+mj-lt"/>
            </a:endParaRPr>
          </a:p>
          <a:p>
            <a:pPr rtl="0" fontAlgn="base">
              <a:spcBef>
                <a:spcPts val="1200"/>
              </a:spcBef>
              <a:spcAft>
                <a:spcPts val="0"/>
              </a:spcAft>
            </a:pPr>
            <a:r>
              <a:rPr lang="en-US" sz="1800" b="0" i="0" u="none" strike="noStrike" dirty="0" err="1">
                <a:solidFill>
                  <a:srgbClr val="000000"/>
                </a:solidFill>
                <a:effectLst/>
                <a:latin typeface="+mj-lt"/>
              </a:rPr>
              <a:t>Ví</a:t>
            </a:r>
            <a:r>
              <a:rPr lang="en-US" sz="1800" b="0" i="0" u="none" strike="noStrike" dirty="0">
                <a:solidFill>
                  <a:srgbClr val="000000"/>
                </a:solidFill>
                <a:effectLst/>
                <a:latin typeface="+mj-lt"/>
              </a:rPr>
              <a:t> </a:t>
            </a:r>
            <a:r>
              <a:rPr lang="en-US" sz="1800" b="0" i="0" u="none" strike="noStrike" dirty="0" err="1">
                <a:solidFill>
                  <a:srgbClr val="000000"/>
                </a:solidFill>
                <a:effectLst/>
                <a:latin typeface="+mj-lt"/>
              </a:rPr>
              <a:t>dụ</a:t>
            </a:r>
            <a:r>
              <a:rPr lang="en-US" sz="1800" b="0" i="0" u="none" strike="noStrike" dirty="0">
                <a:solidFill>
                  <a:srgbClr val="000000"/>
                </a:solidFill>
                <a:effectLst/>
                <a:latin typeface="+mj-lt"/>
              </a:rPr>
              <a:t>: </a:t>
            </a:r>
            <a:r>
              <a:rPr lang="vi-VN" dirty="0">
                <a:latin typeface="+mj-lt"/>
              </a:rPr>
              <a:t>X-ray, CT, MRI</a:t>
            </a:r>
            <a:endParaRPr lang="en-US" dirty="0">
              <a:latin typeface="+mj-lt"/>
            </a:endParaRPr>
          </a:p>
          <a:p>
            <a:pPr rtl="0" fontAlgn="base">
              <a:spcBef>
                <a:spcPts val="1200"/>
              </a:spcBef>
              <a:spcAft>
                <a:spcPts val="0"/>
              </a:spcAft>
            </a:pPr>
            <a:r>
              <a:rPr lang="en-US" sz="2200" b="1" i="0" u="none" strike="noStrike" dirty="0">
                <a:solidFill>
                  <a:srgbClr val="000000"/>
                </a:solidFill>
                <a:latin typeface="+mj-lt"/>
              </a:rPr>
              <a:t>- </a:t>
            </a:r>
            <a:r>
              <a:rPr lang="vi-VN" sz="2200" b="1" i="0" dirty="0">
                <a:solidFill>
                  <a:srgbClr val="212529"/>
                </a:solidFill>
                <a:effectLst/>
                <a:highlight>
                  <a:srgbClr val="FFFFFF"/>
                </a:highlight>
                <a:latin typeface="+mj-lt"/>
              </a:rPr>
              <a:t>An ninh mạng</a:t>
            </a:r>
            <a:endParaRPr lang="en-US" sz="2200" b="1" i="0" u="none" strike="noStrike" dirty="0">
              <a:solidFill>
                <a:srgbClr val="000000"/>
              </a:solidFill>
              <a:effectLst/>
              <a:latin typeface="+mj-lt"/>
            </a:endParaRPr>
          </a:p>
          <a:p>
            <a:pPr rtl="0" fontAlgn="base">
              <a:spcBef>
                <a:spcPts val="1200"/>
              </a:spcBef>
              <a:spcAft>
                <a:spcPts val="0"/>
              </a:spcAft>
            </a:pPr>
            <a:r>
              <a:rPr lang="en-US" dirty="0" err="1">
                <a:solidFill>
                  <a:srgbClr val="000000"/>
                </a:solidFill>
                <a:latin typeface="+mj-lt"/>
              </a:rPr>
              <a:t>Ví</a:t>
            </a:r>
            <a:r>
              <a:rPr lang="en-US" dirty="0">
                <a:solidFill>
                  <a:srgbClr val="000000"/>
                </a:solidFill>
                <a:latin typeface="+mj-lt"/>
              </a:rPr>
              <a:t> </a:t>
            </a:r>
            <a:r>
              <a:rPr lang="en-US" dirty="0" err="1">
                <a:solidFill>
                  <a:srgbClr val="000000"/>
                </a:solidFill>
                <a:latin typeface="+mj-lt"/>
              </a:rPr>
              <a:t>dụ</a:t>
            </a:r>
            <a:r>
              <a:rPr lang="en-US" dirty="0">
                <a:solidFill>
                  <a:srgbClr val="000000"/>
                </a:solidFill>
                <a:latin typeface="+mj-lt"/>
              </a:rPr>
              <a:t>: </a:t>
            </a:r>
            <a:r>
              <a:rPr lang="en-US" dirty="0">
                <a:solidFill>
                  <a:srgbClr val="212529"/>
                </a:solidFill>
                <a:highlight>
                  <a:srgbClr val="FFFFFF"/>
                </a:highlight>
                <a:latin typeface="+mj-lt"/>
              </a:rPr>
              <a:t>N</a:t>
            </a:r>
            <a:r>
              <a:rPr lang="vi-VN" b="0" i="0" dirty="0">
                <a:solidFill>
                  <a:srgbClr val="212529"/>
                </a:solidFill>
                <a:effectLst/>
                <a:highlight>
                  <a:srgbClr val="FFFFFF"/>
                </a:highlight>
                <a:latin typeface="+mj-lt"/>
              </a:rPr>
              <a:t>hận diện các dấu hiệu tấn công, bảo vệ dữ liệu và ngăn ngừa các cuộc tấn công mạng</a:t>
            </a:r>
            <a:endParaRPr lang="en-US" dirty="0">
              <a:solidFill>
                <a:srgbClr val="000000"/>
              </a:solidFill>
              <a:latin typeface="+mj-lt"/>
            </a:endParaRPr>
          </a:p>
          <a:p>
            <a:pPr rtl="0" fontAlgn="base">
              <a:spcBef>
                <a:spcPts val="1200"/>
              </a:spcBef>
              <a:spcAft>
                <a:spcPts val="0"/>
              </a:spcAft>
            </a:pPr>
            <a:r>
              <a:rPr lang="en-US" sz="2200" b="1" dirty="0">
                <a:solidFill>
                  <a:srgbClr val="000000"/>
                </a:solidFill>
                <a:latin typeface="+mj-lt"/>
              </a:rPr>
              <a:t>- </a:t>
            </a:r>
            <a:r>
              <a:rPr lang="vi-VN" sz="2200" b="1" i="0" dirty="0">
                <a:solidFill>
                  <a:srgbClr val="212529"/>
                </a:solidFill>
                <a:effectLst/>
                <a:highlight>
                  <a:srgbClr val="FFFFFF"/>
                </a:highlight>
                <a:latin typeface="+mj-lt"/>
              </a:rPr>
              <a:t>Tiếp thị và quảng cáo:</a:t>
            </a:r>
            <a:endParaRPr lang="en-US" sz="2200" dirty="0">
              <a:solidFill>
                <a:srgbClr val="000000"/>
              </a:solidFill>
              <a:latin typeface="+mj-lt"/>
            </a:endParaRPr>
          </a:p>
          <a:p>
            <a:pPr rtl="0" fontAlgn="base">
              <a:spcBef>
                <a:spcPts val="1200"/>
              </a:spcBef>
              <a:spcAft>
                <a:spcPts val="0"/>
              </a:spcAft>
            </a:pPr>
            <a:r>
              <a:rPr lang="en-US" dirty="0" err="1">
                <a:solidFill>
                  <a:srgbClr val="000000"/>
                </a:solidFill>
                <a:latin typeface="+mj-lt"/>
              </a:rPr>
              <a:t>Ví</a:t>
            </a:r>
            <a:r>
              <a:rPr lang="en-US" dirty="0">
                <a:solidFill>
                  <a:srgbClr val="000000"/>
                </a:solidFill>
                <a:latin typeface="+mj-lt"/>
              </a:rPr>
              <a:t> </a:t>
            </a:r>
            <a:r>
              <a:rPr lang="en-US" dirty="0" err="1">
                <a:solidFill>
                  <a:srgbClr val="000000"/>
                </a:solidFill>
                <a:latin typeface="+mj-lt"/>
              </a:rPr>
              <a:t>dụ</a:t>
            </a:r>
            <a:r>
              <a:rPr lang="en-US" dirty="0">
                <a:solidFill>
                  <a:srgbClr val="000000"/>
                </a:solidFill>
                <a:latin typeface="+mj-lt"/>
              </a:rPr>
              <a:t>: </a:t>
            </a:r>
            <a:r>
              <a:rPr lang="vi-VN" b="0" i="0" dirty="0">
                <a:solidFill>
                  <a:srgbClr val="212529"/>
                </a:solidFill>
                <a:effectLst/>
                <a:highlight>
                  <a:srgbClr val="FFFFFF"/>
                </a:highlight>
                <a:latin typeface="+mj-lt"/>
              </a:rPr>
              <a:t>phân tích hành vi khách hàng và tối ưu hóa chiến lược tiếp thị</a:t>
            </a:r>
            <a:endParaRPr lang="en-US" dirty="0">
              <a:solidFill>
                <a:srgbClr val="000000"/>
              </a:solidFill>
              <a:latin typeface="+mj-lt"/>
            </a:endParaRPr>
          </a:p>
          <a:p>
            <a:pPr rtl="0" fontAlgn="base">
              <a:spcBef>
                <a:spcPts val="1200"/>
              </a:spcBef>
              <a:spcAft>
                <a:spcPts val="0"/>
              </a:spcAft>
            </a:pPr>
            <a:r>
              <a:rPr lang="en-US" sz="2200" b="1" dirty="0">
                <a:solidFill>
                  <a:srgbClr val="000000"/>
                </a:solidFill>
                <a:latin typeface="+mj-lt"/>
              </a:rPr>
              <a:t>- </a:t>
            </a:r>
            <a:r>
              <a:rPr lang="vi-VN" sz="2200" b="1" i="0" dirty="0">
                <a:solidFill>
                  <a:srgbClr val="212529"/>
                </a:solidFill>
                <a:effectLst/>
                <a:highlight>
                  <a:srgbClr val="FFFFFF"/>
                </a:highlight>
                <a:latin typeface="+mj-lt"/>
              </a:rPr>
              <a:t>Dịch vụ khách hàng và chatbot:</a:t>
            </a:r>
            <a:endParaRPr lang="en-US" sz="2200" b="1" dirty="0">
              <a:solidFill>
                <a:srgbClr val="000000"/>
              </a:solidFill>
              <a:latin typeface="+mj-lt"/>
            </a:endParaRPr>
          </a:p>
          <a:p>
            <a:pPr rtl="0" fontAlgn="base">
              <a:spcBef>
                <a:spcPts val="0"/>
              </a:spcBef>
              <a:spcAft>
                <a:spcPts val="0"/>
              </a:spcAft>
            </a:pPr>
            <a:r>
              <a:rPr lang="en-US" dirty="0" err="1">
                <a:solidFill>
                  <a:srgbClr val="000000"/>
                </a:solidFill>
                <a:latin typeface="+mj-lt"/>
              </a:rPr>
              <a:t>Ví</a:t>
            </a:r>
            <a:r>
              <a:rPr lang="en-US" dirty="0">
                <a:solidFill>
                  <a:srgbClr val="000000"/>
                </a:solidFill>
                <a:latin typeface="+mj-lt"/>
              </a:rPr>
              <a:t> </a:t>
            </a:r>
            <a:r>
              <a:rPr lang="en-US" dirty="0" err="1">
                <a:solidFill>
                  <a:srgbClr val="000000"/>
                </a:solidFill>
                <a:latin typeface="+mj-lt"/>
              </a:rPr>
              <a:t>dụ</a:t>
            </a:r>
            <a:r>
              <a:rPr lang="en-US" dirty="0">
                <a:solidFill>
                  <a:srgbClr val="000000"/>
                </a:solidFill>
                <a:latin typeface="+mj-lt"/>
              </a:rPr>
              <a:t>: Chatbot </a:t>
            </a:r>
            <a:r>
              <a:rPr lang="en-US" dirty="0" err="1">
                <a:solidFill>
                  <a:srgbClr val="000000"/>
                </a:solidFill>
                <a:latin typeface="+mj-lt"/>
              </a:rPr>
              <a:t>và</a:t>
            </a:r>
            <a:r>
              <a:rPr lang="en-US" dirty="0">
                <a:solidFill>
                  <a:srgbClr val="000000"/>
                </a:solidFill>
                <a:latin typeface="+mj-lt"/>
              </a:rPr>
              <a:t> </a:t>
            </a:r>
            <a:r>
              <a:rPr lang="en-US" dirty="0" err="1">
                <a:solidFill>
                  <a:srgbClr val="000000"/>
                </a:solidFill>
                <a:latin typeface="+mj-lt"/>
              </a:rPr>
              <a:t>trợ</a:t>
            </a:r>
            <a:r>
              <a:rPr lang="en-US" dirty="0">
                <a:solidFill>
                  <a:srgbClr val="000000"/>
                </a:solidFill>
                <a:latin typeface="+mj-lt"/>
              </a:rPr>
              <a:t> </a:t>
            </a:r>
            <a:r>
              <a:rPr lang="en-US" dirty="0" err="1">
                <a:solidFill>
                  <a:srgbClr val="000000"/>
                </a:solidFill>
                <a:latin typeface="+mj-lt"/>
              </a:rPr>
              <a:t>lý</a:t>
            </a:r>
            <a:r>
              <a:rPr lang="en-US" dirty="0">
                <a:solidFill>
                  <a:srgbClr val="000000"/>
                </a:solidFill>
                <a:latin typeface="+mj-lt"/>
              </a:rPr>
              <a:t> </a:t>
            </a:r>
            <a:r>
              <a:rPr lang="en-US" dirty="0" err="1">
                <a:solidFill>
                  <a:srgbClr val="000000"/>
                </a:solidFill>
                <a:latin typeface="+mj-lt"/>
              </a:rPr>
              <a:t>ảo</a:t>
            </a:r>
            <a:endParaRPr lang="vi-VN" sz="1800" b="0" i="0" u="none" strike="noStrike" dirty="0">
              <a:solidFill>
                <a:srgbClr val="000000"/>
              </a:solidFill>
              <a:effectLst/>
              <a:latin typeface="+mj-lt"/>
            </a:endParaRPr>
          </a:p>
          <a:p>
            <a:pPr>
              <a:spcBef>
                <a:spcPts val="1200"/>
              </a:spcBef>
              <a:spcAft>
                <a:spcPts val="1200"/>
              </a:spcAft>
            </a:pPr>
            <a:endParaRPr lang="vi-VN" sz="2200" b="1" dirty="0">
              <a:effectLst/>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1147776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343F2-7B45-7C0B-939A-F2623F785E2F}"/>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A5290612-2016-6CB5-2BBA-5EA1D73E8070}"/>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4: SỬ DỤNG ML CƠ BẢN</a:t>
            </a:r>
            <a:endParaRPr lang="vi-VN" sz="2400" b="1" dirty="0">
              <a:solidFill>
                <a:schemeClr val="bg1"/>
              </a:solidFill>
              <a:effectLst/>
            </a:endParaRPr>
          </a:p>
        </p:txBody>
      </p:sp>
      <p:sp>
        <p:nvSpPr>
          <p:cNvPr id="6" name="TextBox 5">
            <a:extLst>
              <a:ext uri="{FF2B5EF4-FFF2-40B4-BE49-F238E27FC236}">
                <a16:creationId xmlns:a16="http://schemas.microsoft.com/office/drawing/2014/main" id="{2FD658B2-3BCA-852B-994C-32ABB16B66B8}"/>
              </a:ext>
            </a:extLst>
          </p:cNvPr>
          <p:cNvSpPr txBox="1"/>
          <p:nvPr/>
        </p:nvSpPr>
        <p:spPr>
          <a:xfrm>
            <a:off x="465825" y="1025309"/>
            <a:ext cx="10872132" cy="11182548"/>
          </a:xfrm>
          <a:prstGeom prst="rect">
            <a:avLst/>
          </a:prstGeom>
          <a:noFill/>
        </p:spPr>
        <p:txBody>
          <a:bodyPr wrap="square" rtlCol="0">
            <a:spAutoFit/>
          </a:bodyPr>
          <a:lstStyle/>
          <a:p>
            <a:pPr rtl="0">
              <a:spcBef>
                <a:spcPts val="2400"/>
              </a:spcBef>
              <a:spcAft>
                <a:spcPts val="600"/>
              </a:spcAft>
            </a:pPr>
            <a:r>
              <a:rPr lang="en-US" sz="2800" b="1" dirty="0">
                <a:solidFill>
                  <a:srgbClr val="000000"/>
                </a:solidFill>
                <a:latin typeface="Arial" panose="020B0604020202020204" pitchFamily="34" charset="0"/>
              </a:rPr>
              <a:t>5</a:t>
            </a:r>
            <a:r>
              <a:rPr lang="vi-VN" sz="2800" b="1" i="0" u="none" strike="noStrike" dirty="0">
                <a:solidFill>
                  <a:srgbClr val="000000"/>
                </a:solidFill>
                <a:effectLst/>
                <a:latin typeface="Arial" panose="020B0604020202020204" pitchFamily="34" charset="0"/>
              </a:rPr>
              <a:t>. </a:t>
            </a:r>
            <a:r>
              <a:rPr lang="en-US" sz="2800" b="1" dirty="0" err="1">
                <a:solidFill>
                  <a:srgbClr val="000000"/>
                </a:solidFill>
                <a:latin typeface="Arial" panose="020B0604020202020204" pitchFamily="34" charset="0"/>
              </a:rPr>
              <a:t>Áp</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dụng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vào</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đề</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tài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nhận</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dạng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cảm</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xúc</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người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học</a:t>
            </a:r>
            <a:endParaRPr lang="vi-VN" sz="2800" b="1" dirty="0">
              <a:effectLst/>
            </a:endParaRPr>
          </a:p>
          <a:p>
            <a:pPr rtl="0" fontAlgn="base">
              <a:spcBef>
                <a:spcPts val="1200"/>
              </a:spcBef>
              <a:spcAft>
                <a:spcPts val="0"/>
              </a:spcAft>
            </a:pPr>
            <a:r>
              <a:rPr lang="en-US" sz="2200" b="1" i="0" u="none" strike="noStrike" dirty="0">
                <a:solidFill>
                  <a:srgbClr val="000000"/>
                </a:solidFill>
                <a:effectLst/>
                <a:latin typeface="Arial" panose="020B0604020202020204" pitchFamily="34" charset="0"/>
              </a:rPr>
              <a:t>3.1 </a:t>
            </a:r>
            <a:r>
              <a:rPr lang="en-US" sz="2200" b="1" i="0" u="none" strike="noStrike" dirty="0" err="1">
                <a:solidFill>
                  <a:srgbClr val="000000"/>
                </a:solidFill>
                <a:effectLst/>
                <a:latin typeface="Arial" panose="020B0604020202020204" pitchFamily="34" charset="0"/>
              </a:rPr>
              <a:t>Mục</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tiêu</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000" dirty="0" err="1">
                <a:solidFill>
                  <a:srgbClr val="000000"/>
                </a:solidFill>
                <a:latin typeface="Arial" panose="020B0604020202020204" pitchFamily="34" charset="0"/>
              </a:rPr>
              <a:t>Xây</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dựng</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hệ</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thống</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Ảnh</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hoặc</a:t>
            </a:r>
            <a:r>
              <a:rPr lang="en-US" sz="2000" dirty="0">
                <a:solidFill>
                  <a:srgbClr val="000000"/>
                </a:solidFill>
                <a:latin typeface="Arial" panose="020B0604020202020204" pitchFamily="34" charset="0"/>
              </a:rPr>
              <a:t> video </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Phát</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hiện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khuôn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mặt</a:t>
            </a:r>
            <a:r>
              <a:rPr lang="en-US" sz="2000" dirty="0">
                <a:solidFill>
                  <a:srgbClr val="000000"/>
                </a:solidFill>
                <a:latin typeface="Arial" panose="020B0604020202020204" pitchFamily="34" charset="0"/>
                <a:sym typeface="Wingdings" panose="05000000000000000000" pitchFamily="2" charset="2"/>
              </a:rPr>
              <a:t>  </a:t>
            </a:r>
            <a:r>
              <a:rPr lang="en-US" sz="2000" dirty="0" err="1">
                <a:solidFill>
                  <a:srgbClr val="000000"/>
                </a:solidFill>
                <a:latin typeface="Arial" panose="020B0604020202020204" pitchFamily="34" charset="0"/>
                <a:sym typeface="Wingdings" panose="05000000000000000000" pitchFamily="2" charset="2"/>
              </a:rPr>
              <a:t>Nhận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dạng</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cảm</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xúc</a:t>
            </a:r>
            <a:r>
              <a:rPr lang="en-US" sz="2000" dirty="0">
                <a:solidFill>
                  <a:srgbClr val="000000"/>
                </a:solidFill>
                <a:latin typeface="Arial" panose="020B0604020202020204" pitchFamily="34" charset="0"/>
                <a:sym typeface="Wingdings" panose="05000000000000000000" pitchFamily="2" charset="2"/>
              </a:rPr>
              <a:t>  </a:t>
            </a:r>
            <a:r>
              <a:rPr lang="en-US" sz="2000" dirty="0" err="1">
                <a:solidFill>
                  <a:srgbClr val="000000"/>
                </a:solidFill>
                <a:latin typeface="Arial" panose="020B0604020202020204" pitchFamily="34" charset="0"/>
                <a:sym typeface="Wingdings" panose="05000000000000000000" pitchFamily="2" charset="2"/>
              </a:rPr>
              <a:t>Thống</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kê</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mức</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độ</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cảm</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xúc</a:t>
            </a:r>
            <a:endParaRPr lang="en-US" sz="2000" dirty="0">
              <a:solidFill>
                <a:srgbClr val="000000"/>
              </a:solidFill>
              <a:latin typeface="Arial" panose="020B0604020202020204" pitchFamily="34" charset="0"/>
              <a:sym typeface="Wingdings" panose="05000000000000000000" pitchFamily="2" charset="2"/>
            </a:endParaRPr>
          </a:p>
          <a:p>
            <a:pPr rtl="0" fontAlgn="base">
              <a:spcBef>
                <a:spcPts val="1200"/>
              </a:spcBef>
              <a:spcAft>
                <a:spcPts val="0"/>
              </a:spcAft>
            </a:pPr>
            <a:r>
              <a:rPr lang="en-US" sz="2200" b="1" dirty="0">
                <a:solidFill>
                  <a:srgbClr val="000000"/>
                </a:solidFill>
                <a:latin typeface="Arial" panose="020B0604020202020204" pitchFamily="34" charset="0"/>
                <a:sym typeface="Wingdings" panose="05000000000000000000" pitchFamily="2" charset="2"/>
              </a:rPr>
              <a:t>3.2 </a:t>
            </a:r>
            <a:r>
              <a:rPr lang="en-US" sz="2200" b="1" dirty="0" err="1">
                <a:solidFill>
                  <a:srgbClr val="000000"/>
                </a:solidFill>
                <a:latin typeface="Arial" panose="020B0604020202020204" pitchFamily="34" charset="0"/>
                <a:sym typeface="Wingdings" panose="05000000000000000000" pitchFamily="2" charset="2"/>
              </a:rPr>
              <a:t>Triển</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khai</a:t>
            </a:r>
            <a:endParaRPr lang="en-US" sz="2200" b="1" dirty="0">
              <a:solidFill>
                <a:srgbClr val="000000"/>
              </a:solidFill>
              <a:latin typeface="Arial" panose="020B0604020202020204" pitchFamily="34" charset="0"/>
              <a:sym typeface="Wingdings" panose="05000000000000000000" pitchFamily="2" charset="2"/>
            </a:endParaRPr>
          </a:p>
          <a:p>
            <a:pPr>
              <a:spcBef>
                <a:spcPts val="1800"/>
              </a:spcBef>
              <a:spcAft>
                <a:spcPts val="400"/>
              </a:spcAft>
            </a:pPr>
            <a:r>
              <a:rPr lang="vi-VN" sz="2000" i="0" u="none" strike="noStrike" dirty="0">
                <a:solidFill>
                  <a:srgbClr val="000000"/>
                </a:solidFill>
                <a:effectLst/>
                <a:latin typeface="Arial" panose="020B0604020202020204" pitchFamily="34" charset="0"/>
              </a:rPr>
              <a:t>Bước 1. Thu thập dữ liệu</a:t>
            </a:r>
            <a:r>
              <a:rPr lang="en-US" sz="2000" i="0" u="none" strike="noStrike" dirty="0">
                <a:solidFill>
                  <a:srgbClr val="000000"/>
                </a:solidFill>
                <a:effectLst/>
                <a:latin typeface="Arial" panose="020B0604020202020204" pitchFamily="34" charset="0"/>
              </a:rPr>
              <a:t>                                             </a:t>
            </a:r>
            <a:r>
              <a:rPr lang="vi-VN" sz="2000" i="0" u="none" strike="noStrike" dirty="0">
                <a:solidFill>
                  <a:srgbClr val="000000"/>
                </a:solidFill>
                <a:effectLst/>
                <a:latin typeface="Arial" panose="020B0604020202020204" pitchFamily="34" charset="0"/>
              </a:rPr>
              <a:t>Bước 5. Đánh giá</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mô</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hình</a:t>
            </a:r>
            <a:endParaRPr lang="vi-VN" sz="2000" dirty="0">
              <a:effectLst/>
            </a:endParaRPr>
          </a:p>
          <a:p>
            <a:pPr>
              <a:spcBef>
                <a:spcPts val="1800"/>
              </a:spcBef>
              <a:spcAft>
                <a:spcPts val="400"/>
              </a:spcAft>
            </a:pPr>
            <a:r>
              <a:rPr lang="vi-VN" sz="2000" i="0" u="none" strike="noStrike" dirty="0">
                <a:solidFill>
                  <a:srgbClr val="000000"/>
                </a:solidFill>
                <a:effectLst/>
                <a:latin typeface="Arial" panose="020B0604020202020204" pitchFamily="34" charset="0"/>
              </a:rPr>
              <a:t>Bước 2. Tiền xử lý dữ liệu</a:t>
            </a:r>
            <a:r>
              <a:rPr lang="en-US" sz="2000" i="0" u="none" strike="noStrike" dirty="0">
                <a:solidFill>
                  <a:srgbClr val="000000"/>
                </a:solidFill>
                <a:effectLst/>
                <a:latin typeface="Arial" panose="020B0604020202020204" pitchFamily="34" charset="0"/>
              </a:rPr>
              <a:t>                                            </a:t>
            </a:r>
            <a:r>
              <a:rPr lang="vi-VN" sz="2000" i="0" u="none" strike="noStrike" dirty="0">
                <a:solidFill>
                  <a:srgbClr val="000000"/>
                </a:solidFill>
                <a:effectLst/>
                <a:latin typeface="Arial" panose="020B0604020202020204" pitchFamily="34" charset="0"/>
              </a:rPr>
              <a:t>Bước 6. Triển khai thời gian thực</a:t>
            </a:r>
            <a:endParaRPr lang="vi-VN" sz="2000" dirty="0">
              <a:effectLst/>
            </a:endParaRPr>
          </a:p>
          <a:p>
            <a:pPr rtl="0">
              <a:spcBef>
                <a:spcPts val="1800"/>
              </a:spcBef>
              <a:spcAft>
                <a:spcPts val="400"/>
              </a:spcAft>
            </a:pPr>
            <a:r>
              <a:rPr lang="vi-VN" sz="2000" i="0" u="none" strike="noStrike" dirty="0">
                <a:solidFill>
                  <a:srgbClr val="000000"/>
                </a:solidFill>
                <a:effectLst/>
                <a:latin typeface="Arial" panose="020B0604020202020204" pitchFamily="34" charset="0"/>
              </a:rPr>
              <a:t>Bước 3. </a:t>
            </a:r>
            <a:r>
              <a:rPr lang="en-US" sz="2000" i="0" u="none" strike="noStrike" dirty="0" err="1">
                <a:solidFill>
                  <a:srgbClr val="000000"/>
                </a:solidFill>
                <a:effectLst/>
                <a:latin typeface="Arial" panose="020B0604020202020204" pitchFamily="34" charset="0"/>
              </a:rPr>
              <a:t>Phát</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hiện</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khuôn</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mặt</a:t>
            </a:r>
            <a:r>
              <a:rPr lang="en-US" sz="2000" dirty="0">
                <a:solidFill>
                  <a:srgbClr val="000000"/>
                </a:solidFill>
                <a:latin typeface="Arial" panose="020B0604020202020204" pitchFamily="34" charset="0"/>
              </a:rPr>
              <a:t> --&gt; </a:t>
            </a:r>
            <a:r>
              <a:rPr lang="en-US" sz="2000" dirty="0" err="1">
                <a:solidFill>
                  <a:srgbClr val="000000"/>
                </a:solidFill>
                <a:latin typeface="Arial" panose="020B0604020202020204" pitchFamily="34" charset="0"/>
              </a:rPr>
              <a:t>Trích</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xuất</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đặc</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trưng</a:t>
            </a:r>
            <a:r>
              <a:rPr lang="en-US" sz="2000" i="0" u="none" strike="noStrike" dirty="0">
                <a:solidFill>
                  <a:srgbClr val="000000"/>
                </a:solidFill>
                <a:effectLst/>
                <a:latin typeface="Arial" panose="020B0604020202020204" pitchFamily="34" charset="0"/>
              </a:rPr>
              <a:t>                        </a:t>
            </a:r>
            <a:endParaRPr lang="vi-VN" sz="2000" dirty="0">
              <a:effectLst/>
            </a:endParaRPr>
          </a:p>
          <a:p>
            <a:pPr rtl="0">
              <a:spcBef>
                <a:spcPts val="1800"/>
              </a:spcBef>
              <a:spcAft>
                <a:spcPts val="400"/>
              </a:spcAft>
            </a:pPr>
            <a:r>
              <a:rPr lang="vi-VN" sz="2000" i="0" u="none" strike="noStrike" dirty="0">
                <a:solidFill>
                  <a:srgbClr val="000000"/>
                </a:solidFill>
                <a:effectLst/>
                <a:latin typeface="Arial" panose="020B0604020202020204" pitchFamily="34" charset="0"/>
              </a:rPr>
              <a:t>Bước 4. Huấn luyện</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mô</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hình</a:t>
            </a:r>
            <a:endParaRPr lang="en-US" sz="2000" i="0" u="none" strike="noStrike" dirty="0">
              <a:solidFill>
                <a:srgbClr val="000000"/>
              </a:solidFill>
              <a:effectLst/>
              <a:latin typeface="Arial" panose="020B0604020202020204" pitchFamily="34" charset="0"/>
            </a:endParaRPr>
          </a:p>
          <a:p>
            <a:pPr rtl="0">
              <a:spcBef>
                <a:spcPts val="1800"/>
              </a:spcBef>
              <a:spcAft>
                <a:spcPts val="400"/>
              </a:spcAft>
            </a:pPr>
            <a:endParaRPr lang="vi-VN" sz="2000" dirty="0">
              <a:effectLst/>
            </a:endParaRPr>
          </a:p>
          <a:p>
            <a:pPr rtl="0" fontAlgn="base">
              <a:spcBef>
                <a:spcPts val="1200"/>
              </a:spcBef>
              <a:spcAft>
                <a:spcPts val="0"/>
              </a:spcAft>
            </a:pPr>
            <a:r>
              <a:rPr lang="en-US" sz="2000" dirty="0">
                <a:solidFill>
                  <a:srgbClr val="000000"/>
                </a:solidFill>
                <a:latin typeface="Arial" panose="020B0604020202020204" pitchFamily="34" charset="0"/>
                <a:sym typeface="Wingdings" panose="05000000000000000000" pitchFamily="2" charset="2"/>
              </a:rPr>
              <a:t> </a:t>
            </a:r>
            <a:endParaRPr lang="en-US" sz="2000" dirty="0">
              <a:solidFill>
                <a:srgbClr val="000000"/>
              </a:solidFill>
              <a:latin typeface="Arial" panose="020B0604020202020204" pitchFamily="34" charset="0"/>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250387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762A-1232-E4A8-7C2A-E8042C58F230}"/>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0B204237-8B84-694B-C898-859CD4D96D19}"/>
              </a:ext>
            </a:extLst>
          </p:cNvPr>
          <p:cNvSpPr txBox="1">
            <a:spLocks/>
          </p:cNvSpPr>
          <p:nvPr/>
        </p:nvSpPr>
        <p:spPr>
          <a:xfrm>
            <a:off x="210701" y="-1"/>
            <a:ext cx="15105499" cy="499110"/>
          </a:xfrm>
          <a:prstGeom prst="rect">
            <a:avLst/>
          </a:prstGeom>
        </p:spPr>
        <p:txBody>
          <a:bodyPr vert="horz" wrap="square" lIns="0" tIns="16509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rtl="0">
              <a:spcBef>
                <a:spcPts val="1800"/>
              </a:spcBef>
              <a:spcAft>
                <a:spcPts val="600"/>
              </a:spcAft>
            </a:pPr>
            <a:r>
              <a:rPr lang="vi-VN" sz="2400" b="1" i="0" u="none" strike="noStrike" dirty="0">
                <a:solidFill>
                  <a:schemeClr val="bg1"/>
                </a:solidFill>
                <a:effectLst/>
                <a:latin typeface="Arial" panose="020B0604020202020204" pitchFamily="34" charset="0"/>
              </a:rPr>
              <a:t>PHƯƠNG PHÁP </a:t>
            </a:r>
            <a:r>
              <a:rPr lang="en-US" sz="2400" b="1" i="0" u="none" strike="noStrike" dirty="0">
                <a:solidFill>
                  <a:schemeClr val="bg1"/>
                </a:solidFill>
                <a:effectLst/>
                <a:latin typeface="Arial" panose="020B0604020202020204" pitchFamily="34" charset="0"/>
              </a:rPr>
              <a:t>5:</a:t>
            </a:r>
            <a:endParaRPr lang="vi-VN" sz="2400" b="1" dirty="0">
              <a:solidFill>
                <a:schemeClr val="bg1"/>
              </a:solidFill>
              <a:effectLst/>
            </a:endParaRPr>
          </a:p>
        </p:txBody>
      </p:sp>
      <p:sp>
        <p:nvSpPr>
          <p:cNvPr id="6" name="TextBox 5">
            <a:extLst>
              <a:ext uri="{FF2B5EF4-FFF2-40B4-BE49-F238E27FC236}">
                <a16:creationId xmlns:a16="http://schemas.microsoft.com/office/drawing/2014/main" id="{22528A1E-0C00-8061-66AF-37A266CF14D0}"/>
              </a:ext>
            </a:extLst>
          </p:cNvPr>
          <p:cNvSpPr txBox="1"/>
          <p:nvPr/>
        </p:nvSpPr>
        <p:spPr>
          <a:xfrm>
            <a:off x="465825" y="1025309"/>
            <a:ext cx="10872132" cy="11182548"/>
          </a:xfrm>
          <a:prstGeom prst="rect">
            <a:avLst/>
          </a:prstGeom>
          <a:noFill/>
        </p:spPr>
        <p:txBody>
          <a:bodyPr wrap="square" rtlCol="0">
            <a:spAutoFit/>
          </a:bodyPr>
          <a:lstStyle/>
          <a:p>
            <a:pPr rtl="0">
              <a:spcBef>
                <a:spcPts val="2400"/>
              </a:spcBef>
              <a:spcAft>
                <a:spcPts val="600"/>
              </a:spcAft>
            </a:pPr>
            <a:r>
              <a:rPr lang="en-US" sz="2800" b="1" dirty="0">
                <a:solidFill>
                  <a:srgbClr val="000000"/>
                </a:solidFill>
                <a:latin typeface="Arial" panose="020B0604020202020204" pitchFamily="34" charset="0"/>
              </a:rPr>
              <a:t>5</a:t>
            </a:r>
            <a:r>
              <a:rPr lang="vi-VN" sz="2800" b="1" i="0" u="none" strike="noStrike" dirty="0">
                <a:solidFill>
                  <a:srgbClr val="000000"/>
                </a:solidFill>
                <a:effectLst/>
                <a:latin typeface="Arial" panose="020B0604020202020204" pitchFamily="34" charset="0"/>
              </a:rPr>
              <a:t>. </a:t>
            </a:r>
            <a:r>
              <a:rPr lang="en-US" sz="2800" b="1" dirty="0" err="1">
                <a:solidFill>
                  <a:srgbClr val="000000"/>
                </a:solidFill>
                <a:latin typeface="Arial" panose="020B0604020202020204" pitchFamily="34" charset="0"/>
              </a:rPr>
              <a:t>Áp</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dụng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vào</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đề</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tài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nhận</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dạng</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cảm</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xúc</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người</a:t>
            </a:r>
            <a:r>
              <a:rPr lang="en-US" sz="2800" b="1" dirty="0">
                <a:solidFill>
                  <a:srgbClr val="000000"/>
                </a:solidFill>
                <a:latin typeface="Arial" panose="020B0604020202020204" pitchFamily="34" charset="0"/>
              </a:rPr>
              <a:t> </a:t>
            </a:r>
            <a:r>
              <a:rPr lang="en-US" sz="2800" b="1" dirty="0" err="1">
                <a:solidFill>
                  <a:srgbClr val="000000"/>
                </a:solidFill>
                <a:latin typeface="Arial" panose="020B0604020202020204" pitchFamily="34" charset="0"/>
              </a:rPr>
              <a:t>học</a:t>
            </a:r>
            <a:endParaRPr lang="vi-VN" sz="2800" b="1" dirty="0">
              <a:effectLst/>
            </a:endParaRPr>
          </a:p>
          <a:p>
            <a:pPr rtl="0" fontAlgn="base">
              <a:spcBef>
                <a:spcPts val="1200"/>
              </a:spcBef>
              <a:spcAft>
                <a:spcPts val="0"/>
              </a:spcAft>
            </a:pPr>
            <a:r>
              <a:rPr lang="en-US" sz="2200" b="1" i="0" u="none" strike="noStrike" dirty="0">
                <a:solidFill>
                  <a:srgbClr val="000000"/>
                </a:solidFill>
                <a:effectLst/>
                <a:latin typeface="Arial" panose="020B0604020202020204" pitchFamily="34" charset="0"/>
              </a:rPr>
              <a:t>3.1 </a:t>
            </a:r>
            <a:r>
              <a:rPr lang="en-US" sz="2200" b="1" i="0" u="none" strike="noStrike" dirty="0" err="1">
                <a:solidFill>
                  <a:srgbClr val="000000"/>
                </a:solidFill>
                <a:effectLst/>
                <a:latin typeface="Arial" panose="020B0604020202020204" pitchFamily="34" charset="0"/>
              </a:rPr>
              <a:t>Mục</a:t>
            </a:r>
            <a:r>
              <a:rPr lang="en-US" sz="2200" b="1" i="0" u="none" strike="noStrike" dirty="0">
                <a:solidFill>
                  <a:srgbClr val="000000"/>
                </a:solidFill>
                <a:effectLst/>
                <a:latin typeface="Arial" panose="020B0604020202020204" pitchFamily="34" charset="0"/>
              </a:rPr>
              <a:t> </a:t>
            </a:r>
            <a:r>
              <a:rPr lang="en-US" sz="2200" b="1" i="0" u="none" strike="noStrike" dirty="0" err="1">
                <a:solidFill>
                  <a:srgbClr val="000000"/>
                </a:solidFill>
                <a:effectLst/>
                <a:latin typeface="Arial" panose="020B0604020202020204" pitchFamily="34" charset="0"/>
              </a:rPr>
              <a:t>tiêu</a:t>
            </a:r>
            <a:endParaRPr lang="en-US" sz="2200" b="1" i="0" u="none" strike="noStrike" dirty="0">
              <a:solidFill>
                <a:srgbClr val="000000"/>
              </a:solidFill>
              <a:effectLst/>
              <a:latin typeface="Arial" panose="020B0604020202020204" pitchFamily="34" charset="0"/>
            </a:endParaRPr>
          </a:p>
          <a:p>
            <a:pPr rtl="0" fontAlgn="base">
              <a:spcBef>
                <a:spcPts val="1200"/>
              </a:spcBef>
              <a:spcAft>
                <a:spcPts val="0"/>
              </a:spcAft>
            </a:pPr>
            <a:r>
              <a:rPr lang="en-US" sz="2000" dirty="0" err="1">
                <a:solidFill>
                  <a:srgbClr val="000000"/>
                </a:solidFill>
                <a:latin typeface="Arial" panose="020B0604020202020204" pitchFamily="34" charset="0"/>
              </a:rPr>
              <a:t>Xây</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dựng</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hệ</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thống</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Ảnh</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hoặc</a:t>
            </a:r>
            <a:r>
              <a:rPr lang="en-US" sz="2000" dirty="0">
                <a:solidFill>
                  <a:srgbClr val="000000"/>
                </a:solidFill>
                <a:latin typeface="Arial" panose="020B0604020202020204" pitchFamily="34" charset="0"/>
              </a:rPr>
              <a:t> video </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Phát</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hiện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khuôn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mặt</a:t>
            </a:r>
            <a:r>
              <a:rPr lang="en-US" sz="2000" dirty="0">
                <a:solidFill>
                  <a:srgbClr val="000000"/>
                </a:solidFill>
                <a:latin typeface="Arial" panose="020B0604020202020204" pitchFamily="34" charset="0"/>
                <a:sym typeface="Wingdings" panose="05000000000000000000" pitchFamily="2" charset="2"/>
              </a:rPr>
              <a:t>  </a:t>
            </a:r>
            <a:r>
              <a:rPr lang="en-US" sz="2000" dirty="0" err="1">
                <a:solidFill>
                  <a:srgbClr val="000000"/>
                </a:solidFill>
                <a:latin typeface="Arial" panose="020B0604020202020204" pitchFamily="34" charset="0"/>
                <a:sym typeface="Wingdings" panose="05000000000000000000" pitchFamily="2" charset="2"/>
              </a:rPr>
              <a:t>Nhận</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dạng</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cảm</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xúc</a:t>
            </a:r>
            <a:r>
              <a:rPr lang="en-US" sz="2000" dirty="0">
                <a:solidFill>
                  <a:srgbClr val="000000"/>
                </a:solidFill>
                <a:latin typeface="Arial" panose="020B0604020202020204" pitchFamily="34" charset="0"/>
                <a:sym typeface="Wingdings" panose="05000000000000000000" pitchFamily="2" charset="2"/>
              </a:rPr>
              <a:t>  </a:t>
            </a:r>
            <a:r>
              <a:rPr lang="en-US" sz="2000" dirty="0" err="1">
                <a:solidFill>
                  <a:srgbClr val="000000"/>
                </a:solidFill>
                <a:latin typeface="Arial" panose="020B0604020202020204" pitchFamily="34" charset="0"/>
                <a:sym typeface="Wingdings" panose="05000000000000000000" pitchFamily="2" charset="2"/>
              </a:rPr>
              <a:t>Thống</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kê</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mức</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độ</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cảm</a:t>
            </a:r>
            <a:r>
              <a:rPr lang="en-US" sz="2000" dirty="0">
                <a:solidFill>
                  <a:srgbClr val="000000"/>
                </a:solidFill>
                <a:latin typeface="Arial" panose="020B0604020202020204" pitchFamily="34" charset="0"/>
                <a:sym typeface="Wingdings" panose="05000000000000000000" pitchFamily="2" charset="2"/>
              </a:rPr>
              <a:t> </a:t>
            </a:r>
            <a:r>
              <a:rPr lang="en-US" sz="2000" dirty="0" err="1">
                <a:solidFill>
                  <a:srgbClr val="000000"/>
                </a:solidFill>
                <a:latin typeface="Arial" panose="020B0604020202020204" pitchFamily="34" charset="0"/>
                <a:sym typeface="Wingdings" panose="05000000000000000000" pitchFamily="2" charset="2"/>
              </a:rPr>
              <a:t>xúc</a:t>
            </a:r>
            <a:endParaRPr lang="en-US" sz="2000" dirty="0">
              <a:solidFill>
                <a:srgbClr val="000000"/>
              </a:solidFill>
              <a:latin typeface="Arial" panose="020B0604020202020204" pitchFamily="34" charset="0"/>
              <a:sym typeface="Wingdings" panose="05000000000000000000" pitchFamily="2" charset="2"/>
            </a:endParaRPr>
          </a:p>
          <a:p>
            <a:pPr rtl="0" fontAlgn="base">
              <a:spcBef>
                <a:spcPts val="1200"/>
              </a:spcBef>
              <a:spcAft>
                <a:spcPts val="0"/>
              </a:spcAft>
            </a:pPr>
            <a:r>
              <a:rPr lang="en-US" sz="2200" b="1" dirty="0">
                <a:solidFill>
                  <a:srgbClr val="000000"/>
                </a:solidFill>
                <a:latin typeface="Arial" panose="020B0604020202020204" pitchFamily="34" charset="0"/>
                <a:sym typeface="Wingdings" panose="05000000000000000000" pitchFamily="2" charset="2"/>
              </a:rPr>
              <a:t>3.2 </a:t>
            </a:r>
            <a:r>
              <a:rPr lang="en-US" sz="2200" b="1" dirty="0" err="1">
                <a:solidFill>
                  <a:srgbClr val="000000"/>
                </a:solidFill>
                <a:latin typeface="Arial" panose="020B0604020202020204" pitchFamily="34" charset="0"/>
                <a:sym typeface="Wingdings" panose="05000000000000000000" pitchFamily="2" charset="2"/>
              </a:rPr>
              <a:t>Triển</a:t>
            </a:r>
            <a:r>
              <a:rPr lang="en-US" sz="2200" b="1" dirty="0">
                <a:solidFill>
                  <a:srgbClr val="000000"/>
                </a:solidFill>
                <a:latin typeface="Arial" panose="020B0604020202020204" pitchFamily="34" charset="0"/>
                <a:sym typeface="Wingdings" panose="05000000000000000000" pitchFamily="2" charset="2"/>
              </a:rPr>
              <a:t> </a:t>
            </a:r>
            <a:r>
              <a:rPr lang="en-US" sz="2200" b="1" dirty="0" err="1">
                <a:solidFill>
                  <a:srgbClr val="000000"/>
                </a:solidFill>
                <a:latin typeface="Arial" panose="020B0604020202020204" pitchFamily="34" charset="0"/>
                <a:sym typeface="Wingdings" panose="05000000000000000000" pitchFamily="2" charset="2"/>
              </a:rPr>
              <a:t>khai</a:t>
            </a:r>
            <a:endParaRPr lang="en-US" sz="2200" b="1" dirty="0">
              <a:solidFill>
                <a:srgbClr val="000000"/>
              </a:solidFill>
              <a:latin typeface="Arial" panose="020B0604020202020204" pitchFamily="34" charset="0"/>
              <a:sym typeface="Wingdings" panose="05000000000000000000" pitchFamily="2" charset="2"/>
            </a:endParaRPr>
          </a:p>
          <a:p>
            <a:pPr>
              <a:spcBef>
                <a:spcPts val="1800"/>
              </a:spcBef>
              <a:spcAft>
                <a:spcPts val="400"/>
              </a:spcAft>
            </a:pPr>
            <a:r>
              <a:rPr lang="vi-VN" sz="2000" i="0" u="none" strike="noStrike" dirty="0">
                <a:solidFill>
                  <a:srgbClr val="000000"/>
                </a:solidFill>
                <a:effectLst/>
                <a:latin typeface="Arial" panose="020B0604020202020204" pitchFamily="34" charset="0"/>
              </a:rPr>
              <a:t>Bước 1. Thu thập dữ liệu</a:t>
            </a:r>
            <a:r>
              <a:rPr lang="en-US" sz="2000" i="0" u="none" strike="noStrike" dirty="0">
                <a:solidFill>
                  <a:srgbClr val="000000"/>
                </a:solidFill>
                <a:effectLst/>
                <a:latin typeface="Arial" panose="020B0604020202020204" pitchFamily="34" charset="0"/>
              </a:rPr>
              <a:t>                                             </a:t>
            </a:r>
            <a:r>
              <a:rPr lang="vi-VN" sz="2000" i="0" u="none" strike="noStrike" dirty="0">
                <a:solidFill>
                  <a:srgbClr val="000000"/>
                </a:solidFill>
                <a:effectLst/>
                <a:latin typeface="Arial" panose="020B0604020202020204" pitchFamily="34" charset="0"/>
              </a:rPr>
              <a:t>Bước 5. Đánh giá</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mô</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hình</a:t>
            </a:r>
            <a:endParaRPr lang="vi-VN" sz="2000" dirty="0">
              <a:effectLst/>
            </a:endParaRPr>
          </a:p>
          <a:p>
            <a:pPr>
              <a:spcBef>
                <a:spcPts val="1800"/>
              </a:spcBef>
              <a:spcAft>
                <a:spcPts val="400"/>
              </a:spcAft>
            </a:pPr>
            <a:r>
              <a:rPr lang="vi-VN" sz="2000" i="0" u="none" strike="noStrike" dirty="0">
                <a:solidFill>
                  <a:srgbClr val="000000"/>
                </a:solidFill>
                <a:effectLst/>
                <a:latin typeface="Arial" panose="020B0604020202020204" pitchFamily="34" charset="0"/>
              </a:rPr>
              <a:t>Bước 2. Tiền xử lý dữ liệu</a:t>
            </a:r>
            <a:r>
              <a:rPr lang="en-US" sz="2000" i="0" u="none" strike="noStrike" dirty="0">
                <a:solidFill>
                  <a:srgbClr val="000000"/>
                </a:solidFill>
                <a:effectLst/>
                <a:latin typeface="Arial" panose="020B0604020202020204" pitchFamily="34" charset="0"/>
              </a:rPr>
              <a:t>                                            </a:t>
            </a:r>
            <a:r>
              <a:rPr lang="vi-VN" sz="2000" i="0" u="none" strike="noStrike" dirty="0">
                <a:solidFill>
                  <a:srgbClr val="000000"/>
                </a:solidFill>
                <a:effectLst/>
                <a:latin typeface="Arial" panose="020B0604020202020204" pitchFamily="34" charset="0"/>
              </a:rPr>
              <a:t>Bước 6. Triển khai thời gian thực</a:t>
            </a:r>
            <a:endParaRPr lang="vi-VN" sz="2000" dirty="0">
              <a:effectLst/>
            </a:endParaRPr>
          </a:p>
          <a:p>
            <a:pPr rtl="0">
              <a:spcBef>
                <a:spcPts val="1800"/>
              </a:spcBef>
              <a:spcAft>
                <a:spcPts val="400"/>
              </a:spcAft>
            </a:pPr>
            <a:r>
              <a:rPr lang="vi-VN" sz="2000" i="0" u="none" strike="noStrike" dirty="0">
                <a:solidFill>
                  <a:srgbClr val="000000"/>
                </a:solidFill>
                <a:effectLst/>
                <a:latin typeface="Arial" panose="020B0604020202020204" pitchFamily="34" charset="0"/>
              </a:rPr>
              <a:t>Bước 3. </a:t>
            </a:r>
            <a:r>
              <a:rPr lang="en-US" sz="2000" i="0" u="none" strike="noStrike" dirty="0" err="1">
                <a:solidFill>
                  <a:srgbClr val="000000"/>
                </a:solidFill>
                <a:effectLst/>
                <a:latin typeface="Arial" panose="020B0604020202020204" pitchFamily="34" charset="0"/>
              </a:rPr>
              <a:t>Phát</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hiện</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khuôn</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mặt</a:t>
            </a:r>
            <a:r>
              <a:rPr lang="en-US" sz="2000" dirty="0">
                <a:solidFill>
                  <a:srgbClr val="000000"/>
                </a:solidFill>
                <a:latin typeface="Arial" panose="020B0604020202020204" pitchFamily="34" charset="0"/>
              </a:rPr>
              <a:t> --&gt; </a:t>
            </a:r>
            <a:r>
              <a:rPr lang="en-US" sz="2000" dirty="0" err="1">
                <a:solidFill>
                  <a:srgbClr val="000000"/>
                </a:solidFill>
                <a:latin typeface="Arial" panose="020B0604020202020204" pitchFamily="34" charset="0"/>
              </a:rPr>
              <a:t>Trích</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xuất</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đặc</a:t>
            </a:r>
            <a:r>
              <a:rPr lang="en-US" sz="2000" dirty="0">
                <a:solidFill>
                  <a:srgbClr val="000000"/>
                </a:solidFill>
                <a:latin typeface="Arial" panose="020B0604020202020204" pitchFamily="34" charset="0"/>
              </a:rPr>
              <a:t> </a:t>
            </a:r>
            <a:r>
              <a:rPr lang="en-US" sz="2000" dirty="0" err="1">
                <a:solidFill>
                  <a:srgbClr val="000000"/>
                </a:solidFill>
                <a:latin typeface="Arial" panose="020B0604020202020204" pitchFamily="34" charset="0"/>
              </a:rPr>
              <a:t>trưng</a:t>
            </a:r>
            <a:r>
              <a:rPr lang="en-US" sz="2000" i="0" u="none" strike="noStrike" dirty="0">
                <a:solidFill>
                  <a:srgbClr val="000000"/>
                </a:solidFill>
                <a:effectLst/>
                <a:latin typeface="Arial" panose="020B0604020202020204" pitchFamily="34" charset="0"/>
              </a:rPr>
              <a:t>                        </a:t>
            </a:r>
            <a:endParaRPr lang="vi-VN" sz="2000" dirty="0">
              <a:effectLst/>
            </a:endParaRPr>
          </a:p>
          <a:p>
            <a:pPr rtl="0">
              <a:spcBef>
                <a:spcPts val="1800"/>
              </a:spcBef>
              <a:spcAft>
                <a:spcPts val="400"/>
              </a:spcAft>
            </a:pPr>
            <a:r>
              <a:rPr lang="vi-VN" sz="2000" i="0" u="none" strike="noStrike" dirty="0">
                <a:solidFill>
                  <a:srgbClr val="000000"/>
                </a:solidFill>
                <a:effectLst/>
                <a:latin typeface="Arial" panose="020B0604020202020204" pitchFamily="34" charset="0"/>
              </a:rPr>
              <a:t>Bước 4. Huấn luyện</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mô</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hình</a:t>
            </a:r>
            <a:endParaRPr lang="en-US" sz="2000" i="0" u="none" strike="noStrike" dirty="0">
              <a:solidFill>
                <a:srgbClr val="000000"/>
              </a:solidFill>
              <a:effectLst/>
              <a:latin typeface="Arial" panose="020B0604020202020204" pitchFamily="34" charset="0"/>
            </a:endParaRPr>
          </a:p>
          <a:p>
            <a:pPr rtl="0">
              <a:spcBef>
                <a:spcPts val="1800"/>
              </a:spcBef>
              <a:spcAft>
                <a:spcPts val="400"/>
              </a:spcAft>
            </a:pPr>
            <a:endParaRPr lang="vi-VN" sz="2000" dirty="0">
              <a:effectLst/>
            </a:endParaRPr>
          </a:p>
          <a:p>
            <a:pPr rtl="0" fontAlgn="base">
              <a:spcBef>
                <a:spcPts val="1200"/>
              </a:spcBef>
              <a:spcAft>
                <a:spcPts val="0"/>
              </a:spcAft>
            </a:pPr>
            <a:r>
              <a:rPr lang="en-US" sz="2000" dirty="0">
                <a:solidFill>
                  <a:srgbClr val="000000"/>
                </a:solidFill>
                <a:latin typeface="Arial" panose="020B0604020202020204" pitchFamily="34" charset="0"/>
                <a:sym typeface="Wingdings" panose="05000000000000000000" pitchFamily="2" charset="2"/>
              </a:rPr>
              <a:t> </a:t>
            </a:r>
            <a:endParaRPr lang="en-US" sz="2000" dirty="0">
              <a:solidFill>
                <a:srgbClr val="000000"/>
              </a:solidFill>
              <a:latin typeface="Arial" panose="020B0604020202020204" pitchFamily="34" charset="0"/>
            </a:endParaRPr>
          </a:p>
          <a:p>
            <a:pPr>
              <a:spcBef>
                <a:spcPts val="1200"/>
              </a:spcBef>
              <a:spcAft>
                <a:spcPts val="1200"/>
              </a:spcAft>
            </a:pPr>
            <a:endParaRPr lang="vi-VN" dirty="0">
              <a:effectLst/>
              <a:latin typeface="+mj-lt"/>
            </a:endParaRPr>
          </a:p>
          <a:p>
            <a:pPr rtl="0">
              <a:spcBef>
                <a:spcPts val="1200"/>
              </a:spcBef>
              <a:spcAft>
                <a:spcPts val="1200"/>
              </a:spcAft>
            </a:pPr>
            <a:endParaRPr lang="en-US" dirty="0">
              <a:solidFill>
                <a:srgbClr val="000000"/>
              </a:solidFill>
              <a:latin typeface="Arial" panose="020B0604020202020204" pitchFamily="34" charset="0"/>
            </a:endParaRPr>
          </a:p>
          <a:p>
            <a:pPr rtl="0">
              <a:spcBef>
                <a:spcPts val="1200"/>
              </a:spcBef>
              <a:spcAft>
                <a:spcPts val="1200"/>
              </a:spcAft>
            </a:pPr>
            <a:endParaRPr lang="vi-VN" sz="1800" b="0" i="0" u="none" strike="noStrike" dirty="0">
              <a:solidFill>
                <a:srgbClr val="000000"/>
              </a:solidFill>
              <a:effectLst/>
              <a:latin typeface="Arial" panose="020B0604020202020204" pitchFamily="34" charset="0"/>
            </a:endParaRPr>
          </a:p>
          <a:p>
            <a:pPr rtl="0">
              <a:spcBef>
                <a:spcPts val="1200"/>
              </a:spcBef>
              <a:spcAft>
                <a:spcPts val="1200"/>
              </a:spcAft>
            </a:pPr>
            <a:endParaRPr lang="en-US" i="0" u="none" strike="noStrike" dirty="0">
              <a:solidFill>
                <a:srgbClr val="000000"/>
              </a:solidFill>
              <a:latin typeface="Arial" panose="020B0604020202020204" pitchFamily="34" charset="0"/>
            </a:endParaRPr>
          </a:p>
          <a:p>
            <a:pPr rtl="0">
              <a:spcBef>
                <a:spcPts val="1200"/>
              </a:spcBef>
              <a:spcAft>
                <a:spcPts val="1200"/>
              </a:spcAft>
            </a:pPr>
            <a:endParaRPr lang="vi-VN" sz="3600" b="0" dirty="0">
              <a:effectLst/>
            </a:endParaRPr>
          </a:p>
          <a:p>
            <a:br>
              <a:rPr lang="vi-VN" sz="3600" dirty="0"/>
            </a:br>
            <a:endParaRPr lang="vi-VN" sz="3600" b="0" dirty="0">
              <a:effectLst/>
            </a:endParaRPr>
          </a:p>
          <a:p>
            <a:br>
              <a:rPr lang="vi-VN" sz="3600" dirty="0"/>
            </a:br>
            <a:endParaRPr lang="en-US" sz="3600" dirty="0"/>
          </a:p>
        </p:txBody>
      </p:sp>
    </p:spTree>
    <p:extLst>
      <p:ext uri="{BB962C8B-B14F-4D97-AF65-F5344CB8AC3E}">
        <p14:creationId xmlns:p14="http://schemas.microsoft.com/office/powerpoint/2010/main" val="1819051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572F5-0B5B-6BBB-F25A-C701C8AEBDDE}"/>
            </a:ext>
          </a:extLst>
        </p:cNvPr>
        <p:cNvGrpSpPr/>
        <p:nvPr/>
      </p:nvGrpSpPr>
      <p:grpSpPr>
        <a:xfrm>
          <a:off x="0" y="0"/>
          <a:ext cx="0" cy="0"/>
          <a:chOff x="0" y="0"/>
          <a:chExt cx="0" cy="0"/>
        </a:xfrm>
      </p:grpSpPr>
      <p:pic>
        <p:nvPicPr>
          <p:cNvPr id="306" name="Picture 3" descr="Text&#10;&#10;Description automatically generated">
            <a:extLst>
              <a:ext uri="{FF2B5EF4-FFF2-40B4-BE49-F238E27FC236}">
                <a16:creationId xmlns:a16="http://schemas.microsoft.com/office/drawing/2014/main" id="{91F2B13E-1BBB-C456-C963-EB2C76CE6FC1}"/>
              </a:ext>
            </a:extLst>
          </p:cNvPr>
          <p:cNvPicPr/>
          <p:nvPr/>
        </p:nvPicPr>
        <p:blipFill>
          <a:blip r:embed="rId3"/>
          <a:stretch/>
        </p:blipFill>
        <p:spPr>
          <a:xfrm>
            <a:off x="392040" y="271440"/>
            <a:ext cx="3174120" cy="1153080"/>
          </a:xfrm>
          <a:prstGeom prst="rect">
            <a:avLst/>
          </a:prstGeom>
          <a:ln>
            <a:noFill/>
          </a:ln>
        </p:spPr>
      </p:pic>
      <p:sp>
        <p:nvSpPr>
          <p:cNvPr id="307" name="CustomShape 1">
            <a:extLst>
              <a:ext uri="{FF2B5EF4-FFF2-40B4-BE49-F238E27FC236}">
                <a16:creationId xmlns:a16="http://schemas.microsoft.com/office/drawing/2014/main" id="{2AF82F7B-0721-62F7-6EE3-A94CC29BEAB1}"/>
              </a:ext>
            </a:extLst>
          </p:cNvPr>
          <p:cNvSpPr/>
          <p:nvPr/>
        </p:nvSpPr>
        <p:spPr>
          <a:xfrm>
            <a:off x="695520" y="2269440"/>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08" name="CustomShape 2">
            <a:extLst>
              <a:ext uri="{FF2B5EF4-FFF2-40B4-BE49-F238E27FC236}">
                <a16:creationId xmlns:a16="http://schemas.microsoft.com/office/drawing/2014/main" id="{3143A8BC-0BB4-9235-7B0E-2F80E285AA0D}"/>
              </a:ext>
            </a:extLst>
          </p:cNvPr>
          <p:cNvSpPr/>
          <p:nvPr/>
        </p:nvSpPr>
        <p:spPr>
          <a:xfrm>
            <a:off x="695520" y="3403080"/>
            <a:ext cx="6095520" cy="222336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09" name="CustomShape 3">
            <a:extLst>
              <a:ext uri="{FF2B5EF4-FFF2-40B4-BE49-F238E27FC236}">
                <a16:creationId xmlns:a16="http://schemas.microsoft.com/office/drawing/2014/main" id="{EECA4F71-D1F3-74AF-9121-ABABB340CCA5}"/>
              </a:ext>
            </a:extLst>
          </p:cNvPr>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2" name="TextBox 1">
            <a:extLst>
              <a:ext uri="{FF2B5EF4-FFF2-40B4-BE49-F238E27FC236}">
                <a16:creationId xmlns:a16="http://schemas.microsoft.com/office/drawing/2014/main" id="{E6880B00-224B-97DC-E555-AF7110A3165A}"/>
              </a:ext>
            </a:extLst>
          </p:cNvPr>
          <p:cNvSpPr txBox="1"/>
          <p:nvPr/>
        </p:nvSpPr>
        <p:spPr>
          <a:xfrm>
            <a:off x="287599" y="2200689"/>
            <a:ext cx="11616801"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1" i="0" strike="noStrike" kern="1200" cap="none" spc="0" normalizeH="0" baseline="0" noProof="0" dirty="0">
                <a:ln>
                  <a:noFill/>
                </a:ln>
                <a:solidFill>
                  <a:srgbClr val="FF0000"/>
                </a:solidFill>
                <a:effectLst/>
                <a:uLnTx/>
                <a:uFillTx/>
                <a:latin typeface="+mj-lt"/>
                <a:cs typeface="Times New Roman" panose="02020603050405020304" pitchFamily="18" charset="0"/>
              </a:rPr>
              <a:t>BIỂU ĐỒ THỐNG KÊ </a:t>
            </a:r>
          </a:p>
        </p:txBody>
      </p:sp>
      <p:sp>
        <p:nvSpPr>
          <p:cNvPr id="4" name="TextBox 3">
            <a:extLst>
              <a:ext uri="{FF2B5EF4-FFF2-40B4-BE49-F238E27FC236}">
                <a16:creationId xmlns:a16="http://schemas.microsoft.com/office/drawing/2014/main" id="{2DB71AAE-9F05-C6F6-D888-917510430D99}"/>
              </a:ext>
            </a:extLst>
          </p:cNvPr>
          <p:cNvSpPr txBox="1"/>
          <p:nvPr/>
        </p:nvSpPr>
        <p:spPr>
          <a:xfrm>
            <a:off x="392040" y="3306750"/>
            <a:ext cx="9443939"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0000"/>
                </a:solidFill>
                <a:effectLst/>
                <a:uLnTx/>
                <a:uFillTx/>
                <a:latin typeface="+mj-lt"/>
                <a:cs typeface="Times New Roman" panose="02020603050405020304" pitchFamily="18" charset="0"/>
              </a:rPr>
              <a:t>CẢM XÚC NHẬN DẠNG ĐƯỢC TRONG  KHOẢNG THỜI GIAN</a:t>
            </a:r>
            <a:endParaRPr kumimoji="0" lang="vi-VN" sz="3200" b="1" i="0" u="none" strike="noStrike" kern="1200" cap="none" spc="0" normalizeH="0" baseline="0" noProof="0" dirty="0">
              <a:ln>
                <a:noFill/>
              </a:ln>
              <a:solidFill>
                <a:srgbClr val="FF0000"/>
              </a:solidFill>
              <a:effectLst/>
              <a:uLnTx/>
              <a:uFillTx/>
              <a:latin typeface="+mj-lt"/>
              <a:cs typeface="Times New Roman" panose="02020603050405020304" pitchFamily="18" charset="0"/>
            </a:endParaRPr>
          </a:p>
        </p:txBody>
      </p:sp>
    </p:spTree>
    <p:extLst>
      <p:ext uri="{BB962C8B-B14F-4D97-AF65-F5344CB8AC3E}">
        <p14:creationId xmlns:p14="http://schemas.microsoft.com/office/powerpoint/2010/main" val="2650827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DBD6-BA14-CAE3-93AA-C00F1EECFB70}"/>
            </a:ext>
          </a:extLst>
        </p:cNvPr>
        <p:cNvGrpSpPr/>
        <p:nvPr/>
      </p:nvGrpSpPr>
      <p:grpSpPr>
        <a:xfrm>
          <a:off x="0" y="0"/>
          <a:ext cx="0" cy="0"/>
          <a:chOff x="0" y="0"/>
          <a:chExt cx="0" cy="0"/>
        </a:xfrm>
      </p:grpSpPr>
    </p:spTree>
    <p:extLst>
      <p:ext uri="{BB962C8B-B14F-4D97-AF65-F5344CB8AC3E}">
        <p14:creationId xmlns:p14="http://schemas.microsoft.com/office/powerpoint/2010/main" val="63192654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4706</TotalTime>
  <Words>2283</Words>
  <Application>Microsoft Office PowerPoint</Application>
  <PresentationFormat>Widescreen</PresentationFormat>
  <Paragraphs>295</Paragraphs>
  <Slides>23</Slides>
  <Notes>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23</vt:i4>
      </vt:variant>
    </vt:vector>
  </HeadingPairs>
  <TitlesOfParts>
    <vt:vector size="33" baseType="lpstr">
      <vt:lpstr>Aptos</vt:lpstr>
      <vt:lpstr>Arial</vt:lpstr>
      <vt:lpstr>Calibri</vt:lpstr>
      <vt:lpstr>Inter</vt:lpstr>
      <vt:lpstr>Lato</vt:lpstr>
      <vt:lpstr>Symbol</vt:lpstr>
      <vt:lpstr>Wingdings</vt:lpstr>
      <vt:lpstr>1_Office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DuyLinh PhamHoang</dc:creator>
  <cp:lastModifiedBy>Le Huong Giang 202411927</cp:lastModifiedBy>
  <cp:revision>30</cp:revision>
  <dcterms:created xsi:type="dcterms:W3CDTF">2025-09-11T08:54:37Z</dcterms:created>
  <dcterms:modified xsi:type="dcterms:W3CDTF">2026-06-23T05:37:19Z</dcterms:modified>
</cp:coreProperties>
</file>